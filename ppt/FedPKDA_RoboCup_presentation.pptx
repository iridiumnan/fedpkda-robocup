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2787a0b04b4c8b" /><Relationship Type="http://schemas.openxmlformats.org/officeDocument/2006/relationships/extended-properties" Target="/docProps/app.xml" Id="R68fbc034ad9748da" /><Relationship Type="http://schemas.openxmlformats.org/officeDocument/2006/relationships/officeDocument" Target="/ppt/presentation.xml" Id="R8fa7c2587a2742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1584a936d940ff"/>
  </p:sldMasterIdLst>
  <p:notesMasterIdLst>
    <p:notesMasterId xmlns:r="http://schemas.openxmlformats.org/officeDocument/2006/relationships" r:id="R134d551f88e541b9"/>
  </p:notesMasterIdLst>
  <p:sldIdLst>
    <p:sldId xmlns:r="http://schemas.openxmlformats.org/officeDocument/2006/relationships" id="256" r:id="R811e627085d74a6b"/>
    <p:sldId xmlns:r="http://schemas.openxmlformats.org/officeDocument/2006/relationships" id="257" r:id="R70ce78b9ba044f58"/>
    <p:sldId xmlns:r="http://schemas.openxmlformats.org/officeDocument/2006/relationships" id="258" r:id="Rb0175483e1184a83"/>
    <p:sldId xmlns:r="http://schemas.openxmlformats.org/officeDocument/2006/relationships" id="259" r:id="R9ef87f5b6dc541a0"/>
    <p:sldId xmlns:r="http://schemas.openxmlformats.org/officeDocument/2006/relationships" id="260" r:id="Rf5a3f5726a39466e"/>
    <p:sldId xmlns:r="http://schemas.openxmlformats.org/officeDocument/2006/relationships" id="261" r:id="R67acd358b61c43a3"/>
    <p:sldId xmlns:r="http://schemas.openxmlformats.org/officeDocument/2006/relationships" id="262" r:id="R03b66fa3cdfb4b9d"/>
    <p:sldId xmlns:r="http://schemas.openxmlformats.org/officeDocument/2006/relationships" id="263" r:id="Rfa6db307fa314661"/>
    <p:sldId xmlns:r="http://schemas.openxmlformats.org/officeDocument/2006/relationships" id="264" r:id="R90cb309de9364481"/>
    <p:sldId xmlns:r="http://schemas.openxmlformats.org/officeDocument/2006/relationships" id="265" r:id="Rd3892171d0344133"/>
    <p:sldId xmlns:r="http://schemas.openxmlformats.org/officeDocument/2006/relationships" id="266" r:id="R77aa1c9bcf594a26"/>
    <p:sldId xmlns:r="http://schemas.openxmlformats.org/officeDocument/2006/relationships" id="267" r:id="R3d13cc00c37241e6"/>
    <p:sldId xmlns:r="http://schemas.openxmlformats.org/officeDocument/2006/relationships" id="268" r:id="R56e9403485fc49f7"/>
    <p:sldId xmlns:r="http://schemas.openxmlformats.org/officeDocument/2006/relationships" id="269" r:id="R6080277a148749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94034c52574e57" /><Relationship Type="http://schemas.openxmlformats.org/officeDocument/2006/relationships/slideMaster" Target="/ppt/slideMasters/slideMaster1.xml" Id="R3e1584a936d940ff" /><Relationship Type="http://schemas.openxmlformats.org/officeDocument/2006/relationships/notesMaster" Target="/ppt/notesMasters/notesMaster1.xml" Id="R134d551f88e541b9" /><Relationship Type="http://schemas.openxmlformats.org/officeDocument/2006/relationships/presProps" Target="/ppt/presProps.xml" Id="R2baa92b31c6d4869" /><Relationship Type="http://schemas.openxmlformats.org/officeDocument/2006/relationships/tableStyles" Target="/ppt/tableStyles.xml" Id="R5cc98560d0754fa2" /><Relationship Type="http://schemas.openxmlformats.org/officeDocument/2006/relationships/slide" Target="/ppt/slides/slide1.xml" Id="R811e627085d74a6b" /><Relationship Type="http://schemas.openxmlformats.org/officeDocument/2006/relationships/slide" Target="/ppt/slides/slide2.xml" Id="R70ce78b9ba044f58" /><Relationship Type="http://schemas.openxmlformats.org/officeDocument/2006/relationships/slide" Target="/ppt/slides/slide3.xml" Id="Rb0175483e1184a83" /><Relationship Type="http://schemas.openxmlformats.org/officeDocument/2006/relationships/slide" Target="/ppt/slides/slide4.xml" Id="R9ef87f5b6dc541a0" /><Relationship Type="http://schemas.openxmlformats.org/officeDocument/2006/relationships/slide" Target="/ppt/slides/slide5.xml" Id="Rf5a3f5726a39466e" /><Relationship Type="http://schemas.openxmlformats.org/officeDocument/2006/relationships/slide" Target="/ppt/slides/slide6.xml" Id="R67acd358b61c43a3" /><Relationship Type="http://schemas.openxmlformats.org/officeDocument/2006/relationships/slide" Target="/ppt/slides/slide7.xml" Id="R03b66fa3cdfb4b9d" /><Relationship Type="http://schemas.openxmlformats.org/officeDocument/2006/relationships/slide" Target="/ppt/slides/slide8.xml" Id="Rfa6db307fa314661" /><Relationship Type="http://schemas.openxmlformats.org/officeDocument/2006/relationships/slide" Target="/ppt/slides/slide9.xml" Id="R90cb309de9364481" /><Relationship Type="http://schemas.openxmlformats.org/officeDocument/2006/relationships/slide" Target="/ppt/slides/slide10.xml" Id="Rd3892171d0344133" /><Relationship Type="http://schemas.openxmlformats.org/officeDocument/2006/relationships/slide" Target="/ppt/slides/slide11.xml" Id="R77aa1c9bcf594a26" /><Relationship Type="http://schemas.openxmlformats.org/officeDocument/2006/relationships/slide" Target="/ppt/slides/slide12.xml" Id="R3d13cc00c37241e6" /><Relationship Type="http://schemas.openxmlformats.org/officeDocument/2006/relationships/slide" Target="/ppt/slides/slide13.xml" Id="R56e9403485fc49f7" /><Relationship Type="http://schemas.openxmlformats.org/officeDocument/2006/relationships/slide" Target="/ppt/slides/slide14.xml" Id="R6080277a148749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84405a7a7e48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9a2bd96c214da8" /><Relationship Type="http://schemas.openxmlformats.org/officeDocument/2006/relationships/notesMaster" Target="/ppt/notesMasters/notesMaster1.xml" Id="Rdf5ee4df219a41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4d33e14d6746f5" /><Relationship Type="http://schemas.openxmlformats.org/officeDocument/2006/relationships/notesMaster" Target="/ppt/notesMasters/notesMaster1.xml" Id="R0c29709b185642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00b5d659e44244" /><Relationship Type="http://schemas.openxmlformats.org/officeDocument/2006/relationships/notesMaster" Target="/ppt/notesMasters/notesMaster1.xml" Id="R1bc77dbb133f47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6b370b7e3d4725" /><Relationship Type="http://schemas.openxmlformats.org/officeDocument/2006/relationships/notesMaster" Target="/ppt/notesMasters/notesMaster1.xml" Id="R20f6ac2f850a41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2883979f614549" /><Relationship Type="http://schemas.openxmlformats.org/officeDocument/2006/relationships/notesMaster" Target="/ppt/notesMasters/notesMaster1.xml" Id="R412a68f9b49140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3af4f740644b54" /><Relationship Type="http://schemas.openxmlformats.org/officeDocument/2006/relationships/notesMaster" Target="/ppt/notesMasters/notesMaster1.xml" Id="R8417de9e2e0640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c74af3700a4a59" /><Relationship Type="http://schemas.openxmlformats.org/officeDocument/2006/relationships/notesMaster" Target="/ppt/notesMasters/notesMaster1.xml" Id="R341bee883c2346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c36a7563954cb7" /><Relationship Type="http://schemas.openxmlformats.org/officeDocument/2006/relationships/notesMaster" Target="/ppt/notesMasters/notesMaster1.xml" Id="Rc2d0469a2ce347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10b28dedea4dd6" /><Relationship Type="http://schemas.openxmlformats.org/officeDocument/2006/relationships/notesMaster" Target="/ppt/notesMasters/notesMaster1.xml" Id="R80c51cf818764b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1fd7a7a32b4f67" /><Relationship Type="http://schemas.openxmlformats.org/officeDocument/2006/relationships/notesMaster" Target="/ppt/notesMasters/notesMaster1.xml" Id="Rc69978d7e6c24f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feede309754e6e" /><Relationship Type="http://schemas.openxmlformats.org/officeDocument/2006/relationships/notesMaster" Target="/ppt/notesMasters/notesMaster1.xml" Id="R551d2c8a462a46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451237633c485e" /><Relationship Type="http://schemas.openxmlformats.org/officeDocument/2006/relationships/notesMaster" Target="/ppt/notesMasters/notesMaster1.xml" Id="R9727c1bda29249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917c7727ac4437" /><Relationship Type="http://schemas.openxmlformats.org/officeDocument/2006/relationships/notesMaster" Target="/ppt/notesMasters/notesMaster1.xml" Id="Raf1ee1ecd9f54d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d6cf4f15ffa47c2" /><Relationship Type="http://schemas.openxmlformats.org/officeDocument/2006/relationships/notesMaster" Target="/ppt/notesMasters/notesMaster1.xml" Id="Ra5e38f9cd10549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 秒。只说作品定位：这是一个有 AAAI 2026 算法支撑、面向多机构网络安全协作的完整系统。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https://github.com/IridiumNan/FedPKDA-robocup/blob/plan/pending/ppt_plan.md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秒。先讲两件事：梯度不是安全摘要；传统协调员是最大单点风险。成本数字只作为背景，不展开。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https://proceedings.neurips.cc/paper/9617-deep-leakage-from-gradients.pdf</a:t>
            </a:r>
          </a:p>
          <a:p xmlns:a="http://schemas.openxmlformats.org/drawingml/2006/main">
            <a:r>
              <a:t>- https://newsroom.ibm.com/2024-07-30-ibm-report-escalating-data-breach-disruption-pushes-costs-to-new-highs</a:t>
            </a:r>
          </a:p>
          <a:p xmlns:a="http://schemas.openxmlformats.org/drawingml/2006/main">
            <a:r>
              <a:t>- https://www.ibm.com/think/topics/attack-surface-management-for-data-breach-prevention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秒。全篇记忆锚点：信任从‘你是谁’转为‘你技术上做不了坏事’。只报四个机制名字，马上进入算法证据。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https://ojs.aaai.org/index.php/AAAI/article/view/40037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秒。只讲根本差异：FedPKDA 不传梯度和样本，只传裁剪并加拉普拉斯噪声的类别语义均值。PSNR 6.9 来自论文攻击实验，本项目未重复该攻击实验。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https://proceedings.neurips.cc/paper/9617-deep-leakage-from-gradients.pdf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秒。聚类找密集中心，马氏距离考虑协方差，离群越远反距离权重越低；Fisher 再量化模型贡献。隔离是理论机制，本项目尚未完成投毒对抗实验，不要说成实测结果。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秒。φ(t) 严格单调递增：早期保护本地表示，后期吸收全局共识。强调阶段切换自动完成，不展开函数推导。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秒。先讲项目复现的两个大差距，再用论文 12 个 SOTA 基线结果做背书。务必说明每组为单次运行，误差带是客户端间 std。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https://github.com/IridiumNan/FedPKDA-robocup/blob/plan/docs/report/experiment/report.md</a:t>
            </a:r>
          </a:p>
          <a:p xmlns:a="http://schemas.openxmlformats.org/drawingml/2006/main">
            <a:r>
              <a:t>- https://github.com/IridiumNan/FedPKDA-robocup/blob/plan/docs/report/experiment/experiment_explanation.md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秒。主推 jr=0.1：FedAvg 从 94.09 跌到 53.39，而 FedPKDA 维持 99.66。稳定性只用 best→final 和最后 10 轮 std，不使用全曲线 std。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https://github.com/IridiumNan/FedPKDA-robocup/blob/plan/docs/report/experiment/report.md</a:t>
            </a:r>
          </a:p>
          <a:p xmlns:a="http://schemas.openxmlformats.org/drawingml/2006/main">
            <a:r>
              <a:t>- https://github.com/IridiumNan/FedPKDA-robocup/blob/plan/docs/report/experiment/experiment_explanation.md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秒架构 + 1 分钟视频。只讲三点：数据不出域、异常自动降权、知识双向流动。右侧为视频封面，拿到录屏后直接替换为视频对象。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https://github.com/IridiumNan/FedPKDA-robocup/tree/plan/MVP_frontend/light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秒。平台只是把算法能力可视化。协调员只有建议权，隔离执行权在机构侧；这是架构分权，不是前端按钮权限。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https://github.com/IridiumNan/FedPKDA-robocup/tree/plan/docs/api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秒。不给调研过程，只给结论：ISAC 依赖人工脱敏，传统 FL 传梯度，SOC 集中托管；FedPKDA 传不可逆知识。合规表述用‘降低风险’，不要承诺自动满足全部法律义务。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https://www.fsisac.com/about-us</a:t>
            </a:r>
          </a:p>
          <a:p xmlns:a="http://schemas.openxmlformats.org/drawingml/2006/main">
            <a:r>
              <a:t>- https://www.nist.gov/cyberframework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秒。落地对象是金融、政务、能源、通信等联盟。强调标准 PyTorch 技术栈与无专用硬件；如果被问成本，承认计算约为 FedAvg 的 10 倍，以隐私、通信和稳定性换算力。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秒。用三条证据链收束：有论文、有实测、有系统。最后落回‘数据不出域，知识可共享’。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https://ojs.aaai.org/index.php/AAAI/article/view/40037</a:t>
            </a:r>
          </a:p>
          <a:p xmlns:a="http://schemas.openxmlformats.org/drawingml/2006/main">
            <a:r>
              <a:t>- https://github.com/IridiumNan/FedPKDA-robocup/blob/plan/docs/report/experiment/report.md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 秒。停在本页进入问答。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https://github.com/IridiumNan/FedPKDA-robocup/blob/plan/docs/spec/project_description.md</a:t>
            </a:r>
          </a:p>
          <a:p xmlns:a="http://schemas.openxmlformats.org/drawingml/2006/main">
            <a:r>
              <a:t>- https://ojs.aaai.org/index.php/AAAI/article/view/40037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1fd26f88534d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e9241efa59409b" /><Relationship Type="http://schemas.openxmlformats.org/officeDocument/2006/relationships/slideLayout" Target="/ppt/slideLayouts/slideLayout1.xml" Id="R14db5ef5c9884c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db5ef5c9884c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8bd23b6f64e0f" /><Relationship Type="http://schemas.openxmlformats.org/officeDocument/2006/relationships/image" Target="/ppt/media/image.png" Id="R06b6bd2ffa594889" /><Relationship Type="http://schemas.openxmlformats.org/officeDocument/2006/relationships/notesSlide" Target="/ppt/notesSlides/notesSlide1.xml" Id="R0354bd6ed4fe47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2553f79814c52" /><Relationship Type="http://schemas.openxmlformats.org/officeDocument/2006/relationships/notesSlide" Target="/ppt/notesSlides/notesSlide2.xml" Id="Refaef64d7a9345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a9489ff964658" /><Relationship Type="http://schemas.openxmlformats.org/officeDocument/2006/relationships/notesSlide" Target="/ppt/notesSlides/notesSlide3.xml" Id="R09bd0a28c7df42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3fa3ab1034cd4" /><Relationship Type="http://schemas.openxmlformats.org/officeDocument/2006/relationships/notesSlide" Target="/ppt/notesSlides/notesSlide4.xml" Id="R431ab9e4087943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642a70badf460b" /><Relationship Type="http://schemas.openxmlformats.org/officeDocument/2006/relationships/notesSlide" Target="/ppt/notesSlides/notesSlide5.xml" Id="R7944626a55ba43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d3bb99c746442e" /><Relationship Type="http://schemas.openxmlformats.org/officeDocument/2006/relationships/chart" Target="/ppt/slides/charts/chart1.xml" Id="Rac65e7bde60347b5" /><Relationship Type="http://schemas.openxmlformats.org/officeDocument/2006/relationships/notesSlide" Target="/ppt/notesSlides/notesSlide6.xml" Id="Rb81bb77de0f143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2120d3c964c55" /><Relationship Type="http://schemas.openxmlformats.org/officeDocument/2006/relationships/image" Target="/ppt/media/image2.png" Id="R3adad9caec134dd6" /><Relationship Type="http://schemas.openxmlformats.org/officeDocument/2006/relationships/image" Target="/ppt/media/image3.png" Id="R83ea60d925bc4e39" /><Relationship Type="http://schemas.openxmlformats.org/officeDocument/2006/relationships/notesSlide" Target="/ppt/notesSlides/notesSlide7.xml" Id="Rd48a4565431447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1b8c2cf734598" /><Relationship Type="http://schemas.openxmlformats.org/officeDocument/2006/relationships/image" Target="/ppt/media/image4.png" Id="Rd4b85725cfbc44ff" /><Relationship Type="http://schemas.openxmlformats.org/officeDocument/2006/relationships/notesSlide" Target="/ppt/notesSlides/notesSlide8.xml" Id="Rd32ea1dca2884a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41819a62b4ee8" /><Relationship Type="http://schemas.openxmlformats.org/officeDocument/2006/relationships/image" Target="/ppt/media/image5.png" Id="Rff90b44173014259" /><Relationship Type="http://schemas.openxmlformats.org/officeDocument/2006/relationships/notesSlide" Target="/ppt/notesSlides/notesSlide9.xml" Id="R5963ee5532284a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4917b919f740e1" /><Relationship Type="http://schemas.openxmlformats.org/officeDocument/2006/relationships/image" Target="/ppt/media/image6.png" Id="R3ae17ef2cb794f96" /><Relationship Type="http://schemas.openxmlformats.org/officeDocument/2006/relationships/image" Target="/ppt/media/image7.png" Id="R208af7974da94d44" /><Relationship Type="http://schemas.openxmlformats.org/officeDocument/2006/relationships/notesSlide" Target="/ppt/notesSlides/notesSlide10.xml" Id="R9193219a4b1548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afa20c0974874" /><Relationship Type="http://schemas.openxmlformats.org/officeDocument/2006/relationships/notesSlide" Target="/ppt/notesSlides/notesSlide11.xml" Id="R1f00e40388f64f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0ddee8cb94893" /><Relationship Type="http://schemas.openxmlformats.org/officeDocument/2006/relationships/image" Target="/ppt/media/image8.png" Id="R0705209ec9f54c1e" /><Relationship Type="http://schemas.openxmlformats.org/officeDocument/2006/relationships/notesSlide" Target="/ppt/notesSlides/notesSlide12.xml" Id="R2fe56e9f34004f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2808585c04a1e" /><Relationship Type="http://schemas.openxmlformats.org/officeDocument/2006/relationships/notesSlide" Target="/ppt/notesSlides/notesSlide13.xml" Id="R91b340ab522c425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470103b41455e" /><Relationship Type="http://schemas.openxmlformats.org/officeDocument/2006/relationships/image" Target="/ppt/media/image9.png" Id="Ra78f6d468c6f439d" /><Relationship Type="http://schemas.openxmlformats.org/officeDocument/2006/relationships/notesSlide" Target="/ppt/notesSlides/notesSlide14.xml" Id="R3e6409a364d042e3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φ(t)</c:v>
          </c:tx>
          <c:spPr>
            <a:ln xmlns:a="http://schemas.openxmlformats.org/drawingml/2006/main" w="38100">
              <a:solidFill>
                <a:srgbClr val="2F6BFF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1"/>
              <c:pt idx="0">
                <c:v>0</c:v>
              </c:pt>
              <c:pt idx="1">
                <c:v>10</c:v>
              </c:pt>
              <c:pt idx="2">
                <c:v>20</c:v>
              </c:pt>
              <c:pt idx="3">
                <c:v>30</c:v>
              </c:pt>
              <c:pt idx="4">
                <c:v>40</c:v>
              </c:pt>
              <c:pt idx="5">
                <c:v>50</c:v>
              </c:pt>
              <c:pt idx="6">
                <c:v>60</c:v>
              </c:pt>
              <c:pt idx="7">
                <c:v>70</c:v>
              </c:pt>
              <c:pt idx="8">
                <c:v>80</c:v>
              </c:pt>
              <c:pt idx="9">
                <c:v>90</c:v>
              </c:pt>
              <c:pt idx="10">
                <c:v>100</c:v>
              </c:pt>
            </c:numLit>
          </c:cat>
          <c:val>
            <c:numLit>
              <c:formatCode>0.0</c:formatCode>
              <c:ptCount val="11"/>
              <c:pt idx="0">
                <c:v>0.03</c:v>
              </c:pt>
              <c:pt idx="1">
                <c:v>0.05</c:v>
              </c:pt>
              <c:pt idx="2">
                <c:v>0.09</c:v>
              </c:pt>
              <c:pt idx="3">
                <c:v>0.16</c:v>
              </c:pt>
              <c:pt idx="4">
                <c:v>0.29</c:v>
              </c:pt>
              <c:pt idx="5">
                <c:v>0.5</c:v>
              </c:pt>
              <c:pt idx="6">
                <c:v>0.71</c:v>
              </c:pt>
              <c:pt idx="7">
                <c:v>0.84</c:v>
              </c:pt>
              <c:pt idx="8">
                <c:v>0.91</c:v>
              </c:pt>
              <c:pt idx="9">
                <c:v>0.95</c:v>
              </c:pt>
              <c:pt idx="10">
                <c:v>0.97</c:v>
              </c:pt>
            </c:numLit>
          </c:val>
        </c:ser>
        <c:smooth val="1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125">
                    <a:solidFill>
                      <a:srgbClr val="516078"/>
                    </a:solidFill>
                  </a:rPr>
                  <a:t>训练轮次 t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516078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DE4E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7B879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F1F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125">
                    <a:solidFill>
                      <a:srgbClr val="516078"/>
                    </a:solidFill>
                  </a:rPr>
                  <a:t>全局权重 φ(t)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516078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DE4E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7B879B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DE4EE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5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6bd2ffa594889"/>
          <a:srcRect xmlns:a="http://schemas.openxmlformats.org/drawingml/2006/main" l="26040" t="0" r="2604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0"/>
            <a:ext cx="5905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D9803-BF33-4C54-B492-52D122DB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9300" y="0"/>
            <a:ext cx="1714500" cy="6858000"/>
          </a:xfrm>
          <a:prstGeom xmlns:a="http://schemas.openxmlformats.org/drawingml/2006/main" prst="roundRect">
            <a:avLst>
              <a:gd name="adj" fmla="val 6667"/>
            </a:avLst>
          </a:prstGeom>
          <a:gradFill xmlns:a="http://schemas.openxmlformats.org/drawingml/2006/main">
            <a:gsLst>
              <a:gs pos="0">
                <a:srgbClr val="0B1530"/>
              </a:gs>
              <a:gs pos="100000">
                <a:srgbClr val="0B1530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85A0D-9853-4E02-9052-D64494F3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628650"/>
            <a:ext cx="1257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AAAI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EF859-6EE9-44E2-BB66-47CE914C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953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03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B3F55-3BDB-44D2-A9EF-3622E1C4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533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联邦入侵检测协作平台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3B83B-026B-4E57-ABEC-252D2785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5143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 i="0">
                <a:solidFill>
                  <a:srgbClr val="C9D5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 i="0">
                <a:solidFill>
                  <a:srgbClr val="C9D5EB"/>
                </a:solidFill>
                <a:latin typeface="Noto Sans CJK SC"/>
                <a:ea typeface="Noto Sans CJK SC"/>
                <a:cs typeface="Noto Sans CJK SC"/>
              </a:rPr>
              <a:t>让多机构在数据不出域的前提下，共享可用的安全知识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C98609-9519-4492-9DDB-A1BEA2A4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4305300"/>
            <a:ext cx="11430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9B2572-BF40-4052-89A1-2961E323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57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rPr>
              <a:t>作品名：FedPKDA 联邦入侵检测协作平台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rPr>
              <a:t>队伍：__________    成员：__________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62056-51FC-4468-BA60-84A7BEE4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技术信任，替代法律信任</a:t>
            </a:r>
          </a:p>
        </p:txBody>
      </p:sp>
    </p:spTree>
    <p:extLst>
      <p:ext uri="{BB962C8B-B14F-4D97-AF65-F5344CB8AC3E}">
        <p14:creationId xmlns:p14="http://schemas.microsoft.com/office/powerpoint/2010/main" val="5027119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D7C30C-8AD2-4899-8AE2-8E9D8472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01 / WHY 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261B0-B0E0-44BD-A163-6B8B5AB8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联邦学习没有消除信任风险，只是换了暴露方式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F345F-B90E-402F-8636-ED7D24C1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96688B-E4F6-4B07-A82B-D90DEAC4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254D3-4E1B-449C-9B41-EFAF078A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07FF48-E6C6-4EAE-A2C0-E631ACF1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76400"/>
            <a:ext cx="52578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1C8C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108A27-9C8E-4B15-97B2-AFF10278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1885950"/>
            <a:ext cx="8001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风险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3F8BB9-9101-4880-873D-29996121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共享梯度，可逆出原始数据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48C99-67BC-42CC-82D6-5D1304AD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31432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30"/>
          </a:solidFill>
          <a:ln xmlns:a="http://schemas.openxmlformats.org/drawingml/2006/main" w="0">
            <a:solidFill>
              <a:srgbClr val="0B1530"/>
            </a:solidFill>
            <a:prstDash val="solid"/>
          </a:ln>
        </p:spPr>
        <p:txBody>
          <a:bodyPr xmlns:a="http://schemas.openxmlformats.org/drawingml/2006/main" anchor="ctr">
            <a:normAutofit fontScale="8196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47D095-DAC3-44E2-9DF3-8C5138A0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31432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86066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梯度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CC734-CD49-4FFC-9202-A6571AD1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31432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8E8"/>
          </a:solidFill>
          <a:ln xmlns:a="http://schemas.openxmlformats.org/drawingml/2006/main" w="0">
            <a:solidFill>
              <a:srgbClr val="FDE8E8"/>
            </a:solidFill>
            <a:prstDash val="solid"/>
          </a:ln>
        </p:spPr>
        <p:txBody>
          <a:bodyPr xmlns:a="http://schemas.openxmlformats.org/drawingml/2006/main" anchor="ctr">
            <a:normAutofit fontScale="86066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重建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F3CFD-D7F2-4375-B2BE-D186B815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00250" y="3381375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7B610-295F-4EF6-AA89-6D5C2314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3381375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0A1AA1-482F-4139-9ED9-1B67BCC8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DLG 证明：公开梯度可在少量迭代中恢复训练输入和标签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CB3347-3E5A-46AF-87A6-56F63D1E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1676400"/>
            <a:ext cx="52578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1C8C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A5A5F-6397-47FA-AD06-E1E436E1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1885950"/>
            <a:ext cx="8001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风险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440C5-3EC1-4E4A-8FB7-C2EEDB2F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241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协调员看见全部共享数据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0D987D-7B17-44C1-8493-3D691C13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30289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协调员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E1EC9D-4BDE-422B-9215-356D207F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9900" y="3143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0">
            <a:solidFill>
              <a:srgbClr val="EAF0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C1FC15-42A7-430E-9693-539B2509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72700" y="3143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0">
            <a:solidFill>
              <a:srgbClr val="EAF0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F249CA-1CDA-4392-88D1-150E4C14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15350" y="41148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0">
            <a:solidFill>
              <a:srgbClr val="EAF0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cxnSp>
        <p:nvCxnSpPr>
          <p:cNvPr id="54" name=""/>
          <p:cNvCxnSpPr>
            <a:stCxn xmlns:a="http://schemas.openxmlformats.org/drawingml/2006/main" id="19" idx="6"/>
            <a:endCxn xmlns:a="http://schemas.openxmlformats.org/drawingml/2006/main" id="18" idx="2"/>
          </p:cNvCxnSpPr>
          <p:nvPr/>
        </p:nvCxnSpPr>
        <p:spPr>
          <a:xfrm xmlns:a="http://schemas.openxmlformats.org/drawingml/2006/main">
            <a:off x="7353300" y="3409950"/>
            <a:ext cx="100965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5255"/>
            </a:solidFill>
            <a:prstDash val="solid"/>
          </a:ln>
        </p:spPr>
      </p:cxnSp>
      <p:cxnSp>
        <p:nvCxnSpPr>
          <p:cNvPr id="55" name=""/>
          <p:cNvCxnSpPr>
            <a:stCxn xmlns:a="http://schemas.openxmlformats.org/drawingml/2006/main" id="20" idx="2"/>
            <a:endCxn xmlns:a="http://schemas.openxmlformats.org/drawingml/2006/main" id="18" idx="6"/>
          </p:cNvCxnSpPr>
          <p:nvPr/>
        </p:nvCxnSpPr>
        <p:spPr>
          <a:xfrm xmlns:a="http://schemas.openxmlformats.org/drawingml/2006/main" flipH="1">
            <a:off x="9239250" y="3409950"/>
            <a:ext cx="93345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5255"/>
            </a:solidFill>
            <a:prstDash val="solid"/>
          </a:ln>
        </p:spPr>
      </p:cxnSp>
      <p:cxnSp>
        <p:nvCxnSpPr>
          <p:cNvPr id="56" name=""/>
          <p:cNvCxnSpPr>
            <a:stCxn xmlns:a="http://schemas.openxmlformats.org/drawingml/2006/main" id="21" idx="0"/>
            <a:endCxn xmlns:a="http://schemas.openxmlformats.org/drawingml/2006/main" id="18" idx="4"/>
          </p:cNvCxnSpPr>
          <p:nvPr/>
        </p:nvCxnSpPr>
        <p:spPr>
          <a:xfrm xmlns:a="http://schemas.openxmlformats.org/drawingml/2006/main" flipV="1">
            <a:off x="8782050" y="3905250"/>
            <a:ext cx="1905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5255"/>
            </a:solidFill>
            <a:prstDash val="soli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F9D8CF-712B-4A50-878A-CD06C751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单点失陷 = 全联盟暴露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12F736-1535-4DD5-9C2B-DA669348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0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7E1F87-17A4-4CDA-9683-0FBA028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81625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$4.45M → $4.88M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0F6A34-3AB3-4BD0-A797-4EDAAE31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9150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2023-2024 全球平均单次数据泄露成本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CE69C-ABCF-4597-844B-E33774AE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8162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277 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D0D41B-FE7E-4162-8215-32646646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15025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2023 年平均发现与遏制周期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1396D0-F24F-4FD8-8DC2-E6AE4BFD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4959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共享行为扩大暴露面，中心化协调又制造最大风险点。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5CFB8E-D082-44A9-B4A2-692B8019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2785037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CD91F2-1E11-4A21-A688-D88EC359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02 / CORE IDEA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2A3A5-5307-4E21-9625-9110F21E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我们改变的不是权限，而是信任的技术基础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7B492-9BD3-406D-A028-69AA081A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49A9F-99F9-4246-AB42-44B2E2AB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A4C9F-1303-4BC0-B06F-C4F1068F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289B4-789F-4C48-8868-D8182756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14500"/>
            <a:ext cx="40005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EDEE"/>
          </a:solidFill>
          <a:ln xmlns:a="http://schemas.openxmlformats.org/drawingml/2006/main" w="9525">
            <a:solidFill>
              <a:srgbClr val="F2CBC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CA4B6-8A2E-428C-81E4-4364A3D5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81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传统 ISAC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358E4-2DCB-46FF-BDFD-B81CA98B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7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7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“你是谁”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810E1-48CD-4204-82A5-7F225074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法律协议 + 身份认证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协调员必须绝对可信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BFBC8-D699-4228-91EF-D296D982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14900" y="2476500"/>
            <a:ext cx="1352550" cy="685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替代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3AC51B-00E3-44C1-AB65-532F4098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1714500"/>
            <a:ext cx="501015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BDEC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3EC58F-A20D-4B8A-8177-EAAFA2B8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81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48A115-F87A-4B93-9144-166539E0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4248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“你技术上做不了坏事”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2B022-A73F-4AB3-BBB2-CBFB6082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19450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不可逆知识传输 + 自动几何过滤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协调员退化为轻量管理员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2B788-B9B8-4880-912D-CB836729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四个手段，把信任写进算法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5BB8D3-7F49-4182-94B7-9AE5612F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953000"/>
            <a:ext cx="22860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024554-F512-42A2-B7E9-DF001D75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00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C562B-8734-4DE6-B954-9E06E64C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863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原型传输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B5EE0B-9F9B-4223-9B78-1F3C91D8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673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不传梯度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4024C1-2FF5-4573-A0C6-C0BD1BD4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4953000"/>
            <a:ext cx="22860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4E0E1A-7F66-49DC-BF0B-DC721F6D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143500"/>
            <a:ext cx="400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B20C6F-923F-4E81-94C2-32032AC4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863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马氏距离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42650-557C-4278-8E63-AF67E5DC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4673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离群自动降权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20E92-5FCC-4F08-9921-708DC3C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4953000"/>
            <a:ext cx="22860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ECE43C-28F2-4D76-9326-0FA94D96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00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2733E9-E5C0-4520-9202-93514277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0863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Fisher 量化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F0552B-AE38-4131-9942-D7A5F207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673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贡献决定权重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25C382-DA04-418E-94C4-CDC77CA4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9200" y="4953000"/>
            <a:ext cx="22860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9EB0D6-8903-4B55-A520-6670FFF0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43500"/>
            <a:ext cx="400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39D80E-975C-44E3-9C8C-8670A77B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0863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φ(t) 调度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A4E550-FEBC-4B06-BD19-9C1947F2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4673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本地→全局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4C75E0-BA1E-4182-A9D0-C03EFE71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19800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怎么做到？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D122F9-C59D-4E1F-8273-2BBA1E66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1442123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AAC8E2-E013-4A04-B8A2-FC33A0F5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03 / BREAKTHROUGH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934FE-F316-417D-BC68-90C8315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传输带噪类原型，从源头切断梯度还原路径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93123-15AB-4314-ACE9-E117BBE2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9F4A03-5D83-4C92-AF76-4FAD785A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44531-BC01-4A16-8FFC-5B3D05D1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26AE1-0911-4E53-98D1-0C19B12F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57350"/>
            <a:ext cx="50673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7F7"/>
          </a:solidFill>
          <a:ln xmlns:a="http://schemas.openxmlformats.org/drawingml/2006/main" w="9525">
            <a:solidFill>
              <a:srgbClr val="F3C8C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1EB8E-E81D-4BC8-A623-ECA8BE47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1885950"/>
            <a:ext cx="1466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传统联邦学习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7DC5F3-D934-4A21-B627-EFFEB197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28956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30"/>
          </a:solidFill>
          <a:ln xmlns:a="http://schemas.openxmlformats.org/drawingml/2006/main" w="0">
            <a:solidFill>
              <a:srgbClr val="0B1530"/>
            </a:solidFill>
            <a:prstDash val="solid"/>
          </a:ln>
        </p:spPr>
        <p:txBody>
          <a:bodyPr xmlns:a="http://schemas.openxmlformats.org/drawingml/2006/main" anchor="ctr">
            <a:normAutofit fontScale="916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471FC-5A74-4541-91AB-DEC1FDDB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8956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916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梯度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A2753-F0E2-4448-B34A-74F2C2D7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28956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8E8"/>
          </a:solidFill>
          <a:ln xmlns:a="http://schemas.openxmlformats.org/drawingml/2006/main" w="0">
            <a:solidFill>
              <a:srgbClr val="FDE8E8"/>
            </a:solidFill>
            <a:prstDash val="solid"/>
          </a:ln>
        </p:spPr>
        <p:txBody>
          <a:bodyPr xmlns:a="http://schemas.openxmlformats.org/drawingml/2006/main" anchor="ctr">
            <a:normAutofit fontScale="916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原图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0E0B6-BC4C-4F76-8402-769D6A2C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76450" y="3200400"/>
            <a:ext cx="4191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87CFCE-10D6-4283-BE57-E0AA73AF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3800" y="3200400"/>
            <a:ext cx="4191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F4B16-2F38-48CC-BCCA-D4BF5D3F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624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共享梯度 → DLG 重建训练数据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2C03C-8C04-4083-90B7-E02208AB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0055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像把“裸照”交给传输链路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2B3C9-2B69-4D3E-90F1-3F2F1B11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81700" y="1657350"/>
            <a:ext cx="56007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D826C4-4495-4B04-993F-8CB64ADF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885950"/>
            <a:ext cx="1104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A7E669-05FC-4A41-9FA0-51CE78C1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28575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30"/>
          </a:solidFill>
          <a:ln xmlns:a="http://schemas.openxmlformats.org/drawingml/2006/main" w="0">
            <a:solidFill>
              <a:srgbClr val="0B1530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类别均值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A7FA8A-5C63-4628-B354-EB0FA983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8575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裁剪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010E1C-A343-477D-96E8-0CDC347F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24950" y="28575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53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0B1530"/>
                </a:solidFill>
                <a:latin typeface="Noto Sans CJK SC"/>
                <a:ea typeface="Noto Sans CJK SC"/>
                <a:cs typeface="Noto Sans CJK SC"/>
              </a:rPr>
              <a:t>+噪声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FEAE59-C581-43AD-9711-584D3582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0" y="28575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8EF"/>
          </a:solidFill>
          <a:ln xmlns:a="http://schemas.openxmlformats.org/drawingml/2006/main" w="0">
            <a:solidFill>
              <a:srgbClr val="DDF8E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原型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9B74A3-8C22-424B-9862-2A40CCE9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2350" y="3181350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59F542-7BBB-4F32-81FB-9B63F5E1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24900" y="3181350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682294-D678-4F9E-90D3-DCF8B494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77450" y="3181350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0D3B2B-F3D0-42FF-BBAD-88EAC605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94335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95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3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1" i="0">
                <a:solidFill>
                  <a:srgbClr val="17213A"/>
                </a:solidFill>
                <a:latin typeface="DejaVu Sans Mono"/>
                <a:ea typeface="DejaVu Sans Mono"/>
                <a:cs typeface="DejaVu Sans Mono"/>
              </a:rPr>
              <a:t>p̃ = clip(p, -1, 1) + ξ,   ξ ~ Lap(0, b)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8EBB4E-E9C0-40B2-BFF9-C8EFE42C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005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像共享“模糊指纹”：保留类别语义，不保留个体细节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5B5952-60E3-48FC-B96F-440ADDA2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31495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5A3E38-EC6A-455F-9231-673314A3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626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PSNR ≈ 6.9 dB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73FFF1-B135-4545-AC1B-4C2C8733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6673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论文攻击实验：重建结果接近随机噪声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288319-1E40-4651-9489-37B2B3E5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5600700"/>
            <a:ext cx="1809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FF4DD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rPr>
              <a:t>论文结果 / 非本项目复测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C8E2F4-00EA-4CBF-A3A7-9812EA86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6957084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0D9153-3113-4CB7-9780-F30A971A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03 / BREAKTHROUGH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EF6E8B-B19C-46B0-AAD5-2E858E15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几何偏离决定权重，异常与搭便车自然降权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45AF9-30BC-4D04-B9E0-9BE2248B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997C3F-D5FF-4349-ABBA-792FAFEC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9B592-AA29-48CE-8A1B-FC418D95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1E849-1A39-44D5-869F-8EEE79B1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马氏距离自动隔离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A28F7-A485-4F13-B6D4-2AF924D8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密度高者权重高，而不是简单“少数服从多数”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1DBA1-A316-4775-80CB-6E2F5026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533650"/>
            <a:ext cx="594360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399A7-0087-452D-9B43-E812CB43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32194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9C2D0-B5C6-4728-BC94-7F44FCCC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35814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7761C-B747-4534-B1FF-F708800F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4248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51D56E-6EDA-45AA-9F3B-0535DA96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33337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679867-58EC-482B-BBC2-1CFDA945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90900" y="36766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9E2E7-0726-4365-BD12-E138F625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4457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EB5FF2-3BF9-48B6-9CA9-6D9C6496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0000" y="41719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CD112-7D29-4F0B-9FAB-CEF64BA7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885D80-CC0E-4D23-B4E0-0719FE61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476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E61263-4FFB-4AFD-9B3F-7E2516C2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3943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30"/>
          </a:solidFill>
          <a:ln xmlns:a="http://schemas.openxmlformats.org/drawingml/2006/main" w="0">
            <a:solidFill>
              <a:srgbClr val="0B1530"/>
            </a:solidFill>
            <a:prstDash val="solid"/>
          </a:ln>
        </p:spPr>
        <p:txBody>
          <a:bodyPr xmlns:a="http://schemas.openxmlformats.org/drawingml/2006/main" anchor="ctr">
            <a:normAutofit fontScale="79607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μ</a:t>
            </a:r>
          </a:p>
        </p:txBody>
      </p:sp>
      <p:cxnSp>
        <p:nvCxnSpPr>
          <p:cNvPr id="68" name=""/>
          <p:cNvCxnSpPr>
            <a:stCxn xmlns:a="http://schemas.openxmlformats.org/drawingml/2006/main" id="9" idx="5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323143" y="3447093"/>
            <a:ext cx="884273" cy="56042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69" name=""/>
          <p:cNvCxnSpPr>
            <a:stCxn xmlns:a="http://schemas.openxmlformats.org/drawingml/2006/main" id="10" idx="5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723193" y="3809043"/>
            <a:ext cx="484223" cy="19847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0" name=""/>
          <p:cNvCxnSpPr>
            <a:stCxn xmlns:a="http://schemas.openxmlformats.org/drawingml/2006/main" id="11" idx="6"/>
            <a:endCxn xmlns:a="http://schemas.openxmlformats.org/drawingml/2006/main" id="18" idx="2"/>
          </p:cNvCxnSpPr>
          <p:nvPr/>
        </p:nvCxnSpPr>
        <p:spPr>
          <a:xfrm xmlns:a="http://schemas.openxmlformats.org/drawingml/2006/main" flipV="1">
            <a:off x="2514600" y="4162425"/>
            <a:ext cx="62865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1" name=""/>
          <p:cNvCxnSpPr>
            <a:stCxn xmlns:a="http://schemas.openxmlformats.org/drawingml/2006/main" id="12" idx="5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3218493" y="3561393"/>
            <a:ext cx="143832" cy="38195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2" name=""/>
          <p:cNvCxnSpPr>
            <a:stCxn xmlns:a="http://schemas.openxmlformats.org/drawingml/2006/main" id="13" idx="4"/>
            <a:endCxn xmlns:a="http://schemas.openxmlformats.org/drawingml/2006/main" id="18" idx="7"/>
          </p:cNvCxnSpPr>
          <p:nvPr/>
        </p:nvCxnSpPr>
        <p:spPr>
          <a:xfrm xmlns:a="http://schemas.openxmlformats.org/drawingml/2006/main" flipH="1">
            <a:off x="3517234" y="3943350"/>
            <a:ext cx="7016" cy="6416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3" name=""/>
          <p:cNvCxnSpPr>
            <a:stCxn xmlns:a="http://schemas.openxmlformats.org/drawingml/2006/main" id="14" idx="7"/>
            <a:endCxn xmlns:a="http://schemas.openxmlformats.org/drawingml/2006/main" id="18" idx="3"/>
          </p:cNvCxnSpPr>
          <p:nvPr/>
        </p:nvCxnSpPr>
        <p:spPr>
          <a:xfrm xmlns:a="http://schemas.openxmlformats.org/drawingml/2006/main" flipV="1">
            <a:off x="3085143" y="4317334"/>
            <a:ext cx="122273" cy="17942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4" name=""/>
          <p:cNvCxnSpPr>
            <a:stCxn xmlns:a="http://schemas.openxmlformats.org/drawingml/2006/main" id="15" idx="2"/>
            <a:endCxn xmlns:a="http://schemas.openxmlformats.org/drawingml/2006/main" id="18" idx="6"/>
          </p:cNvCxnSpPr>
          <p:nvPr/>
        </p:nvCxnSpPr>
        <p:spPr>
          <a:xfrm xmlns:a="http://schemas.openxmlformats.org/drawingml/2006/main" flipH="1" flipV="1">
            <a:off x="3581400" y="4162425"/>
            <a:ext cx="2286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5" name=""/>
          <p:cNvCxnSpPr>
            <a:stCxn xmlns:a="http://schemas.openxmlformats.org/drawingml/2006/main" id="16" idx="3"/>
            <a:endCxn xmlns:a="http://schemas.openxmlformats.org/drawingml/2006/main" id="18" idx="7"/>
          </p:cNvCxnSpPr>
          <p:nvPr/>
        </p:nvCxnSpPr>
        <p:spPr>
          <a:xfrm xmlns:a="http://schemas.openxmlformats.org/drawingml/2006/main" flipH="1">
            <a:off x="3517234" y="3713793"/>
            <a:ext cx="693773" cy="293723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BDDD4"/>
            </a:solidFill>
            <a:prstDash val="solid"/>
          </a:ln>
        </p:spPr>
      </p:cxnSp>
      <p:cxnSp>
        <p:nvCxnSpPr>
          <p:cNvPr id="76" name=""/>
          <p:cNvCxnSpPr>
            <a:stCxn xmlns:a="http://schemas.openxmlformats.org/drawingml/2006/main" id="17" idx="1"/>
            <a:endCxn xmlns:a="http://schemas.openxmlformats.org/drawingml/2006/main" id="18" idx="6"/>
          </p:cNvCxnSpPr>
          <p:nvPr/>
        </p:nvCxnSpPr>
        <p:spPr>
          <a:xfrm xmlns:a="http://schemas.openxmlformats.org/drawingml/2006/main" flipH="1" flipV="1">
            <a:off x="3581400" y="4162425"/>
            <a:ext cx="980877" cy="361752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F4B4B5"/>
            </a:solidFill>
            <a:prstDash val="dash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85B8B0-CAAF-4E05-A680-AB039169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离群越远 → 马氏距离越大 → 反距离权重越接近 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D3CB00-F059-4DA2-B814-1755A843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57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机制链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F5C72F-F169-4E1C-92B9-068E82A0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72300" y="211455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220D33-3934-4C66-92FD-513CF887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22383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33FF98-96EE-4CBB-985A-E57B5AD5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K-Means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求中心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7E5A8D-DEDE-48CD-8D3F-C648C5D8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0200" y="211455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BD88A9-9106-47EC-A293-FEDEF701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22383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A77EBA-7B01-44AA-9D43-FB235375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23837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马氏距离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量偏离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1FF87E-F5F5-452E-8C9C-585E7239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72300" y="331470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9568F1-4116-4CCF-9DFB-ECCF7660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34385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F185DF-3C66-4860-AD25-8C68A85E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3852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反距离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生成权重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C9C4CF-6FC4-4244-81F4-DEE52D86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0200" y="3314700"/>
            <a:ext cx="2000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11430">
            <a:solidFill>
              <a:srgbClr val="E7525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75CC84-1E88-49DD-9E42-D8418826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34385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C4342-C1C2-45C1-875D-60D64224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438525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离群节点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近零贡献</a:t>
            </a:r>
          </a:p>
        </p:txBody>
      </p:sp>
      <p:cxnSp>
        <p:nvCxnSpPr>
          <p:cNvPr id="91" name=""/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972550" y="255270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33" idx="2"/>
            <a:endCxn xmlns:a="http://schemas.openxmlformats.org/drawingml/2006/main" id="36" idx="0"/>
          </p:cNvCxnSpPr>
          <p:nvPr/>
        </p:nvCxnSpPr>
        <p:spPr>
          <a:xfrm xmlns:a="http://schemas.openxmlformats.org/drawingml/2006/main" flipH="1">
            <a:off x="7972425" y="2990850"/>
            <a:ext cx="2247900" cy="323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36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8972550" y="37528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BFF"/>
            </a:solidFill>
            <a:prstDash val="solid"/>
            <a:tailEnd type="triangle" w="sm" len="sm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0A0751-88B8-429B-816D-552485C1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72300" y="4629150"/>
            <a:ext cx="42672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2D59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AFD31A-DDCF-47C0-9D63-5710C353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00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Fisher 信息量化贡献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8A4692-6343-4D34-A673-97ADB5F5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435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关键知识权重大；搭便车节点自动降权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52A222-EF07-48B8-B8A1-7A8C690B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523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1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1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机制性质：本页不声称已完成投毒对抗实测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0488D1-91D6-4EFB-A433-C9C80F7D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9949887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2D9EFF-D153-4F74-8E18-A13FA9EE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03 / BREAKTHROUGH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A105A-9D06-4913-B727-3E9EB717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φ(t) 自动完成“先学本地、再吸收全局”的阶段切换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14D779-37C9-490B-96DC-E6AB2B82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999C3-4DDC-42B3-8102-A19873C5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3A246-C07D-4797-8DE8-7E4BAEBE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99E8C-1697-489A-B1FC-821B0093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76400"/>
            <a:ext cx="66675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95350" y="2047875"/>
          <a:ext xmlns:a="http://schemas.openxmlformats.org/drawingml/2006/main" cx="6096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65e7bde60347b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B3E20-B654-4BE0-9119-06FDBC8D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50482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FF4DD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A45D00"/>
                </a:solidFill>
                <a:latin typeface="Noto Sans CJK SC"/>
                <a:ea typeface="Noto Sans CJK SC"/>
                <a:cs typeface="Noto Sans CJK SC"/>
              </a:rPr>
              <a:t>早期：偏本地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969F3-0EF2-4483-BC7F-2280133F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50482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E5FAFC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087E8C"/>
                </a:solidFill>
                <a:latin typeface="Noto Sans CJK SC"/>
                <a:ea typeface="Noto Sans CJK SC"/>
                <a:cs typeface="Noto Sans CJK SC"/>
              </a:rPr>
              <a:t>后期：偏全局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A308D8-18F9-4AB0-964F-9E79E9A4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907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双对齐损失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BEC8F-E261-4347-A8D3-661B0A09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266950"/>
            <a:ext cx="39243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E091C6-E8D4-4FF0-94BE-F3EBCEAC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05075"/>
            <a:ext cx="342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L_align = ω_local(1-φ(t))L_LA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           + ω_global φ(t)L_GA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643673-D21A-4BF5-B3F5-282962FD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385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L_LA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88237-C3F5-4C55-8161-F980E116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38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保留本机构的个性化威胁特征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DE3EF-D797-4321-8EEC-8E49F82E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1480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L_GA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349E10-6DC7-4A08-B44A-0E8F4F07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14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吸收联盟的跨机构共识知识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E4EE57-0AAB-4A96-BA4D-23D1998E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4705350"/>
            <a:ext cx="39243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D40CA1-BA24-43D0-97E0-1ADCA5D8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9530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手动挡 → 自动驾驶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30A2DA-2F5F-4609-A2C2-B0BE63D6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41020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训练阶段权重自动切换，避免固定权重调度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9C3439-C76E-49F9-B463-25D5FBC8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7365441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F87B41-2AD7-42BE-B79D-9A2E20D2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04 / EVIDENCE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7660C-8711-4E63-8F53-961DE3F1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异构数据上，FedPKDA 的提升不是边际改进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A1546-969A-421E-A849-27E70827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D1FB6-F5DE-4E46-AE5C-15C107F3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FE04B-B981-457C-96B7-76E7BE51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AB6F3-A75F-45C5-95B3-8558CAFB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0" y="323850"/>
            <a:ext cx="4286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论文背书：CIFAR-100 44.91%，领先 FedAS 4.23pp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FC5E9-DD70-4293-B249-8A60C680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638300"/>
            <a:ext cx="5353050" cy="3314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ad9caec134dd6"/>
          <a:stretch xmlns:a="http://schemas.openxmlformats.org/drawingml/2006/main"/>
        </p:blipFill>
        <p:spPr>
          <a:xfrm xmlns:a="http://schemas.openxmlformats.org/drawingml/2006/main">
            <a:off x="610466" y="1695450"/>
            <a:ext cx="5237018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29551-B209-4C7B-8794-CAA706FA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1638300"/>
            <a:ext cx="5353050" cy="3314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a60d925bc4e39"/>
          <a:stretch xmlns:a="http://schemas.openxmlformats.org/drawingml/2006/main"/>
        </p:blipFill>
        <p:spPr>
          <a:xfrm xmlns:a="http://schemas.openxmlformats.org/drawingml/2006/main">
            <a:off x="6344516" y="1695450"/>
            <a:ext cx="5237018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E2CB6-0E9A-491F-89BC-E38B658C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CIFAR-100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82093-CF56-4F6F-B58D-BC566044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45.29%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368EA1-B271-4FBA-88F3-A6139CAE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524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vs FedAvg 27.87%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7874D-C314-4ED7-97BC-35E324B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5429250"/>
            <a:ext cx="11430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+17.42pp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98D93C-CA37-4AA6-BA75-7D19F244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5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Flowers102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F6BA1-9DD6-441D-97E3-B94D610D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4102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36.65%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49188-EF90-4073-8EBC-1CAFF2BC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24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vs FedAvg 30.15%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466B98-5090-4877-81FA-C1DA4FAC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5429250"/>
            <a:ext cx="11049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8E8"/>
          </a:solidFill>
          <a:ln xmlns:a="http://schemas.openxmlformats.org/drawingml/2006/main" w="9525">
            <a:solidFill>
              <a:srgbClr val="FDE8E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+6.50pp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E80577-3F75-4BC0-87B4-9128A69E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项目实测：3 数据集、15 组实验、每组 run=0；误差带为客户端间测试精度 std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A1ABF-7C17-4F49-AD4D-9C8DEE49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542774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04999B-A277-43A1-9E44-C36EF183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04 / EVIDENCE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831E7-A7CE-4A67-9EDC-FE9EDCCE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安全联盟真正需要的不是峰值，而是稀疏参与下不崩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B81D9-CF98-4123-BBE4-5E45BFF6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3BED7-DEF3-45AA-A187-7532D96C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5255"/>
          </a:solidFill>
          <a:ln xmlns:a="http://schemas.openxmlformats.org/drawingml/2006/main" w="0">
            <a:solidFill>
              <a:srgbClr val="E752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9FA70-6C82-4657-8F78-DD8015A4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0DFF3-62C6-4B47-9FAB-8DFDF92F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619250"/>
            <a:ext cx="7448550" cy="4591050"/>
          </a:xfrm>
          <a:prstGeom xmlns:a="http://schemas.openxmlformats.org/drawingml/2006/main" prst="roundRect">
            <a:avLst>
              <a:gd name="adj" fmla="val 24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85725cfbc44ff"/>
          <a:stretch xmlns:a="http://schemas.openxmlformats.org/drawingml/2006/main"/>
        </p:blipFill>
        <p:spPr>
          <a:xfrm xmlns:a="http://schemas.openxmlformats.org/drawingml/2006/main">
            <a:off x="613930" y="1676400"/>
            <a:ext cx="7325591" cy="4476750"/>
          </a:xfrm>
          <a:prstGeom xmlns:a="http://schemas.openxmlformats.org/drawingml/2006/main" prst="roundRect">
            <a:avLst>
              <a:gd name="adj" fmla="val 1702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931782-979A-4FCB-A6F4-3AAF8A76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1676400"/>
            <a:ext cx="32575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EBC82C-C020-4ABA-90F4-A1EB33F2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85950"/>
            <a:ext cx="2190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395F"/>
          </a:solidFill>
          <a:ln xmlns:a="http://schemas.openxmlformats.org/drawingml/2006/main" w="9525">
            <a:solidFill>
              <a:srgbClr val="26395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极端稀疏参与 jr=0.1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40FB7-8416-444D-99AB-19CC5472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622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rPr>
              <a:t>FedAvg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0ACB6-C222-4313-9BC0-AE21D991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47950"/>
            <a:ext cx="262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94.09 → 53.39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B7A50-EC3F-408E-A76F-CA1A4FC2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B6B8"/>
                </a:solidFill>
                <a:latin typeface="Noto Sans CJK SC"/>
                <a:ea typeface="Noto Sans CJK SC"/>
                <a:cs typeface="Noto Sans CJK SC"/>
              </a:rPr>
              <a:t>-40.7pp 崩塌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B86FA4-6764-49B4-9C59-AA4B1447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3638550"/>
            <a:ext cx="32575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5FAFC"/>
          </a:solidFill>
          <a:ln xmlns:a="http://schemas.openxmlformats.org/drawingml/2006/main" w="9525">
            <a:solidFill>
              <a:srgbClr val="BDE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8000D-E71F-4FCF-ADCF-C5871FD1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13D3E2-87E6-4AD1-8AD8-C9C9868B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481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99.67 → 99.66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FD550-4AA9-4A82-97E4-02B25FD6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±0.01pp，稳定收敛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4A57B2-84F3-4C17-8C7A-F9CCFB33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5638800"/>
            <a:ext cx="325755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19274-4C95-46BC-BDF8-20E075AC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8293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最后 10 轮 std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9A5B52-31E4-46B9-8370-CF30D7B4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10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FedAvg 1.2-15.7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EBC8AE-4669-4BE6-AE48-B73BF1B2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096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FedPKDA 0.00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4DF110-278D-4967-B773-98958868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95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项目实测 · run=0 · 稳定性用 best→final 与收敛后波动表述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92CC05-8DB0-4D1E-A5DA-C1E9AA78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566864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07ACFE-07AF-450B-8196-C29984E4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05 / SYSTEM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4FC5-8347-452C-833B-8A246A3F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八步闭环把隐私、隔离与知识回流接成一个系统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B1323-3CB3-4545-9941-BD901082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35081-6164-4657-82E8-FEA198B8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DFF82-37D7-4080-9D3E-BCCA334B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38083-F958-466E-B798-8C8E739C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543050"/>
            <a:ext cx="10096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DDF8E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客户端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F8E1E-4E93-41AA-9BA3-25285E36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905250"/>
            <a:ext cx="10096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服务端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99A14-119A-479B-8E51-15DEA612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B2BB8-05E5-4037-8BF8-A7C161E0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0FDA47-8A88-47CB-BF1C-C4F609A1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本地训练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606A2D-64D7-4973-80BD-48A4856A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61C39C-2396-4E4F-8D2A-F12DF04A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F0D91-3313-4D4E-B329-967A692B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提取类原型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D28AA-98F6-4D19-A9A8-6CC0CA5F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1B51E-F1FF-4426-B3F1-D87C0A13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BD766-01DB-4728-8244-7DDD5F48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裁剪 + 加噪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F4BE0D-FB00-4747-B024-350FB935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019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11430">
            <a:solidFill>
              <a:srgbClr val="24B78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6692C1-E4EE-46D4-9D2C-CB440D38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2143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BC26C6-0572-4556-A005-CC850A42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43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上传带噪原型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82C1D-9D64-4E1B-AA77-72B02A41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0C038B-967F-4E2D-9B78-61CB1452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2077C8-ABD1-4F9E-9BF3-E5957DA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K-Means + 马氏聚合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4CAE80-1BE3-4C47-B4DE-BEB7CAD9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1E916E-D7C7-4FF5-82C7-B0E966BD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5C752D-E772-4BD3-B172-BE11AAF4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广播全局原型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B5DE96-5EAF-4CA0-A82F-17813F65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BB8676-3172-408F-BBB6-EFB44FEA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E23BD5-0687-4F81-9150-A6731C01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双对齐训练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2C7ED4-36F8-4D4C-9820-CF745968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305300"/>
            <a:ext cx="17716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1430">
            <a:solidFill>
              <a:srgbClr val="2F6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9CC3BB-418B-48E1-8D63-6B47BE0C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4291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  <p:txBody>
          <a:bodyPr xmlns:a="http://schemas.openxmlformats.org/drawingml/2006/main" anchor="ctr">
            <a:normAutofit fontScale="6231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82CF76-2CA4-4749-9CCE-ACE80E2C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29125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Fisher 聚合 / 下一轮</a:t>
            </a:r>
          </a:p>
        </p:txBody>
      </p:sp>
      <p:cxnSp>
        <p:nvCxnSpPr>
          <p:cNvPr id="80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81250" y="2381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343400" y="2381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305550" y="2381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4B787"/>
            </a:solidFill>
            <a:prstDash val="solid"/>
            <a:tailEnd type="triangle" w="sm" len="sm"/>
          </a:ln>
        </p:spPr>
      </p:cxnSp>
      <p:cxnSp>
        <p:nvCxnSpPr>
          <p:cNvPr id="83" name=""/>
          <p:cNvCxnSpPr>
            <a:stCxn xmlns:a="http://schemas.openxmlformats.org/drawingml/2006/main" id="17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381875" y="2743200"/>
            <a:ext cx="981075" cy="1562100"/>
          </a:xfrm>
          <a:prstGeom xmlns:a="http://schemas.openxmlformats.org/drawingml/2006/main" prst="bentConnector4">
            <a:avLst/>
          </a:prstGeom>
          <a:ln xmlns:a="http://schemas.openxmlformats.org/drawingml/2006/main" w="20955">
            <a:solidFill>
              <a:srgbClr val="22C7D6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20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6305550" y="4667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23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4343400" y="4667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26" idx="1"/>
            <a:endCxn xmlns:a="http://schemas.openxmlformats.org/drawingml/2006/main" id="29" idx="3"/>
          </p:cNvCxnSpPr>
          <p:nvPr/>
        </p:nvCxnSpPr>
        <p:spPr>
          <a:xfrm xmlns:a="http://schemas.openxmlformats.org/drawingml/2006/main" flipH="1">
            <a:off x="2381250" y="466725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F6BFF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29" idx="0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1495425" y="2743200"/>
            <a:ext cx="0" cy="1562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C7D6"/>
            </a:solidFill>
            <a:prstDash val="dash"/>
            <a:tailEnd type="triangle" w="sm" len="sm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CE1330-DCF2-4F62-BE2F-1BFE86E2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623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④ 马氏距离 &gt; 3σ → 生成脱敏告警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A9594D0-28AA-49A5-B2C1-3A0F921C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10600" y="1543050"/>
            <a:ext cx="2971800" cy="400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0b44173014259"/>
          <a:srcRect xmlns:a="http://schemas.openxmlformats.org/drawingml/2006/main" l="20048" t="0" r="2004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0" y="1714500"/>
            <a:ext cx="2667000" cy="247650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3DA957-AB85-4DBF-887D-4B59D7C3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2495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EEC6F1-970E-4576-A60E-4B8895DA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886950" y="2619375"/>
            <a:ext cx="228600" cy="2857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302C4D-B09F-4BDE-BDD5-D8515181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38650"/>
            <a:ext cx="2438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平台交互演示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0C4372-3782-42A4-877C-864F40B6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76800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B8C7E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B8C7E1"/>
                </a:solidFill>
                <a:latin typeface="Noto Sans CJK SC"/>
                <a:ea typeface="Noto Sans CJK SC"/>
                <a:cs typeface="Noto Sans CJK SC"/>
              </a:rPr>
              <a:t>01:00 · 可替换为参赛视频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C9FC4A-EAC9-4B14-8165-B4F79311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763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数据不出域 · 异常自动降权 · 知识双向流动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0CADAF-AEEC-4B87-9E57-D491A69D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84910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0F7AFE-8A0C-4CB5-AD0C-02C76681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05 / POWER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BEBD2-7DF0-4B49-9FBE-4116EC72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协调员看全局但摸不到数据，机构看本地并保留执行权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3D227-7F3E-4362-B948-649F41BC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1EE48-C198-4C6C-9FCC-261BFB73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A8CC2-3CC9-4E64-A531-95E9AC27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728CA7-CB6C-4F7B-A8DD-BB9F32DF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联盟协调员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F7431-2844-4903-9FA4-506DC041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全局态势 / 脱敏事件 / 建议隔离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DBA33-158C-4BE9-89FB-F36AFC2E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324100"/>
            <a:ext cx="4972050" cy="2838450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e17ef2cb794f96"/>
          <a:stretch xmlns:a="http://schemas.openxmlformats.org/drawingml/2006/main"/>
        </p:blipFill>
        <p:spPr>
          <a:xfrm xmlns:a="http://schemas.openxmlformats.org/drawingml/2006/main">
            <a:off x="609600" y="2392247"/>
            <a:ext cx="4857750" cy="2702155"/>
          </a:xfrm>
          <a:prstGeom xmlns:a="http://schemas.openxmlformats.org/drawingml/2006/main" prst="roundRect">
            <a:avLst>
              <a:gd name="adj" fmla="val 279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378F91-C541-4E5D-9819-DC363E07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看得到聚合态势，拿不到原始数据与攻击详情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9E8CF-F750-4C28-AE90-0020B7A6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19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机构运营员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D4C7BF-7B5F-488F-8A8C-7753E9BD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812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本地节点 / 隐私预算 / 隔离与恢复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D6CA7A-CDBA-4EDD-B514-2C069FE8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324100"/>
            <a:ext cx="4972050" cy="2838450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af7974da94d44"/>
          <a:stretch xmlns:a="http://schemas.openxmlformats.org/drawingml/2006/main"/>
        </p:blipFill>
        <p:spPr>
          <a:xfrm xmlns:a="http://schemas.openxmlformats.org/drawingml/2006/main">
            <a:off x="6724650" y="2381291"/>
            <a:ext cx="4857750" cy="2724069"/>
          </a:xfrm>
          <a:prstGeom xmlns:a="http://schemas.openxmlformats.org/drawingml/2006/main" prst="roundRect">
            <a:avLst>
              <a:gd name="adj" fmla="val 279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2F57F8-2786-40BE-A610-2D7D7D54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3149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管得住自己，碰不到其他机构；隔离执行权在本地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779A1-7393-468A-9EFA-1CF8C7C4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2533650"/>
            <a:ext cx="800100" cy="2286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47AF91-2497-4CBA-A72F-B17F4CDD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57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建议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≠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执行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3694E4-BEBF-48D4-94E4-51952351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9817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103226-10F3-4304-898E-A50FFC67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172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7 页交互原型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369CA-33E2-468D-B01C-70B884C7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172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21 个 REST 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6626AC-41C8-41E4-8F8D-135F5657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17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控制面 / 数据面分离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D78B64-806C-4EE3-B85F-2BE1EA3E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665259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F2FA12E-1BEA-4B21-AEF9-25AE6798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06 / MARKET FIT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0FB66A-5530-4962-88EB-2416E7BC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现有方案交换的是可滥用信息，FedPKDA 交换不可逆知识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ED7AF-B7A7-4B21-84E2-207C94CD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D8930-C801-40C7-8932-91D4B6CE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2EC599-3291-470A-A814-F89BCD80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36F97-EEDE-4DF4-AFA0-D616326C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静态 IOC 通常仅 24-48h 有效；原始日志又受合规与商业机密限制，协作长期卡在数据孤岛。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89527-1D22-4887-A229-CFD1E2D3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192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FF0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7FDFE-6DDD-4FCC-A9A3-FF4E706B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E75255"/>
                </a:solidFill>
                <a:latin typeface="Noto Sans CJK SC"/>
                <a:ea typeface="Noto Sans CJK SC"/>
                <a:cs typeface="Noto Sans CJK SC"/>
              </a:rPr>
              <a:t>传统 ISAC / MISP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B3010-1BFC-4AB5-A2AF-4EBF8A37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76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523443-0467-4E1C-BB7D-2B3187B3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联邦学习平台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95959-DDB7-4041-8D09-6DF679D0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4C04C-5DAC-464D-9876-E9E8D096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商用 SOC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6D48E-8571-4E13-BB61-FAA5BF97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2190750"/>
            <a:ext cx="2247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AC0A2-1DD6-4355-9AC9-F33A7243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52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FedPKDA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C0F340-6E92-4FF2-87CE-928D7137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共享内容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C2815-817B-4775-8F20-0277EC54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9E8CA8-F0D8-485A-B773-1C968D01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明文/脱敏 IOC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5D9D7D-573A-44A7-8D88-6C224683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D6D822-4474-4C2C-BC10-1271760E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梯度/参数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02D6D9-75C2-4166-A3C0-F8993D66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E0395-F10F-48F5-A7D8-AA1360EF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日志/遥测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62B271-690B-49BF-876F-FBC5CFB4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29718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834E9E-603E-4D56-B236-021AE4C4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146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带噪类原型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F0E036-8A8C-4620-9DA2-2DB35A05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隐私风险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49CB51-91AA-4894-B058-89AAD215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16D926-6A0F-499D-83A7-F2CF56FC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人工脱敏遗漏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91DCB9-0A30-4476-BEEE-2B531162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F28FFF-B4AE-47B7-903B-FF595643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可被梯度还原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D2123-8923-4966-9159-A0D8F05F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D5341D-3118-4B06-82A0-677F36E6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集中托管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D8A440-9BDB-4948-B053-A54D9190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36957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2F8FB1-CE9A-41D1-A7AC-E785DFC2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385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数据不出域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FDB54E-86B0-4C52-96F9-B6C5FEBD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异构适配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67AE4F-1CB2-473D-857F-89384352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F3E54B-9044-4172-B01B-0271E56A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统一格式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D67409-D60A-427F-A1E8-173A6C7D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93D692-9FB8-4835-9B63-B5826845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结构要求一致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DB97D8-2F9D-4833-8E47-723CBD17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D3E275-5F01-4216-8008-DE0CAF54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绑定厂商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0B6272-5A89-4833-B623-4F0861B0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44196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AABAF7-2D7E-4659-8FD1-D167DC42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624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支持异构协作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139CB91-DACB-4ECE-BFA1-161BE371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信任基础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D31FB6-647C-4EB6-9B35-9407A461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973FAF-B8B5-463D-B8C7-14F5414A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协议与身份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B36374-6AC4-49D2-AC12-ED03AA41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62F697-4F67-4598-A726-ECBBAE7E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默认信任服务端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FEF161-0991-4DCB-844C-E49C8E96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F60C94-B10A-450E-9522-EEFE8E3D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供应商信誉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2049A69-0E7B-4536-9ABA-69F96766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72550" y="5143500"/>
            <a:ext cx="2171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9D8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5A6195-F9D9-4AC3-9713-223994A5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86375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算法不可逆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E95F24-F436-41BB-ACBA-F02EEE4F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00750"/>
            <a:ext cx="109728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D15275B-A4FB-4BB5-A552-17C7F23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86475"/>
            <a:ext cx="1059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合规价值：原始网络流量不出机构域，降低分类分级、跨机构流转与出境风险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C8BB8F9-4330-4C26-AF8B-C49C4420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1372514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DABB3F-7A13-4A89-9E02-5C88F499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06 /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9B562-C87B-418F-9A2B-26A8A99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别人被攻击过的知识可以共享，但攻击经历仍留在本地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8E828E-EDCA-45BA-BD99-164BBED8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6A7A4-CC42-40CD-8BFE-227CD0EC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E828D-7B56-4426-8FF3-8F0649DE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DF76EF-B117-4EDC-B6D8-2FFEFA26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619250"/>
            <a:ext cx="535305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5209ec9f54c1e"/>
          <a:srcRect xmlns:a="http://schemas.openxmlformats.org/drawingml/2006/main" l="9036" t="0" r="90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1771650"/>
            <a:ext cx="5048250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4A7466-278A-4530-9F30-464A711D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多行业机构联盟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DB1E4-0E4C-4EA7-AA22-ADEE3C7B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230505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金融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3C14B-7AD9-477D-9612-F519A23F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230505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政务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E03DBE-1A88-4518-813A-EE7E2EBA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285750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9525">
            <a:solidFill>
              <a:srgbClr val="FFF4DD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能源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50032-CE60-48A5-B446-4452CA39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2857500"/>
            <a:ext cx="12382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DDF8E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通信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42A26E-23E2-44B6-8337-CF8A5A7D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3486150"/>
            <a:ext cx="4495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FE6D6-0491-44A2-98B4-739390BC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76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3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“别人被打过的东西，你的模型能学会防御；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但别人不会知道你被打过。”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7998C4-4791-44BC-AFB6-FA06ECA3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530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标准 PyTorch 栈 · 无专用硬件 · 原型通信量低于梯度传输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595F7D-BF17-472A-8253-CC95381C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676900"/>
            <a:ext cx="52578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DDF8EF"/>
          </a:solidFill>
          <a:ln xmlns:a="http://schemas.openxmlformats.org/drawingml/2006/main" w="9525">
            <a:solidFill>
              <a:srgbClr val="BDE7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F567F-2658-4081-9D70-3E03663B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4835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适合：多机构 / 强隐私 / 数据异构 / 节点稀疏参与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C2A466-7191-487F-B62D-D6BBC059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5676900"/>
            <a:ext cx="52578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FB667C-7316-483C-97F5-3529CA61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84835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不适合：单机构即可覆盖全部数据、无需跨域协作的场景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3E9E0A-09BD-477A-852E-00F0505D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16613154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1269AE-1022-40B1-A08C-7E79D265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07 /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89503-AFBF-4297-9D67-AD121F51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FedPKDA 已经形成“论文-实验-系统”的完整证据链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D6BE1-4E87-4746-A4BC-B3BEC8C7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95400"/>
            <a:ext cx="109728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4EE"/>
          </a:solidFill>
          <a:ln xmlns:a="http://schemas.openxmlformats.org/drawingml/2006/main" w="0">
            <a:solidFill>
              <a:srgbClr val="DDE4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ED99-4D39-486E-B098-48A8D777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285875"/>
            <a:ext cx="895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642A2-41E7-4280-8D9C-039CCBDB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5AB6C2-B4D9-4F37-90B8-36BA2229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09750"/>
            <a:ext cx="32004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B97C3-8A18-4562-8D01-BC34A70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09750"/>
            <a:ext cx="32004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A7B90-8D1E-4093-8DD2-D6F9BAC4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学术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7052B-62FB-40BE-AC11-189FE9E9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AAAI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22264-D53E-43FC-9AE3-9F66A687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FedPKDA 论文正式发表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隐私保护知识动态对齐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FD62A2-45EA-44E3-B59C-87376C57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809750"/>
            <a:ext cx="32004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B4156A-12FF-48D7-8187-3EB96AF8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809750"/>
            <a:ext cx="32004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B787"/>
          </a:solidFill>
          <a:ln xmlns:a="http://schemas.openxmlformats.org/drawingml/2006/main" w="0">
            <a:solidFill>
              <a:srgbClr val="24B78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01D15-C73B-43C2-94EF-60BD4AB4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336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4B787"/>
                </a:solidFill>
                <a:latin typeface="Noto Sans CJK SC"/>
                <a:ea typeface="Noto Sans CJK SC"/>
                <a:cs typeface="Noto Sans CJK SC"/>
              </a:rPr>
              <a:t>性能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BC5082-A66E-4F36-9BF7-17E1F2D5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71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3 数据集 · 15 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A8951-244E-4E62-A2FB-13848B6D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异构场景 +6.50~17.42pp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NSL-KDD 稀疏参与稳定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DA6D13-0094-4DA7-A75C-7BA4FCF1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4800" y="1809750"/>
            <a:ext cx="32004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492E0-6BC3-4CEB-8DBF-8958DA9F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4800" y="1809750"/>
            <a:ext cx="32004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B07D19-3848-467B-AB4B-72373FD3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336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69C97C-B52A-4E54-8125-759E3617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71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17213A"/>
                </a:solidFill>
                <a:latin typeface="Noto Sans CJK SC"/>
                <a:ea typeface="Noto Sans CJK SC"/>
                <a:cs typeface="Noto Sans CJK SC"/>
              </a:rPr>
              <a:t>7 页 · 21 接口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6631F0-AD78-46F3-A08E-4A8471B3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双角色分权架构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516078"/>
                </a:solidFill>
                <a:latin typeface="Noto Sans CJK SC"/>
                <a:ea typeface="Noto Sans CJK SC"/>
                <a:cs typeface="Noto Sans CJK SC"/>
              </a:rPr>
              <a:t>控制面与数据面分离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3AC9FE-B80B-4CE9-93EB-C1A24560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0101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B1530"/>
          </a:solidFill>
          <a:ln xmlns:a="http://schemas.openxmlformats.org/drawingml/2006/main" w="9525">
            <a:solidFill>
              <a:srgbClr val="0B153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C0BED-5EB3-4D85-97F5-62D00C0F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数据不出域，知识可共享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7FC532-0A39-4D70-87EA-C6607CCA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5010150"/>
            <a:ext cx="342900" cy="990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2C7D6"/>
          </a:solidFill>
          <a:ln xmlns:a="http://schemas.openxmlformats.org/drawingml/2006/main" w="0">
            <a:solidFill>
              <a:srgbClr val="22C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89F09F-8826-4355-A5B8-2857C0B7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6BFF"/>
                </a:solidFill>
                <a:latin typeface="Noto Sans CJK SC"/>
                <a:ea typeface="Noto Sans CJK SC"/>
                <a:cs typeface="Noto Sans CJK SC"/>
              </a:rPr>
              <a:t>让信任从身份承诺，变成技术事实。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493E7-19E9-40C2-B40C-511F2E1B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 i="0">
                <a:solidFill>
                  <a:srgbClr val="7B879B"/>
                </a:solidFill>
                <a:latin typeface="Noto Sans CJK SC"/>
                <a:ea typeface="Noto Sans CJK SC"/>
                <a:cs typeface="Noto Sans CJK SC"/>
              </a:rPr>
              <a:t>FedPKDA · RoboCup 2026</a:t>
            </a:r>
          </a:p>
        </p:txBody>
      </p:sp>
    </p:spTree>
    <p:extLst>
      <p:ext uri="{BB962C8B-B14F-4D97-AF65-F5344CB8AC3E}">
        <p14:creationId xmlns:p14="http://schemas.microsoft.com/office/powerpoint/2010/main" val="5752376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5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f6d468c6f439d"/>
          <a:srcRect xmlns:a="http://schemas.openxmlformats.org/drawingml/2006/main" l="29904" t="0" r="299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6C423-7251-4BB4-81CC-5CA0C960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0"/>
            <a:ext cx="1524000" cy="6858000"/>
          </a:xfrm>
          <a:prstGeom xmlns:a="http://schemas.openxmlformats.org/drawingml/2006/main" prst="roundRect">
            <a:avLst>
              <a:gd name="adj" fmla="val 7500"/>
            </a:avLst>
          </a:prstGeom>
          <a:gradFill xmlns:a="http://schemas.openxmlformats.org/drawingml/2006/main">
            <a:gsLst>
              <a:gs pos="0">
                <a:srgbClr val="0B1530"/>
              </a:gs>
              <a:gs pos="100000">
                <a:srgbClr val="0B1530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9850C-CDD7-4C69-BB2E-C4CE6BC6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谢谢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9AF3D-7CA5-45F6-ABFD-E6B4E197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 i="0">
                <a:solidFill>
                  <a:srgbClr val="22C7D6"/>
                </a:solidFill>
                <a:latin typeface="Noto Sans CJK SC"/>
                <a:ea typeface="Noto Sans CJK SC"/>
                <a:cs typeface="Noto Sans CJK SC"/>
              </a:rPr>
              <a:t>Q &amp;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47D51-F0C0-4D3D-9E4B-380D6AB2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086100"/>
            <a:ext cx="12001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solidFill>
              <a:srgbClr val="2F6B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85C76-CD8D-4695-8A69-8CE5BFE6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953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让信任从身份承诺，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变成技术事实。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362512-B260-4D55-AC69-658BAC53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rPr>
              <a:t>作品：FedPKDA 联邦入侵检测协作平台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9FB0CF"/>
                </a:solidFill>
                <a:latin typeface="Noto Sans CJK SC"/>
                <a:ea typeface="Noto Sans CJK SC"/>
                <a:cs typeface="Noto Sans CJK SC"/>
              </a:rPr>
              <a:t>队伍：__________    学校：__________</a:t>
            </a:r>
          </a:p>
        </p:txBody>
      </p:sp>
    </p:spTree>
    <p:extLst>
      <p:ext uri="{BB962C8B-B14F-4D97-AF65-F5344CB8AC3E}">
        <p14:creationId xmlns:p14="http://schemas.microsoft.com/office/powerpoint/2010/main" val="15832072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2026-08-07T09:20:56.7250000Z</dcterms:created>
  <dcterms:modified xsi:type="dcterms:W3CDTF">2026-08-07T09:20:56.7250000Z</dcterms:modified>
</coreProperties>
</file>