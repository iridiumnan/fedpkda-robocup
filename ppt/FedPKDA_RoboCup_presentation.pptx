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d5ccd162d14b52" /><Relationship Type="http://schemas.openxmlformats.org/officeDocument/2006/relationships/extended-properties" Target="/docProps/app.xml" Id="R9633e8de95694182" /><Relationship Type="http://schemas.openxmlformats.org/officeDocument/2006/relationships/officeDocument" Target="/ppt/presentation.xml" Id="R494add15e6c649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3eaa8689dc48bb"/>
  </p:sldMasterIdLst>
  <p:notesMasterIdLst>
    <p:notesMasterId xmlns:r="http://schemas.openxmlformats.org/officeDocument/2006/relationships" r:id="R43697f8275054c23"/>
  </p:notesMasterIdLst>
  <p:sldIdLst>
    <p:sldId xmlns:r="http://schemas.openxmlformats.org/officeDocument/2006/relationships" id="256" r:id="R8dd0497f341f40cc"/>
    <p:sldId xmlns:r="http://schemas.openxmlformats.org/officeDocument/2006/relationships" id="257" r:id="Re9fc871e781942ff"/>
    <p:sldId xmlns:r="http://schemas.openxmlformats.org/officeDocument/2006/relationships" id="258" r:id="R9fe9c1211d4f4697"/>
    <p:sldId xmlns:r="http://schemas.openxmlformats.org/officeDocument/2006/relationships" id="259" r:id="R5644864bd1224cb1"/>
    <p:sldId xmlns:r="http://schemas.openxmlformats.org/officeDocument/2006/relationships" id="260" r:id="R785339c52114430f"/>
    <p:sldId xmlns:r="http://schemas.openxmlformats.org/officeDocument/2006/relationships" id="261" r:id="R162f3aa65b0747bd"/>
    <p:sldId xmlns:r="http://schemas.openxmlformats.org/officeDocument/2006/relationships" id="262" r:id="R18ecaa38d0b84e5e"/>
    <p:sldId xmlns:r="http://schemas.openxmlformats.org/officeDocument/2006/relationships" id="263" r:id="Rdb577589c6764968"/>
    <p:sldId xmlns:r="http://schemas.openxmlformats.org/officeDocument/2006/relationships" id="264" r:id="R6cc661862c4b4a72"/>
    <p:sldId xmlns:r="http://schemas.openxmlformats.org/officeDocument/2006/relationships" id="265" r:id="Ra9e0a923b48f42ca"/>
    <p:sldId xmlns:r="http://schemas.openxmlformats.org/officeDocument/2006/relationships" id="266" r:id="Rd14544a0f6c94f22"/>
    <p:sldId xmlns:r="http://schemas.openxmlformats.org/officeDocument/2006/relationships" id="267" r:id="Red932ef8db6d49e1"/>
    <p:sldId xmlns:r="http://schemas.openxmlformats.org/officeDocument/2006/relationships" id="268" r:id="R54f682f439c04336"/>
    <p:sldId xmlns:r="http://schemas.openxmlformats.org/officeDocument/2006/relationships" id="269" r:id="Rc96211713aa94cc9"/>
    <p:sldId xmlns:r="http://schemas.openxmlformats.org/officeDocument/2006/relationships" id="270" r:id="R4635a5afe2b84d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cc5e060d6b4140" /><Relationship Type="http://schemas.openxmlformats.org/officeDocument/2006/relationships/slideMaster" Target="/ppt/slideMasters/slideMaster1.xml" Id="Rdb3eaa8689dc48bb" /><Relationship Type="http://schemas.openxmlformats.org/officeDocument/2006/relationships/notesMaster" Target="/ppt/notesMasters/notesMaster1.xml" Id="R43697f8275054c23" /><Relationship Type="http://schemas.openxmlformats.org/officeDocument/2006/relationships/presProps" Target="/ppt/presProps.xml" Id="Rc5c31a2b650542eb" /><Relationship Type="http://schemas.openxmlformats.org/officeDocument/2006/relationships/tableStyles" Target="/ppt/tableStyles.xml" Id="Re85e61ad2c264c66" /><Relationship Type="http://schemas.openxmlformats.org/officeDocument/2006/relationships/slide" Target="/ppt/slides/slide1.xml" Id="R8dd0497f341f40cc" /><Relationship Type="http://schemas.openxmlformats.org/officeDocument/2006/relationships/slide" Target="/ppt/slides/slide2.xml" Id="Re9fc871e781942ff" /><Relationship Type="http://schemas.openxmlformats.org/officeDocument/2006/relationships/slide" Target="/ppt/slides/slide3.xml" Id="R9fe9c1211d4f4697" /><Relationship Type="http://schemas.openxmlformats.org/officeDocument/2006/relationships/slide" Target="/ppt/slides/slide4.xml" Id="R5644864bd1224cb1" /><Relationship Type="http://schemas.openxmlformats.org/officeDocument/2006/relationships/slide" Target="/ppt/slides/slide5.xml" Id="R785339c52114430f" /><Relationship Type="http://schemas.openxmlformats.org/officeDocument/2006/relationships/slide" Target="/ppt/slides/slide6.xml" Id="R162f3aa65b0747bd" /><Relationship Type="http://schemas.openxmlformats.org/officeDocument/2006/relationships/slide" Target="/ppt/slides/slide7.xml" Id="R18ecaa38d0b84e5e" /><Relationship Type="http://schemas.openxmlformats.org/officeDocument/2006/relationships/slide" Target="/ppt/slides/slide8.xml" Id="Rdb577589c6764968" /><Relationship Type="http://schemas.openxmlformats.org/officeDocument/2006/relationships/slide" Target="/ppt/slides/slide9.xml" Id="R6cc661862c4b4a72" /><Relationship Type="http://schemas.openxmlformats.org/officeDocument/2006/relationships/slide" Target="/ppt/slides/slide10.xml" Id="Ra9e0a923b48f42ca" /><Relationship Type="http://schemas.openxmlformats.org/officeDocument/2006/relationships/slide" Target="/ppt/slides/slide11.xml" Id="Rd14544a0f6c94f22" /><Relationship Type="http://schemas.openxmlformats.org/officeDocument/2006/relationships/slide" Target="/ppt/slides/slide12.xml" Id="Red932ef8db6d49e1" /><Relationship Type="http://schemas.openxmlformats.org/officeDocument/2006/relationships/slide" Target="/ppt/slides/slide13.xml" Id="R54f682f439c04336" /><Relationship Type="http://schemas.openxmlformats.org/officeDocument/2006/relationships/slide" Target="/ppt/slides/slide14.xml" Id="Rc96211713aa94cc9" /><Relationship Type="http://schemas.openxmlformats.org/officeDocument/2006/relationships/slide" Target="/ppt/slides/slide15.xml" Id="R4635a5afe2b84d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9a1b73cb584a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f99a2614894191" /><Relationship Type="http://schemas.openxmlformats.org/officeDocument/2006/relationships/notesMaster" Target="/ppt/notesMasters/notesMaster1.xml" Id="Rba06cddf259a4d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04bc2df6514c0d" /><Relationship Type="http://schemas.openxmlformats.org/officeDocument/2006/relationships/notesMaster" Target="/ppt/notesMasters/notesMaster1.xml" Id="R70651e7ea55342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420e003e21499f" /><Relationship Type="http://schemas.openxmlformats.org/officeDocument/2006/relationships/notesMaster" Target="/ppt/notesMasters/notesMaster1.xml" Id="R34d59970a2b94e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37815464de4006" /><Relationship Type="http://schemas.openxmlformats.org/officeDocument/2006/relationships/notesMaster" Target="/ppt/notesMasters/notesMaster1.xml" Id="Rb6b4bbb0f98948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5eb241b9664a4d" /><Relationship Type="http://schemas.openxmlformats.org/officeDocument/2006/relationships/notesMaster" Target="/ppt/notesMasters/notesMaster1.xml" Id="Rb97359a9c3a84e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342be0aa474c5c" /><Relationship Type="http://schemas.openxmlformats.org/officeDocument/2006/relationships/notesMaster" Target="/ppt/notesMasters/notesMaster1.xml" Id="Re8547aa38f4d4a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eeb72da3e74a50" /><Relationship Type="http://schemas.openxmlformats.org/officeDocument/2006/relationships/notesMaster" Target="/ppt/notesMasters/notesMaster1.xml" Id="R5ae78072db004d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23126b2fcd4d75" /><Relationship Type="http://schemas.openxmlformats.org/officeDocument/2006/relationships/notesMaster" Target="/ppt/notesMasters/notesMaster1.xml" Id="R90023b6fd56447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515eb6d7ba459a" /><Relationship Type="http://schemas.openxmlformats.org/officeDocument/2006/relationships/notesMaster" Target="/ppt/notesMasters/notesMaster1.xml" Id="Rddba176a41e047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a05bc9f9724779" /><Relationship Type="http://schemas.openxmlformats.org/officeDocument/2006/relationships/notesMaster" Target="/ppt/notesMasters/notesMaster1.xml" Id="R9d045661608747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5d0a9ddd4484557" /><Relationship Type="http://schemas.openxmlformats.org/officeDocument/2006/relationships/notesMaster" Target="/ppt/notesMasters/notesMaster1.xml" Id="R80c608453b454ef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53783504d894273" /><Relationship Type="http://schemas.openxmlformats.org/officeDocument/2006/relationships/notesMaster" Target="/ppt/notesMasters/notesMaster1.xml" Id="Re8fa012cb61544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d85944d1e74f7a" /><Relationship Type="http://schemas.openxmlformats.org/officeDocument/2006/relationships/notesMaster" Target="/ppt/notesMasters/notesMaster1.xml" Id="R17f5dc82a03f4e7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8e746019e114074" /><Relationship Type="http://schemas.openxmlformats.org/officeDocument/2006/relationships/notesMaster" Target="/ppt/notesMasters/notesMaster1.xml" Id="R36267278921b4d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2582d7e5104ed1" /><Relationship Type="http://schemas.openxmlformats.org/officeDocument/2006/relationships/notesMaster" Target="/ppt/notesMasters/notesMaster1.xml" Id="Rfc3add4751e64c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 秒。只说作品定位：这是一个有 AAAI 2026 算法支撑、面向多机构网络安全协作的完整系统。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https://github.com/IridiumNan/FedPKDA-robocup/blob/plan/pending/ppt_plan.md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秒。不要展开完整攻击算法，只指着图说明：本地更新进入网络后可能被截获，DLG 可借助梯度恢复训练输入；协调端失陷也会让整个联盟暴露。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https://proceedings.neurips.cc/paper/9617-deep-leakage-from-gradients.pdf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秒。先承认两类成熟路径：ISAC 擅长共享威胁情报，传统联邦学习让原始数据留在本地；再点出各自未解决的缺口，为 FedPKDA 的四个机制铺垫。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https://www.misp-project.org/</a:t>
            </a:r>
          </a:p>
          <a:p xmlns:a="http://schemas.openxmlformats.org/drawingml/2006/main">
            <a:r>
              <a:t>- https://www.fsisac.com/about-us</a:t>
            </a:r>
          </a:p>
          <a:p xmlns:a="http://schemas.openxmlformats.org/drawingml/2006/main">
            <a:r>
              <a:t>- https://proceedings.neurips.cc/paper/9617-deep-leakage-from-gradients.pdf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秒。四个机制按从左到右讲：原型负责不泄露，马氏负责防离群，Fisher 负责计贡献，φ(t) 负责稳迁移。视觉上只让评委记住这四个词。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https://ojs.aaai.org/index.php/AAAI/article/view/40037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秒。上方只看攻击入口：梯度经过网络即可被截获并用于重建。下方看 FedPKDA：客户端把类别特征变成原型，再裁剪、加噪；服务端只聚合带噪原型。PSNR 6.9 来自论文攻击实验，本项目未重复该攻击实验。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https://proceedings.neurips.cc/paper/9617-deep-leakage-from-gradients.pdf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秒。聚类找密集中心，马氏距离考虑协方差，离群越远反距离权重越低；Fisher 再量化模型贡献。隔离是理论机制，本项目尚未完成投毒对抗实验，不要说成实测结果。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秒。φ(t) 严格单调递增：早期保护本地表示，后期吸收全局共识。强调阶段切换自动完成，不展开函数推导。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秒。先讲项目复现的两个大差距，再用论文 12 个 SOTA 基线结果做背书。务必说明每组为单次运行，误差带是客户端间 std。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https://github.com/IridiumNan/FedPKDA-robocup/blob/plan/docs/report/experiment/report.md</a:t>
            </a:r>
          </a:p>
          <a:p xmlns:a="http://schemas.openxmlformats.org/drawingml/2006/main">
            <a:r>
              <a:t>- https://github.com/IridiumNan/FedPKDA-robocup/blob/plan/docs/report/experiment/experiment_explanation.md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秒。主推 jr=0.1：FedAvg 从 94.09 跌到 53.39，而 FedPKDA 维持 99.66。稳定性只用 best→final 和最后 10 轮 std，不使用全曲线 std。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https://github.com/IridiumNan/FedPKDA-robocup/blob/plan/docs/report/experiment/report.md</a:t>
            </a:r>
          </a:p>
          <a:p xmlns:a="http://schemas.openxmlformats.org/drawingml/2006/main">
            <a:r>
              <a:t>- https://github.com/IridiumNan/FedPKDA-robocup/blob/plan/docs/report/experiment/experiment_explanation.md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秒架构 + 1 分钟视频。只讲三点：数据不出域、异常自动降权、知识双向流动。右侧为视频封面，拿到录屏后直接替换为视频对象。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https://github.com/IridiumNan/FedPKDA-robocup/tree/plan/MVP_frontend/light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秒。平台只是把算法能力可视化。协调员只有建议权，隔离执行权在机构侧；这是架构分权，不是前端按钮权限。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https://github.com/IridiumNan/FedPKDA-robocup/tree/plan/docs/api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秒。不给调研过程，只给结论：ISAC 依赖人工脱敏，传统 FL 传梯度，SOC 集中托管；FedPKDA 传不可逆知识。合规表述用‘降低风险’，不要承诺自动满足全部法律义务。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https://www.fsisac.com/about-us</a:t>
            </a:r>
          </a:p>
          <a:p xmlns:a="http://schemas.openxmlformats.org/drawingml/2006/main">
            <a:r>
              <a:t>- https://www.nist.gov/cyberframework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秒。落地对象是金融、政务、能源、通信等联盟。强调标准 PyTorch 技术栈与无专用硬件；如果被问成本，承认计算约为 FedAvg 的 10 倍，以隐私、通信和稳定性换算力。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秒。用三条证据链收束：有论文、有实测、有系统。最后落回‘数据不出域，知识可共享’。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https://github.com/IridiumNan/FedPKDA-robocup/blob/plan/docs/report/experiment/report.md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 秒。停在本页进入问答。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https://ojs.aaai.org/index.php/AAAI/article/view/40037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9c509690744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408666f1de4eef" /><Relationship Type="http://schemas.openxmlformats.org/officeDocument/2006/relationships/slideLayout" Target="/ppt/slideLayouts/slideLayout1.xml" Id="Ra28c368cf38343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8c368cf38343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545680df84e63" /><Relationship Type="http://schemas.openxmlformats.org/officeDocument/2006/relationships/image" Target="/ppt/media/image.png" Id="Ra1ec50856f1847b8" /><Relationship Type="http://schemas.openxmlformats.org/officeDocument/2006/relationships/notesSlide" Target="/ppt/notesSlides/notesSlide1.xml" Id="R94ef81a944c949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2d97a41684e95" /><Relationship Type="http://schemas.openxmlformats.org/officeDocument/2006/relationships/image" Target="/ppt/media/image2.png" Id="Rabb828aad41c445f" /><Relationship Type="http://schemas.openxmlformats.org/officeDocument/2006/relationships/notesSlide" Target="/ppt/notesSlides/notesSlide2.xml" Id="R536303c2eacd4f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7335413744f5b" /><Relationship Type="http://schemas.openxmlformats.org/officeDocument/2006/relationships/notesSlide" Target="/ppt/notesSlides/notesSlide3.xml" Id="R7f641d158c6f47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298bdf277420b" /><Relationship Type="http://schemas.openxmlformats.org/officeDocument/2006/relationships/notesSlide" Target="/ppt/notesSlides/notesSlide4.xml" Id="R6ef4791efd1c49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0564f72704672" /><Relationship Type="http://schemas.openxmlformats.org/officeDocument/2006/relationships/notesSlide" Target="/ppt/notesSlides/notesSlide5.xml" Id="R069d926157464b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f17ff981341b5" /><Relationship Type="http://schemas.openxmlformats.org/officeDocument/2006/relationships/notesSlide" Target="/ppt/notesSlides/notesSlide6.xml" Id="Rf05f74b3484445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90816a12d4aa0" /><Relationship Type="http://schemas.openxmlformats.org/officeDocument/2006/relationships/chart" Target="/ppt/slides/charts/chart1.xml" Id="Rd33f9a1ad59b4505" /><Relationship Type="http://schemas.openxmlformats.org/officeDocument/2006/relationships/notesSlide" Target="/ppt/notesSlides/notesSlide7.xml" Id="R441556014e0746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6205c9582406b" /><Relationship Type="http://schemas.openxmlformats.org/officeDocument/2006/relationships/image" Target="/ppt/media/image3.png" Id="R9a3e6aa0517b4258" /><Relationship Type="http://schemas.openxmlformats.org/officeDocument/2006/relationships/image" Target="/ppt/media/image4.png" Id="R77fce76300ab4558" /><Relationship Type="http://schemas.openxmlformats.org/officeDocument/2006/relationships/notesSlide" Target="/ppt/notesSlides/notesSlide8.xml" Id="Rff17243794f246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36956211940ad" /><Relationship Type="http://schemas.openxmlformats.org/officeDocument/2006/relationships/image" Target="/ppt/media/image5.png" Id="R4aab2dab9a7a4d02" /><Relationship Type="http://schemas.openxmlformats.org/officeDocument/2006/relationships/notesSlide" Target="/ppt/notesSlides/notesSlide9.xml" Id="R72677f56383b45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2b5a7636740f5" /><Relationship Type="http://schemas.openxmlformats.org/officeDocument/2006/relationships/image" Target="/ppt/media/image6.png" Id="R9eb8ca5f374640c6" /><Relationship Type="http://schemas.openxmlformats.org/officeDocument/2006/relationships/notesSlide" Target="/ppt/notesSlides/notesSlide10.xml" Id="R2c68292c10d0485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a81e237ae402a" /><Relationship Type="http://schemas.openxmlformats.org/officeDocument/2006/relationships/image" Target="/ppt/media/image7.png" Id="Rc40c2ce5d25b4f4a" /><Relationship Type="http://schemas.openxmlformats.org/officeDocument/2006/relationships/image" Target="/ppt/media/image8.png" Id="R3451749f19844618" /><Relationship Type="http://schemas.openxmlformats.org/officeDocument/2006/relationships/notesSlide" Target="/ppt/notesSlides/notesSlide11.xml" Id="R2ec3eeccdbe146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f477e88794d03" /><Relationship Type="http://schemas.openxmlformats.org/officeDocument/2006/relationships/notesSlide" Target="/ppt/notesSlides/notesSlide12.xml" Id="R76c543497cf541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acc42cd3444b1" /><Relationship Type="http://schemas.openxmlformats.org/officeDocument/2006/relationships/image" Target="/ppt/media/image9.png" Id="R3d03da3d853c4b40" /><Relationship Type="http://schemas.openxmlformats.org/officeDocument/2006/relationships/notesSlide" Target="/ppt/notesSlides/notesSlide13.xml" Id="R57432faa961c4a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59958b8a24dd4" /><Relationship Type="http://schemas.openxmlformats.org/officeDocument/2006/relationships/notesSlide" Target="/ppt/notesSlides/notesSlide14.xml" Id="R0deee4a2256d43e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e5ca5f3554e0b" /><Relationship Type="http://schemas.openxmlformats.org/officeDocument/2006/relationships/image" Target="/ppt/media/image10.png" Id="R701a0232c8c543b9" /><Relationship Type="http://schemas.openxmlformats.org/officeDocument/2006/relationships/notesSlide" Target="/ppt/notesSlides/notesSlide15.xml" Id="Rd8720b77c04443a5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φ(t)</c:v>
          </c:tx>
          <c:spPr>
            <a:ln xmlns:a="http://schemas.openxmlformats.org/drawingml/2006/main" w="38100">
              <a:solidFill>
                <a:srgbClr val="2F6BFF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1"/>
              <c:pt idx="0">
                <c:v>0</c:v>
              </c:pt>
              <c:pt idx="1">
                <c:v>10</c:v>
              </c:pt>
              <c:pt idx="2">
                <c:v>20</c:v>
              </c:pt>
              <c:pt idx="3">
                <c:v>30</c:v>
              </c:pt>
              <c:pt idx="4">
                <c:v>40</c:v>
              </c:pt>
              <c:pt idx="5">
                <c:v>50</c:v>
              </c:pt>
              <c:pt idx="6">
                <c:v>60</c:v>
              </c:pt>
              <c:pt idx="7">
                <c:v>70</c:v>
              </c:pt>
              <c:pt idx="8">
                <c:v>80</c:v>
              </c:pt>
              <c:pt idx="9">
                <c:v>90</c:v>
              </c:pt>
              <c:pt idx="10">
                <c:v>100</c:v>
              </c:pt>
            </c:numLit>
          </c:cat>
          <c:val>
            <c:numLit>
              <c:formatCode>0.0</c:formatCode>
              <c:ptCount val="11"/>
              <c:pt idx="0">
                <c:v>0.03</c:v>
              </c:pt>
              <c:pt idx="1">
                <c:v>0.05</c:v>
              </c:pt>
              <c:pt idx="2">
                <c:v>0.09</c:v>
              </c:pt>
              <c:pt idx="3">
                <c:v>0.16</c:v>
              </c:pt>
              <c:pt idx="4">
                <c:v>0.29</c:v>
              </c:pt>
              <c:pt idx="5">
                <c:v>0.5</c:v>
              </c:pt>
              <c:pt idx="6">
                <c:v>0.71</c:v>
              </c:pt>
              <c:pt idx="7">
                <c:v>0.84</c:v>
              </c:pt>
              <c:pt idx="8">
                <c:v>0.91</c:v>
              </c:pt>
              <c:pt idx="9">
                <c:v>0.95</c:v>
              </c:pt>
              <c:pt idx="10">
                <c:v>0.97</c:v>
              </c:pt>
            </c:numLit>
          </c:val>
        </c:ser>
        <c:smooth val="1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125">
                    <a:solidFill>
                      <a:srgbClr val="516078"/>
                    </a:solidFill>
                  </a:rPr>
                  <a:t>训练轮次 t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516078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DE4E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7B879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F1F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125">
                    <a:solidFill>
                      <a:srgbClr val="516078"/>
                    </a:solidFill>
                  </a:rPr>
                  <a:t>全局权重 φ(t)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516078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DE4E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7B879B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DE4EE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856DCA-9698-4DA8-88F2-713E36EE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533400"/>
            <a:ext cx="5010150" cy="5772150"/>
          </a:xfrm>
          <a:prstGeom xmlns:a="http://schemas.openxmlformats.org/drawingml/2006/main" prst="roundRect">
            <a:avLst>
              <a:gd name="adj" fmla="val 3042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D5E0FF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c50856f1847b8"/>
          <a:srcRect xmlns:a="http://schemas.openxmlformats.org/drawingml/2006/main" l="26164" t="0" r="2616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762000"/>
            <a:ext cx="4552950" cy="5314950"/>
          </a:xfrm>
          <a:prstGeom xmlns:a="http://schemas.openxmlformats.org/drawingml/2006/main" prst="roundRect">
            <a:avLst>
              <a:gd name="adj" fmla="val 2510"/>
            </a:avLst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AE846-E704-4396-AEEC-77BD9EDF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ROBOCUP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499D7E-9902-473C-B036-B47C22CC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23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03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2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4E176-6C51-4424-A125-D164DDBB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9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9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联邦入侵检测协作平台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68D29-9B62-4482-A23D-2B19A927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219450"/>
            <a:ext cx="9906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AA3C5-8CA6-4CB3-9A21-85412920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数据不出域，知识可共享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D5E271-F9EE-46DB-BC9A-1C019EE3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AAAI 2026 算法成果 × 可运行协作系统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6F1CE-445A-4044-AEEF-933E4647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队伍：__________    成员：__________</a:t>
            </a:r>
          </a:p>
        </p:txBody>
      </p:sp>
    </p:spTree>
    <p:extLst>
      <p:ext uri="{BB962C8B-B14F-4D97-AF65-F5344CB8AC3E}">
        <p14:creationId xmlns:p14="http://schemas.microsoft.com/office/powerpoint/2010/main" val="17122548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5BCD6B-2695-4946-91AD-5FFEB814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01 / WHY 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9366F-3930-463F-97B8-4202BDBF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攻击可以发生在传输链路，泄露的是机构最敏感的数据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C4B5C-EA48-44F7-ACDD-F09D4986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B08CB7-378B-4D1F-A09E-9F073DEB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D6538-AEFE-4F2D-86B8-0C31B848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2C5E7-E767-43FA-93E6-56B21F16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638300"/>
            <a:ext cx="7505700" cy="4248150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b828aad41c445f"/>
          <a:srcRect xmlns:a="http://schemas.openxmlformats.org/drawingml/2006/main" l="0" t="313" r="0" b="3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7391400" cy="4133850"/>
          </a:xfrm>
          <a:prstGeom xmlns:a="http://schemas.openxmlformats.org/drawingml/2006/main" prst="roundRect">
            <a:avLst>
              <a:gd name="adj" fmla="val 2765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231CD-C716-47D2-B941-A26AB008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33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梯度泄露链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99F7B-91F4-4728-81F3-DF08E0A6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209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30"/>
          </a:solidFill>
          <a:ln xmlns:a="http://schemas.openxmlformats.org/drawingml/2006/main" w="0">
            <a:solidFill>
              <a:srgbClr val="0B1530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E3745F-0AC5-4040-98DA-60747870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10600" y="2667000"/>
            <a:ext cx="381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B7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94020F-7BFE-494B-93EC-C5D604F1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098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本地训练产生梯度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EEA09-E838-45D0-A197-B9421FE3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52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更新离开机构边界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540BE9-16A1-4B8B-8127-D8B362CA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3276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30"/>
          </a:solidFill>
          <a:ln xmlns:a="http://schemas.openxmlformats.org/drawingml/2006/main" w="0">
            <a:solidFill>
              <a:srgbClr val="0B1530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005BE-D205-4819-81D5-1B696B9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10600" y="3733800"/>
            <a:ext cx="381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52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75612-936E-468B-AFCA-2EF30FC4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传输中被截获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BA733-2025-4469-A88A-D517E631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195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攻击者只需拿到梯度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193891-3346-4B03-994F-A03152F1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43434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F8B9E-2CD8-4348-AA1A-62900165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434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DLG 反演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76A90F-F531-4B61-9D17-5B04BEDA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6863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恢复样本与标签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22247F-C953-4264-B25E-E3848729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5429250"/>
            <a:ext cx="32766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1BFC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0F1D0B-3E3B-498D-9BAE-432F550B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56260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梯度不是匿名摘要；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协调服务器也不是天然可信。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4F4D0F-4980-4CF8-BA46-3CB3FFDD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0227229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92C316-463D-435F-864D-BFFDE05D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01 / STATUS QUO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0F502-866E-4B37-8B78-9BC1CEAB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成熟方案各自解决一半问题，隐私与异构稳定仍未同时闭环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1150F-C755-4196-B6B0-624ACF6F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C0EB2-DD30-4552-A83A-D01353DA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AAF816-34DC-410D-92D9-430F4038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D0539-3179-4500-8A31-85C9050D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581150"/>
            <a:ext cx="2724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FF4DD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rPr>
              <a:t>方案 A · 威胁情报平台 / ISAC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9BBD8-8F29-49C9-A19B-AFC36E68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13360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43499-7250-4302-8A67-FA5601A5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本地日志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A51B1-2326-48FC-884A-4D48D805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13360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8A2C12-5919-4B3F-AF29-654CFB31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43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人工脱敏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691FF-2EFD-4704-85FF-EFE51A80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213360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060836-44DD-434F-A6A2-D17C4669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43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rPr>
              <a:t>上传 IOC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193D6-A19E-49E1-8DC7-9024AC9A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213360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A7FDB-B49C-455F-8142-D0D0FC7B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43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中心平台</a:t>
            </a:r>
          </a:p>
        </p:txBody>
      </p:sp>
      <p:cxnSp>
        <p:nvCxnSpPr>
          <p:cNvPr id="53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286000" y="24955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59E0B"/>
            </a:solidFill>
            <a:prstDash val="solid"/>
            <a:tailEnd type="triangle" w="sm" len="sm"/>
          </a:ln>
        </p:spPr>
      </p:cxnSp>
      <p:cxnSp>
        <p:nvCxnSpPr>
          <p:cNvPr id="54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400550" y="24955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59E0B"/>
            </a:solidFill>
            <a:prstDash val="solid"/>
            <a:tailEnd type="triangle" w="sm" len="sm"/>
          </a:ln>
        </p:spPr>
      </p:cxnSp>
      <p:cxnSp>
        <p:nvCxnSpPr>
          <p:cNvPr id="55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515100" y="24955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59E0B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809378-5D07-4B27-AF98-297C479A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1943100"/>
            <a:ext cx="25146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7F7"/>
          </a:solidFill>
          <a:ln xmlns:a="http://schemas.openxmlformats.org/drawingml/2006/main" w="9525">
            <a:solidFill>
              <a:srgbClr val="F1C8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5119A5-D945-419C-B9AA-8BA5E4F6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1455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局限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8101C7-A3ED-4435-B6F2-436F74C5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003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人工脱敏可能遗漏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静态 IOC 时效与格式受限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EBD1CA-9F07-4FCB-A23A-A1D6E72B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352800"/>
            <a:ext cx="2247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方案 B · 传统联邦学习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94D13A-5EDA-4E26-9980-A27296C2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90525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708203-282D-4F4C-86E5-0B8DEC5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本地数据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072061-15ED-4D44-9A34-9A113174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90525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C85FCC-1C07-4BF3-BCBA-6F04FF89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1148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本地训练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2DB913-7CE5-43D5-87A7-69CDBDB3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8700" y="390525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E7525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ED9580-81D3-493D-95CF-FCD3C543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148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梯度 / 参数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07D355-FBF3-4B37-A3C6-77E94AEC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905250"/>
            <a:ext cx="16764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08F6AB-2BCA-42D6-A447-5F5F9BA3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148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中心聚合</a:t>
            </a:r>
          </a:p>
        </p:txBody>
      </p:sp>
      <p:cxnSp>
        <p:nvCxnSpPr>
          <p:cNvPr id="68" name=""/>
          <p:cNvCxnSpPr>
            <a:stCxn xmlns:a="http://schemas.openxmlformats.org/drawingml/2006/main" id="22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286000" y="426720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400550" y="426720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6515100" y="426720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450B24-CE63-417D-B34B-9DF67BD5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714750"/>
            <a:ext cx="25146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7F7"/>
          </a:solidFill>
          <a:ln xmlns:a="http://schemas.openxmlformats.org/drawingml/2006/main" w="9525">
            <a:solidFill>
              <a:srgbClr val="F1C8C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D275C1-1AE8-43B8-A014-8CED3E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8862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局限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618786-1018-4417-B882-8A666F54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719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梯度可被还原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中心可信假设；异构易掉点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EBA19A-4C7E-46DB-AE59-CB8EDBAF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257800"/>
            <a:ext cx="109728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814ED5-86BB-46FB-8597-D02B7232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缺口：不可逆知识传输 + 异构稳定 + 协调方最小信任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FDC45A-F1DD-4E76-93A1-544D6378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9435459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A43A70-7CB4-4313-904D-08B5E0F3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02 / CORE IDEA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EAEE8-829B-4317-B8A1-CD7EF914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四个机制首尾相接，才把“信任”真正写进算法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2B380-10CE-4F7D-99D8-D3FADFB6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9E6C2-631E-49A3-B12C-E002D51D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5991C-D071-4231-A3B5-7FEEFD45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B556B-C56E-443F-844A-B97207C7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20A86A-BBC3-4816-9F90-8A9D4779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身份与协议保证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43902F-AB10-491C-9635-4B19EA91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1676400"/>
            <a:ext cx="8763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A648DF-D606-4DA3-93A7-9FC9CB40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192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转为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2D42B-2723-4A2B-9CD5-0E4848CE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811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不可逆传输与自动权重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C1C6A4-D66F-4E09-890C-F5068985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81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“你技术上做不了坏事”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5261F2-0C6C-400D-A1F7-C80CF637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66950"/>
            <a:ext cx="2419350" cy="28765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F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040E1-BE51-41CA-85A9-BA50CDD6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266950"/>
            <a:ext cx="24193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C8329E-73A3-4815-A06E-B904BEFF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829A66-E922-4280-B3D6-726D72CC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196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原型传输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F3266-D6E8-4F50-9673-5B4320BA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600450"/>
            <a:ext cx="1962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F1BF5-8CC0-47DA-9635-A8840FFF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2427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不传梯度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61FDA-8787-4A15-A4F0-364BC071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962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只交换裁剪、加噪后的类别知识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CAFBF2-EFF9-4EF4-B822-7B401ACF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266950"/>
            <a:ext cx="2419350" cy="28765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2C7D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EB1C8-1BB7-49CE-95D0-8E38B495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266950"/>
            <a:ext cx="24193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ECBDBD-E027-4052-BF6F-60CD12BA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527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98C2F8-AAEC-40B0-B80C-31F26605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990850"/>
            <a:ext cx="196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马氏距离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8F4C7-822F-4399-813A-94411950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1400" y="3600450"/>
            <a:ext cx="1962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E5FAF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7E2D7-C617-4B81-BA32-7B764E63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2427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识别离群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2516CF-ADE8-46A5-92CA-B046E01F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343400"/>
            <a:ext cx="1962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几何偏离越大，聚合权重越低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5A443C-925A-4859-A15B-AF099FD4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2266950"/>
            <a:ext cx="2419350" cy="28765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B78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629531-F0FA-4297-9567-8C65CBFB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2266950"/>
            <a:ext cx="24193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79413A-19A3-4359-9B12-C2DEC571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527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7EFAD1-7161-4F6A-BAC9-FB4CF208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90850"/>
            <a:ext cx="196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Fisher 量化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B80CA0-9F5E-479D-BD87-342E21A8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3600450"/>
            <a:ext cx="1962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DDF8E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62B984-2A73-406E-94EC-75B41021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2427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衡量贡献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AB7ED3-E7CF-4B6F-B642-30DB2432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1962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关键知识权重大，搭便车自然降权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B9448F-2540-4447-BD0C-3BEFE0BF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9200" y="2266950"/>
            <a:ext cx="2419350" cy="28765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9663D9-70D9-42E0-822B-B5DD126A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9200" y="2266950"/>
            <a:ext cx="24193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4A7C2E-702C-40C8-B202-D0A29A43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527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4F9E62-3CDD-4B1C-894E-6599CDC4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90850"/>
            <a:ext cx="196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φ(t) 调度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3DBDB3-6A05-423C-8DA0-ED1E418B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600450"/>
            <a:ext cx="1962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FF4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0E9523-2BD4-4504-BB70-AF637982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24275"/>
            <a:ext cx="1733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阶段切换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B17418-AD96-4E76-A238-446AD3C8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43400"/>
            <a:ext cx="1962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训练由偏本地自动转向吸收全局</a:t>
            </a:r>
          </a:p>
        </p:txBody>
      </p:sp>
      <p:cxnSp>
        <p:nvCxnSpPr>
          <p:cNvPr id="89" name=""/>
          <p:cNvCxnSpPr>
            <a:stCxn xmlns:a="http://schemas.openxmlformats.org/drawingml/2006/main" id="12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028950" y="37052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AB7CA"/>
            </a:solidFill>
            <a:prstDash val="solid"/>
            <a:tailEnd type="triangle" w="sm" len="sm"/>
          </a:ln>
        </p:spPr>
      </p:cxnSp>
      <p:cxnSp>
        <p:nvCxnSpPr>
          <p:cNvPr id="90" name=""/>
          <p:cNvCxnSpPr>
            <a:stCxn xmlns:a="http://schemas.openxmlformats.org/drawingml/2006/main" id="19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5772150" y="37052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AB7CA"/>
            </a:solidFill>
            <a:prstDash val="solid"/>
            <a:tailEnd type="triangle" w="sm" len="sm"/>
          </a:ln>
        </p:spPr>
      </p:cxnSp>
      <p:cxnSp>
        <p:nvCxnSpPr>
          <p:cNvPr id="91" name=""/>
          <p:cNvCxnSpPr>
            <a:stCxn xmlns:a="http://schemas.openxmlformats.org/drawingml/2006/main" id="26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515350" y="37052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AB7CA"/>
            </a:solidFill>
            <a:prstDash val="solid"/>
            <a:tailEnd type="triangle" w="sm" len="sm"/>
          </a:ln>
        </p:spPr>
      </p:cxn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329B4A-40A2-4A77-9E71-13601B6A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不泄露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D5B65F9-16AE-4ADB-8057-65BE382D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4673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防离群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6473EC-E3F8-41B4-B401-7CAB7D4D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673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计贡献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450E4B-6C46-4BA0-81BF-0ADE42D6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4673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rPr>
              <a:t>稳迁移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C3326D-5334-4746-BC12-6E387F02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924550"/>
            <a:ext cx="109728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794B1AC-F240-4937-A5E0-BFF6F9B3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四个环节缺一不可：隐私、鲁棒、贡献与动态对齐共同构成技术信任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92265A-D8C2-421E-B68E-09E7D2F1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9668189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BC9F79-7275-42B2-B178-A5D1FE43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03 / BREAKTHROUGH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8C22C-01A5-4F1B-B2C3-24C59BE0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传输带噪类原型，从源头切断梯度还原路径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A158A-D7BF-4382-894C-C8C2C901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600F6-01C2-4DA8-8E9E-061FA33C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A4AB0-4C4F-4A9E-9E0D-B884D661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01DB1-F46B-4731-A7A0-B2C45B87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562100"/>
            <a:ext cx="1962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传统链路 · 梯度攻击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0069B-4F94-41D3-9171-FD9BAD16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81200"/>
            <a:ext cx="109728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9F9"/>
          </a:solidFill>
          <a:ln xmlns:a="http://schemas.openxmlformats.org/drawingml/2006/main" w="9525">
            <a:solidFill>
              <a:srgbClr val="F0CC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0B9E77-F668-4F58-99FD-F985DC8F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2324100"/>
            <a:ext cx="1333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166307-D0AC-49EE-83B3-D0C8B408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本地数据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7DE06C-5D4E-410C-BC32-491DA6FF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2324100"/>
            <a:ext cx="1333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C9A2D-86B5-4EE2-B4D0-E6107548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95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本地训练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2F780E-A845-40C7-B104-CAC23C56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5300" y="2324100"/>
            <a:ext cx="1333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E752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01A921-8B43-4973-A39A-A7DF3CF6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95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上传梯度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F0FB44-AB83-43DB-9C46-CE6F120A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324100"/>
            <a:ext cx="1333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E124E-C9DE-4763-BA4A-930F6C44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95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网络链路</a:t>
            </a:r>
          </a:p>
        </p:txBody>
      </p:sp>
      <p:cxnSp>
        <p:nvCxnSpPr>
          <p:cNvPr id="66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171700" y="26098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5255"/>
            </a:solidFill>
            <a:prstDash val="solid"/>
            <a:tailEnd type="triangle" w="sm" len="sm"/>
          </a:ln>
        </p:spPr>
      </p:cxnSp>
      <p:cxnSp>
        <p:nvCxnSpPr>
          <p:cNvPr id="67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905250" y="26098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5255"/>
            </a:solidFill>
            <a:prstDash val="solid"/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638800" y="26098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5255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AA58E5-95AE-4D4A-82EB-20E560EF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10550" y="2152650"/>
            <a:ext cx="2209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57D7EC-85B1-4D25-8D88-8BC63C2E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7647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服务端接收梯度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D3B00D-3AA0-46BC-AC12-A233E77C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10550" y="2876550"/>
            <a:ext cx="2209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4B4EF3-8C11-472F-8CE1-99DAAF4E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00375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攻击者截获 → DLG 重建</a:t>
            </a:r>
          </a:p>
        </p:txBody>
      </p:sp>
      <p:cxnSp>
        <p:nvCxnSpPr>
          <p:cNvPr id="73" name=""/>
          <p:cNvCxnSpPr>
            <a:stCxn xmlns:a="http://schemas.openxmlformats.org/drawingml/2006/main" id="14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7372350" y="2409825"/>
            <a:ext cx="838200" cy="200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5255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14" idx="2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6705600" y="2895600"/>
            <a:ext cx="1504950" cy="238125"/>
          </a:xfrm>
          <a:prstGeom xmlns:a="http://schemas.openxmlformats.org/drawingml/2006/main" prst="bentConnector3">
            <a:avLst>
              <a:gd name="adj1" fmla="val 0"/>
            </a:avLst>
          </a:prstGeom>
          <a:ln xmlns:a="http://schemas.openxmlformats.org/drawingml/2006/main" w="19050">
            <a:solidFill>
              <a:srgbClr val="E75255"/>
            </a:solidFill>
            <a:prstDash val="dash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533449-E3E4-46E9-87B7-56914B86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752850"/>
            <a:ext cx="2019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FedPKDA · 原型保护链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BB8854-DF82-4166-9629-B69415AD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133850"/>
            <a:ext cx="109728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CBD9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BF2F05-1C4A-44F3-9201-78EF8F8D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4610100"/>
            <a:ext cx="12573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1F7486-3FA3-437D-86FD-E056FE3C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91075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本地数据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569728-DB57-4716-8C6B-4654A5C1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4610100"/>
            <a:ext cx="12573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340C3A-EE2A-4862-B4AB-31B26983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91075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特征提取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9E6375-D13E-4F57-BA0F-4216EFB7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4610100"/>
            <a:ext cx="12573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24B78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A74AE1-FBC5-421B-89A7-A391545C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791075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类别原型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7FB9B6-FA06-4CCA-B5F8-86DD1E92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4610100"/>
            <a:ext cx="12573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22C7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E387E9-7FCF-47B5-AAC0-C1123C6D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91075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裁剪 + 加噪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6A9564-BBC2-43CE-8747-BBF2D8A2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4610100"/>
            <a:ext cx="12573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9A5B4E-5639-48E8-8625-F2BB807D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791075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带噪原型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719F39-63D5-434A-BDF0-C83F9E74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4610100"/>
            <a:ext cx="12573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2C51AC-EE7D-4E7D-8AA6-26C03CF1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67250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K-Means +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马氏加权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3D9080-46BA-4FF9-8E15-A7662476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4610100"/>
            <a:ext cx="12573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24B78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6E00C9-79D5-45BB-9035-CC274EBF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791075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全局原型</a:t>
            </a:r>
          </a:p>
        </p:txBody>
      </p:sp>
      <p:cxnSp>
        <p:nvCxnSpPr>
          <p:cNvPr id="91" name=""/>
          <p:cNvCxnSpPr>
            <a:stCxn xmlns:a="http://schemas.openxmlformats.org/drawingml/2006/main" id="27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2038350" y="4933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29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3581400" y="4933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31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5124450" y="4933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33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6667500" y="4933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95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8210550" y="4933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96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9753600" y="4933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D27DAA-705A-485D-BF52-ED4E555B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客户端：原始数据从不离开机构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1CA732-E38B-4222-9C37-3AF0F67E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86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服务端：只接触带噪类原型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68E293-2363-4BC2-BBD8-860DAE50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论文攻击实验：重建结果接近随机噪声，PSNR ≈ 6.9 dB（非本项目复测）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9D3464-F875-41DF-B988-A9D9AF34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8360455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BC38D1-279C-40F5-AEC4-9009DD1F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03 / BREAKTHROUGH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B11DA-468C-4033-AE83-6F6AAEF7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几何偏离决定权重，异常与搭便车自然降权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F18DE-C894-4F7B-84D8-DE2646B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84A98-79CD-4AB7-81A7-41B929A9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A89D9-0245-414B-814B-A9ED1E67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E79CD-D3C0-486F-9A76-CF1DA074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马氏距离自动隔离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FBE6AA-5C78-48E3-BFC9-3B58674B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密度高者权重高，而不是简单“少数服从多数”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EF8099-B9BC-4BDF-B4DE-AE6166CC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33650"/>
            <a:ext cx="594360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C03A5-7C79-4029-8F04-5149F043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32194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D055E8-6AEA-4FEE-96FD-CEF58493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35814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00C866-B784-4F9E-84DE-9AB4307B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4248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84A15D-7719-4D38-A1D2-9BF2779D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33337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3DCE5B-8E17-424C-B625-744C12EC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90900" y="36766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A92A6F-B3B0-4524-B3F5-54C2B222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4457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23A148-983D-47A4-A990-6DCD3FFA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0000" y="41719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8F628F-A1C0-420E-B816-1119F5DA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66A3A5-FA60-4E0E-B389-918ADCCE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476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95A8C7-27C6-4683-AD47-0BE714DE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3943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30"/>
          </a:solidFill>
          <a:ln xmlns:a="http://schemas.openxmlformats.org/drawingml/2006/main" w="0">
            <a:solidFill>
              <a:srgbClr val="0B1530"/>
            </a:solidFill>
            <a:prstDash val="solid"/>
          </a:ln>
        </p:spPr>
        <p:txBody>
          <a:bodyPr xmlns:a="http://schemas.openxmlformats.org/drawingml/2006/main" anchor="ctr">
            <a:normAutofit fontScale="79607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μ</a:t>
            </a:r>
          </a:p>
        </p:txBody>
      </p:sp>
      <p:cxnSp>
        <p:nvCxnSpPr>
          <p:cNvPr id="68" name=""/>
          <p:cNvCxnSpPr>
            <a:stCxn xmlns:a="http://schemas.openxmlformats.org/drawingml/2006/main" id="9" idx="5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323143" y="3447093"/>
            <a:ext cx="884273" cy="56042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69" name=""/>
          <p:cNvCxnSpPr>
            <a:stCxn xmlns:a="http://schemas.openxmlformats.org/drawingml/2006/main" id="10" idx="5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723193" y="3809043"/>
            <a:ext cx="484223" cy="19847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0" name=""/>
          <p:cNvCxnSpPr>
            <a:stCxn xmlns:a="http://schemas.openxmlformats.org/drawingml/2006/main" id="11" idx="6"/>
            <a:endCxn xmlns:a="http://schemas.openxmlformats.org/drawingml/2006/main" id="18" idx="2"/>
          </p:cNvCxnSpPr>
          <p:nvPr/>
        </p:nvCxnSpPr>
        <p:spPr>
          <a:xfrm xmlns:a="http://schemas.openxmlformats.org/drawingml/2006/main" flipV="1">
            <a:off x="2514600" y="4162425"/>
            <a:ext cx="62865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1" name=""/>
          <p:cNvCxnSpPr>
            <a:stCxn xmlns:a="http://schemas.openxmlformats.org/drawingml/2006/main" id="12" idx="5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3218493" y="3561393"/>
            <a:ext cx="143832" cy="38195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2" name=""/>
          <p:cNvCxnSpPr>
            <a:stCxn xmlns:a="http://schemas.openxmlformats.org/drawingml/2006/main" id="13" idx="4"/>
            <a:endCxn xmlns:a="http://schemas.openxmlformats.org/drawingml/2006/main" id="18" idx="7"/>
          </p:cNvCxnSpPr>
          <p:nvPr/>
        </p:nvCxnSpPr>
        <p:spPr>
          <a:xfrm xmlns:a="http://schemas.openxmlformats.org/drawingml/2006/main" flipH="1">
            <a:off x="3517234" y="3943350"/>
            <a:ext cx="7016" cy="6416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3" name=""/>
          <p:cNvCxnSpPr>
            <a:stCxn xmlns:a="http://schemas.openxmlformats.org/drawingml/2006/main" id="14" idx="7"/>
            <a:endCxn xmlns:a="http://schemas.openxmlformats.org/drawingml/2006/main" id="18" idx="3"/>
          </p:cNvCxnSpPr>
          <p:nvPr/>
        </p:nvCxnSpPr>
        <p:spPr>
          <a:xfrm xmlns:a="http://schemas.openxmlformats.org/drawingml/2006/main" flipV="1">
            <a:off x="3085143" y="4317334"/>
            <a:ext cx="122273" cy="17942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4" name=""/>
          <p:cNvCxnSpPr>
            <a:stCxn xmlns:a="http://schemas.openxmlformats.org/drawingml/2006/main" id="15" idx="2"/>
            <a:endCxn xmlns:a="http://schemas.openxmlformats.org/drawingml/2006/main" id="18" idx="6"/>
          </p:cNvCxnSpPr>
          <p:nvPr/>
        </p:nvCxnSpPr>
        <p:spPr>
          <a:xfrm xmlns:a="http://schemas.openxmlformats.org/drawingml/2006/main" flipH="1" flipV="1">
            <a:off x="3581400" y="4162425"/>
            <a:ext cx="2286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5" name=""/>
          <p:cNvCxnSpPr>
            <a:stCxn xmlns:a="http://schemas.openxmlformats.org/drawingml/2006/main" id="16" idx="3"/>
            <a:endCxn xmlns:a="http://schemas.openxmlformats.org/drawingml/2006/main" id="18" idx="7"/>
          </p:cNvCxnSpPr>
          <p:nvPr/>
        </p:nvCxnSpPr>
        <p:spPr>
          <a:xfrm xmlns:a="http://schemas.openxmlformats.org/drawingml/2006/main" flipH="1">
            <a:off x="3517234" y="3713793"/>
            <a:ext cx="693773" cy="29372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6" name=""/>
          <p:cNvCxnSpPr>
            <a:stCxn xmlns:a="http://schemas.openxmlformats.org/drawingml/2006/main" id="17" idx="1"/>
            <a:endCxn xmlns:a="http://schemas.openxmlformats.org/drawingml/2006/main" id="18" idx="6"/>
          </p:cNvCxnSpPr>
          <p:nvPr/>
        </p:nvCxnSpPr>
        <p:spPr>
          <a:xfrm xmlns:a="http://schemas.openxmlformats.org/drawingml/2006/main" flipH="1" flipV="1">
            <a:off x="3581400" y="4162425"/>
            <a:ext cx="980877" cy="361752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F4B4B5"/>
            </a:solidFill>
            <a:prstDash val="dash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AE4C3C-8D61-4B01-974A-DA8DD9BB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离群越远 → 马氏距离越大 → 反距离权重越接近 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C3A6E5-3592-422D-AC78-D09C650E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57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机制链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02DFC6-B1B6-4096-84E8-4B3CB1D2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72300" y="211455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620D6C-CCBA-4C2D-A2B6-457FEAE5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22383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9154C2-9D10-4F65-BA49-CF67366E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K-Means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求中心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8D6176-B7CD-4FD6-9665-33E66C2C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0200" y="211455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DFD04E-7E98-426D-A87B-1A672BB1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22383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19AC97-58E8-41AD-9843-8D11ACE5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23837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马氏距离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量偏离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6CDCB9-6AC2-4E68-959D-F3CAD447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72300" y="331470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DD9A07-D8CE-4349-A2BA-9EE62D38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34385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F1EB91-0D90-49AD-A7BD-A6428527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3852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反距离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生成权重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BB325B-76E9-419D-AB30-857903F7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0200" y="331470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11430">
            <a:solidFill>
              <a:srgbClr val="E7525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6CA3D0-D4FB-473C-9214-CE769C99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34385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9B777F-5FDF-490B-A8B6-95FA26FC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43852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离群节点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近零贡献</a:t>
            </a:r>
          </a:p>
        </p:txBody>
      </p:sp>
      <p:cxnSp>
        <p:nvCxnSpPr>
          <p:cNvPr id="91" name=""/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972550" y="255270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33" idx="2"/>
            <a:endCxn xmlns:a="http://schemas.openxmlformats.org/drawingml/2006/main" id="36" idx="0"/>
          </p:cNvCxnSpPr>
          <p:nvPr/>
        </p:nvCxnSpPr>
        <p:spPr>
          <a:xfrm xmlns:a="http://schemas.openxmlformats.org/drawingml/2006/main" flipH="1">
            <a:off x="7972425" y="2990850"/>
            <a:ext cx="2247900" cy="323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36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8972550" y="37528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1638F3-0C81-4967-BC09-FF8E3E82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72300" y="4629150"/>
            <a:ext cx="42672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2D59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9BEF9D-E0EC-43FB-872A-2CD808DB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00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Fisher 信息量化贡献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F2B8A8-CEDB-44A6-BF30-C511E1C5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435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关键知识权重大；搭便车节点自动降权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510FD6-04A3-4DF8-BE6B-DDE35E30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523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1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1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机制性质：本页不声称已完成投毒对抗实测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40F6A5-642D-4A46-BC9A-089D414A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3742891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90EA4F-D1C6-4626-A09E-1E3F77EB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03 / BREAKTHROUGH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54488-680D-44B0-9D7D-D06AA848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φ(t) 自动完成“先学本地、再吸收全局”的阶段切换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96E66-842A-49C2-B995-206D9A06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C971F-3F93-46E9-A959-E9AFE837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063FC-C0B3-422C-9442-EA5FA174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8A2DA-A3C7-4A9C-B786-9C3EC386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76400"/>
            <a:ext cx="66675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895350" y="2047875"/>
          <a:ext xmlns:a="http://schemas.openxmlformats.org/drawingml/2006/main" cx="6096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3f9a1ad59b450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94FEB-DDE4-47E8-A6A0-44B5D005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50482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FF4DD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rPr>
              <a:t>早期：偏本地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A66934-131C-4741-B47A-376E213B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50482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E5FAFC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rPr>
              <a:t>后期：偏全局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70F32-D220-4574-9097-2AC22BF0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9070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双对齐权重如何变化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F91FA-ADE9-4C78-8599-06647DF9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286000"/>
            <a:ext cx="3924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EFD59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AA924-C750-4602-AE0E-95FEE93D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rPr>
              <a:t>本地对齐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86EDA-DCFA-4CA7-9DAC-F5DDCA44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765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保留本机构个性化威胁特征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E6B00D-FBB7-4903-AE68-87A09DAF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63150" y="2590800"/>
            <a:ext cx="1390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C477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9A5B00"/>
                </a:solidFill>
                <a:latin typeface="Noto Sans CJK SC"/>
                <a:ea typeface="Noto Sans CJK SC"/>
                <a:cs typeface="Noto Sans CJK SC"/>
              </a:rPr>
              <a:t>权重 1 − φ(t)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D0BA67-A719-4F26-9EFD-F080D4E8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3524250"/>
            <a:ext cx="3924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BDEC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194F3-BBE9-4F80-A335-F28CE393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rPr>
              <a:t>全局对齐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C64C5-B113-4733-A777-5DEB8D02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1480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吸收联盟跨机构共识知识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50E6F-CC3E-4A4B-9D3D-9E8707B6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3829050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3DDE5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rPr>
              <a:t>权重 φ(t)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D7E660-6212-46F9-B901-37D48044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4876800"/>
            <a:ext cx="3924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A02CD-B624-4A0C-AD0A-91F39F54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029200"/>
            <a:ext cx="3467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随训练轮次自动切换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9BA7C-23AC-4A3C-9D81-9A169F50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43525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B8C7E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B8C7E1"/>
                </a:solidFill>
                <a:latin typeface="Noto Sans CJK SC"/>
                <a:ea typeface="Noto Sans CJK SC"/>
                <a:cs typeface="Noto Sans CJK SC"/>
              </a:rPr>
              <a:t>早期偏本地  →  后期偏全局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4651A-D4B4-4E3D-9602-849CC5B8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9120070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E07F01-E67D-49AD-9456-9819DD63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04 / EVIDENCE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3FC0B-A374-4C68-8ED5-72285913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异构数据上，FedPKDA 的提升不是边际改进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A04DD-5140-40E5-87BC-D65436D7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69E10-8A2B-4226-A3FE-11E1CB0D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5EA7E-1B87-4BAB-A009-3973D1E3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980B7-1D4F-4EC9-A4B6-F027B380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0" y="323850"/>
            <a:ext cx="4286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论文背书：CIFAR-100 44.91%，领先 FedAS 4.23pp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C3BBA-ED6B-4156-8E53-9DC401A1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638300"/>
            <a:ext cx="5353050" cy="3314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e6aa0517b4258"/>
          <a:stretch xmlns:a="http://schemas.openxmlformats.org/drawingml/2006/main"/>
        </p:blipFill>
        <p:spPr>
          <a:xfrm xmlns:a="http://schemas.openxmlformats.org/drawingml/2006/main">
            <a:off x="610466" y="1695450"/>
            <a:ext cx="5237018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4730DB-5100-40C8-AC95-BCFDD1E1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1638300"/>
            <a:ext cx="5353050" cy="3314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ce76300ab4558"/>
          <a:stretch xmlns:a="http://schemas.openxmlformats.org/drawingml/2006/main"/>
        </p:blipFill>
        <p:spPr>
          <a:xfrm xmlns:a="http://schemas.openxmlformats.org/drawingml/2006/main">
            <a:off x="6344516" y="1695450"/>
            <a:ext cx="5237018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CBC379-78BF-4B0F-AD49-01BCE267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CIFAR-100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BC5748-018B-412E-9683-A725D758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45.29%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87A88-1FC8-4DBB-897E-71D730EA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524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vs FedAvg 27.87%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C8E2D-DDAF-4BC2-B104-E4DB89E5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5429250"/>
            <a:ext cx="11430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+17.42pp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09B75-5F96-461F-8F51-CF0DF3B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5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Flowers102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12F2E-A4B2-4845-BD83-1E81C4CA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4102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36.65%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A3FF5-4441-43B4-9FEF-15AF2244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24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vs FedAvg 30.15%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4DB2AC-5039-443C-89C9-86E5C30B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5429250"/>
            <a:ext cx="11049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+6.50pp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975A0D-B111-4286-B435-D40C1571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项目实测：3 数据集、15 组实验、每组 run=0；误差带为客户端间测试精度 std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E8028B-80DD-4A23-A921-70ECC1F8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6978144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BC7153-3127-4D9A-84DF-A84F1421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04 / EVIDENCE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35A81-5114-4AE9-8814-91D8B7FC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安全联盟真正需要的不是峰值，而是稀疏参与下不崩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92609-F381-4224-B2E4-B37EC5FE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C20D0-1D80-4DBD-B4EC-A734F1DF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8E84E-DFDB-419B-B1A8-B3EFF768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03756-41E7-44C2-BF3D-0AA2E3D8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619250"/>
            <a:ext cx="7448550" cy="4591050"/>
          </a:xfrm>
          <a:prstGeom xmlns:a="http://schemas.openxmlformats.org/drawingml/2006/main" prst="roundRect">
            <a:avLst>
              <a:gd name="adj" fmla="val 24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b2dab9a7a4d02"/>
          <a:stretch xmlns:a="http://schemas.openxmlformats.org/drawingml/2006/main"/>
        </p:blipFill>
        <p:spPr>
          <a:xfrm xmlns:a="http://schemas.openxmlformats.org/drawingml/2006/main">
            <a:off x="613930" y="1676400"/>
            <a:ext cx="7325591" cy="4476750"/>
          </a:xfrm>
          <a:prstGeom xmlns:a="http://schemas.openxmlformats.org/drawingml/2006/main" prst="roundRect">
            <a:avLst>
              <a:gd name="adj" fmla="val 1702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A8094-AFAD-4AC0-86AD-9F83A25F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1676400"/>
            <a:ext cx="32575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F15D9-49F3-4BFF-8956-2B0700BA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85950"/>
            <a:ext cx="2190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395F"/>
          </a:solidFill>
          <a:ln xmlns:a="http://schemas.openxmlformats.org/drawingml/2006/main" w="9525">
            <a:solidFill>
              <a:srgbClr val="26395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极端稀疏参与 jr=0.1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5A1B6-818C-45C1-92B4-46559AFB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622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rPr>
              <a:t>FedAvg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26E60-959F-48BD-ABF2-CA54D5CA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47950"/>
            <a:ext cx="262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94.09 → 53.39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B57BDB-7923-4A11-B05E-533EFC6C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rPr>
              <a:t>-40.7pp 崩塌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8C135-473C-482C-86CF-41E0C36D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3638550"/>
            <a:ext cx="32575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BDE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E277A-8227-49F3-A983-EF1091C9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ADBEE-8D77-40D0-B417-DA04A263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481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99.67 → 99.66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789A14-F8CD-407F-8810-7571DF70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±0.01pp，稳定收敛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5237A-786A-4155-95FA-3F3E0047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5638800"/>
            <a:ext cx="325755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CFEACF-CAF1-4E20-A02B-0282093B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8293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最后 10 轮 std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54F4AC-A888-4C57-8EA4-BC024E09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10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FedAvg 1.2-15.7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C1014-E1DC-4799-B3C7-634D8128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096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FedPKDA 0.00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C4BA21-12DF-4785-855D-A5931DF3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95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项目实测 · run=0 · 稳定性用 best→final 与收敛后波动表述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4871BB-0D87-4DCA-BC23-A03CDCEA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1762365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15F238-CEA9-4078-9C80-0233EE16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05 / SYSTEM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EB0EB4-C635-433C-BB9E-CA5876D5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八步闭环把隐私、隔离与知识回流接成一个系统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067CA-4537-456E-AF7E-A8833A1E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E10E6-C738-45AA-A429-05C48A9B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4365F9-04F5-40B2-9E48-8E856301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393C1C-6FB4-43DD-BD5D-B878BC1E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543050"/>
            <a:ext cx="10096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DDF8E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客户端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0E21B-BD0A-481F-AAE0-99DC1A04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905250"/>
            <a:ext cx="10096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服务端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C361C0-B93A-44C7-AFE9-988154A4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726CA-7AEC-4137-AC83-CF65856C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80292A-2866-4098-8CFE-BBC9960C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本地训练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1971C-715A-4572-A7C3-8B34002E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060168-F2B3-43C8-B5FF-1B915BB9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3DEFFB-C6DB-4A66-AF57-780D2726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提取类原型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D832D-7EAC-44BB-AE70-5E25AFA0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9350E-647E-402F-A931-3103486A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B92899-2363-4CD7-8AE4-F7C65661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裁剪 + 加噪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B87CC4-35DF-4DB3-83EB-5342669E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2E789B-5796-46D4-81DD-327E0DE0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E3DDF5-5C27-4C38-A635-B21E5416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上传带噪原型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D549A4-B156-45E8-BE4E-13A39C84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E2987E-0C75-49FF-9337-74AD8642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BD4BBD-2471-4AA9-93D1-02CD669E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K-Means + 马氏聚合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0A5FD-ED0E-41F2-B1C5-F38384A1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550636-2D1A-4061-8FDE-C61109D8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74C8A9-F395-4CCA-A39C-40751DA8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广播全局原型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7864BB-3927-4F28-B02A-083A4972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CDD90D-97D0-4053-9435-107E154E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403528-FB1A-40BE-8752-97C0B278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双对齐训练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EAE1B8-C028-458D-B2AF-BF3F5795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17FEE9-EBF8-49AA-8EC3-014A9869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21FE0E-F07A-431E-A034-E629395C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Fisher 聚合 / 下一轮</a:t>
            </a:r>
          </a:p>
        </p:txBody>
      </p:sp>
      <p:cxnSp>
        <p:nvCxnSpPr>
          <p:cNvPr id="80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81250" y="2381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343400" y="2381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305550" y="2381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83" name=""/>
          <p:cNvCxnSpPr>
            <a:stCxn xmlns:a="http://schemas.openxmlformats.org/drawingml/2006/main" id="17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381875" y="2743200"/>
            <a:ext cx="981075" cy="1562100"/>
          </a:xfrm>
          <a:prstGeom xmlns:a="http://schemas.openxmlformats.org/drawingml/2006/main" prst="bentConnector4">
            <a:avLst/>
          </a:prstGeom>
          <a:ln xmlns:a="http://schemas.openxmlformats.org/drawingml/2006/main" w="20955">
            <a:solidFill>
              <a:srgbClr val="22C7D6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20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6305550" y="4667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23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4343400" y="4667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26" idx="1"/>
            <a:endCxn xmlns:a="http://schemas.openxmlformats.org/drawingml/2006/main" id="29" idx="3"/>
          </p:cNvCxnSpPr>
          <p:nvPr/>
        </p:nvCxnSpPr>
        <p:spPr>
          <a:xfrm xmlns:a="http://schemas.openxmlformats.org/drawingml/2006/main" flipH="1">
            <a:off x="2381250" y="4667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29" idx="0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1495425" y="2743200"/>
            <a:ext cx="0" cy="1562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C7D6"/>
            </a:solidFill>
            <a:prstDash val="dash"/>
            <a:tailEnd type="triangle" w="sm" len="sm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6656AA-5E97-4FD8-B6BE-3094F958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623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④ 马氏距离 &gt; 3σ → 生成脱敏告警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E495C9-7128-439B-8629-CEA4EEE5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10600" y="1543050"/>
            <a:ext cx="2971800" cy="400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8ca5f374640c6"/>
          <a:srcRect xmlns:a="http://schemas.openxmlformats.org/drawingml/2006/main" l="20048" t="0" r="2004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0" y="1714500"/>
            <a:ext cx="2667000" cy="247650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AE763D-556E-4D66-B7EC-62BF7892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2495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B72C17-795B-4327-B802-B352882B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886950" y="2619375"/>
            <a:ext cx="228600" cy="2857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23267A9-B32C-4301-887E-63E0FB83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38650"/>
            <a:ext cx="2438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平台交互演示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75185BA-93E8-4C4D-8FA3-A909900D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76800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B8C7E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B8C7E1"/>
                </a:solidFill>
                <a:latin typeface="Noto Sans CJK SC"/>
                <a:ea typeface="Noto Sans CJK SC"/>
                <a:cs typeface="Noto Sans CJK SC"/>
              </a:rPr>
              <a:t>01:00 · 可替换为参赛视频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050F70-8C62-4274-93E1-20D2B421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763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数据不出域 · 异常自动降权 · 知识双向流动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4012A39-805F-4A96-B3EC-BAC5FDB0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8713711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6D336C-257C-40AF-942E-37B173CB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05 / POWER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2E55F3-8DD4-49CA-AA60-6D6EA98D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协调员看全局但摸不到数据，机构看本地并保留执行权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DAF78-A4D8-4D79-AE82-AD5FFCB3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92F69-36E3-4027-8319-DF7E52A9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1F259-9707-4A23-AF4A-607C1FAA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41E4CE-1AB0-4885-831A-B3A72BF7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联盟协调员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63E12D-1D32-4109-872A-11C433A9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全局态势 / 脱敏事件 / 建议隔离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E1777-BEE3-487F-842E-54D7AD9D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324100"/>
            <a:ext cx="4972050" cy="2838450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0c2ce5d25b4f4a"/>
          <a:stretch xmlns:a="http://schemas.openxmlformats.org/drawingml/2006/main"/>
        </p:blipFill>
        <p:spPr>
          <a:xfrm xmlns:a="http://schemas.openxmlformats.org/drawingml/2006/main">
            <a:off x="609600" y="2392247"/>
            <a:ext cx="4857750" cy="2702155"/>
          </a:xfrm>
          <a:prstGeom xmlns:a="http://schemas.openxmlformats.org/drawingml/2006/main" prst="roundRect">
            <a:avLst>
              <a:gd name="adj" fmla="val 279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B80237-C635-4009-A6F0-29E773CD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看得到聚合态势，拿不到原始数据与攻击详情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BB3DB4-6305-470F-93B3-94F8FC4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19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机构运营员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BFC5E-6FF8-4B55-A862-95474A5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812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本地节点 / 隐私预算 / 隔离与恢复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ECA8BF-C17D-4CA4-90D3-6D2A1A77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324100"/>
            <a:ext cx="4972050" cy="2838450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1749f19844618"/>
          <a:stretch xmlns:a="http://schemas.openxmlformats.org/drawingml/2006/main"/>
        </p:blipFill>
        <p:spPr>
          <a:xfrm xmlns:a="http://schemas.openxmlformats.org/drawingml/2006/main">
            <a:off x="6724650" y="2381291"/>
            <a:ext cx="4857750" cy="2724069"/>
          </a:xfrm>
          <a:prstGeom xmlns:a="http://schemas.openxmlformats.org/drawingml/2006/main" prst="roundRect">
            <a:avLst>
              <a:gd name="adj" fmla="val 279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C7097-9BB8-4C2E-B081-0B2BE0EE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3149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管得住自己，碰不到其他机构；隔离执行权在本地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7E4955-7F7F-46FB-81A0-15BDD360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2533650"/>
            <a:ext cx="800100" cy="2286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9A2752-F029-4DBE-A786-7D8AC9D8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57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建议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≠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执行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2201A6-03EF-4246-A172-6D8CFE66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9817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37C403-CF45-41A8-951A-56C4F915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172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7 页交互原型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8F1C6F-AB1F-41E5-BE95-F32EF329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172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21 个 REST 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8C4DAF-1723-419C-80CC-60472987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17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控制面 / 数据面分离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727800-64F3-4062-B36E-71A6FEFE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7736693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D7E2EA-B146-4CC6-B8A7-86C333A1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06 / MARKET FIT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42075-829A-483C-BC6C-558358F1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现有方案交换的是可滥用信息，FedPKDA 交换不可逆知识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780C5-4FB3-4786-AAAC-1855F5DE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459D5-1C12-4937-9232-0F532F0C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3E1BB-227F-4BC8-AA5E-769FA9E9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D8898-67F8-44FC-9A82-E39FF688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静态 IOC 通常仅 24-48h 有效；原始日志又受合规与商业机密限制，协作长期卡在数据孤岛。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E02F17-FA3D-4E33-8F21-615EA580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192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FF0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1C4D9-DE3D-456D-B58F-4C617929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传统 ISAC / MISP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3D990-B03E-42AB-9379-9608C729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76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F4899-412C-480A-806F-A21D984D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联邦学习平台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DF1C31-AF34-4801-BD4E-D26F1603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9A7EE-4C75-4C4C-80DB-3BF85921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商用 SOC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A9C85-8EF1-4C04-BE7F-117673FC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754260-2BA6-46D0-AD39-05B8B93B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A0D831-F936-4356-B0B2-2AEFDCC8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共享内容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98A833-A0D6-4970-AA0D-DA0D2274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0111AB-4058-43DD-83C3-4C3A3176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明文/脱敏 IOC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633998-FA1F-4FA0-81A2-D624381F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AA3798-D81F-40D6-9353-01E7932D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梯度/参数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358324-FCE9-4DF2-9E33-268C2B37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C099CE-144E-4EEB-AE49-B61AB56A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日志/遥测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0A9169-752C-4223-A514-F8823F68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4AF1A2-2E76-42FB-A09B-EBEBDD2F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带噪类原型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64D417-1778-4B28-AA5A-48F9BDA0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隐私风险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FF3DDD-2908-4BD1-BD86-AC98B6CA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E6DD7A-9606-4AC6-B253-BD490983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人工脱敏遗漏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F6AD61-44B9-41D5-AA68-6D98A38C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B9A9A8-0F45-4291-AF52-8537EC1F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可被梯度还原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E0F264-96EA-4C7C-A859-2DB4F9B9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A0524F-7CC4-4CA4-BD3E-96823437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集中托管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426D9F-19A3-45A1-966A-C9782703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98BC4B-BE51-4B92-B849-CF13DC92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数据不出域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E9304B-489E-4563-B335-4557C65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异构适配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643C02-2D58-48FD-94C2-281278F3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452D20-56A9-43B8-A820-9DBCBC17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统一格式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8A5520-0E26-4850-AC71-BC68D608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BFBFB2-A638-4106-89D1-65C75FDE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结构要求一致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536563-8A58-4AA3-95B9-97E48387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02E9AB-8358-466B-9590-E132D653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绑定厂商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EAD914-63FE-49FF-9426-4AB88CCA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F07DB3-CE88-4972-9719-034D613E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支持异构协作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6FD8C3-FD32-4C3C-89D3-3759149F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信任基础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A61BA2-DDA0-4F58-91B6-80B2BDD1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56A144F-06F7-4348-8E68-8ABBB8B8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协议与身份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DA00AF-79EB-4386-9C6A-EBCC55DD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E02E76-9D7C-4322-B226-3FCBD5A0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默认信任服务端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D5D91D-DF79-483F-B1F5-4FFD47E8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4A7ADDF-DED0-4D2B-98D8-7BAC5AA5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供应商信誉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4EAAC3-1717-4D6B-97F9-67667B87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A7BE9C9-1341-4CD4-A7EF-83F3FEC5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算法不可逆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51C5419-A7BF-47AD-A461-5F49296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00750"/>
            <a:ext cx="109728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6F925D-21A5-4B4C-A7AD-B1C6D6B3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86475"/>
            <a:ext cx="1059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合规价值：原始网络流量不出机构域，降低分类分级、跨机构流转与出境风险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21B65CC-D5F4-45BF-B68F-1844CCB2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6674294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D5B043-F210-4E9D-86DF-8DB897DC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06 /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BB26B1-9E0F-41EC-B632-D81C89F8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别人被攻击过的知识可以共享，但攻击经历仍留在本地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39564-091D-4395-BD0F-A5F9B616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F5E10-DF1F-4E41-8E65-2A9B471B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31962-DC26-4FD3-AFA0-3917C0F0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B63E53-C6B5-4638-A8E1-3F89D7FA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19250"/>
            <a:ext cx="535305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03da3d853c4b40"/>
          <a:srcRect xmlns:a="http://schemas.openxmlformats.org/drawingml/2006/main" l="9036" t="0" r="90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1771650"/>
            <a:ext cx="5048250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A30F7F-B154-48DA-89C4-E0286581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多行业机构联盟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9299AA-BAD0-436C-A299-5A547EE2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230505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金融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A5E7D-AE76-4A28-906C-3D075E9D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230505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政务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9C7D9-068F-4EDE-B6E3-BB66E5B7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285750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FF4DD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能源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C2017-3D38-4251-8D3D-FC278EDF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285750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DDF8E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通信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04EF43-EF16-43CB-8BFD-26C908A3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3486150"/>
            <a:ext cx="4495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E9C609-51AD-4162-8B3D-100685E2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76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3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“别人被打过的东西，你的模型能学会防御；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但别人不会知道你被打过。”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81942B-363C-4BEB-967F-0CC43D55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530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标准 PyTorch 栈 · 无专用硬件 · 原型通信量低于梯度传输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682A92-3B22-4246-B7F8-08FCA6D4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676900"/>
            <a:ext cx="52578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BDE7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B17B2D-1882-4B6A-A444-FE4BDE05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4835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适合：多机构 / 强隐私 / 数据异构 / 节点稀疏参与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4C4FF-4BDD-436E-9C61-DDB78384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5676900"/>
            <a:ext cx="52578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1B62F2-40EA-4895-9653-3D1CD650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84835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不适合：单机构即可覆盖全部数据、无需跨域协作的场景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ED9949-B598-4500-AF46-67C9224B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21070088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A8B4F5-FAEB-4F81-A92E-6892BC35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07 /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5EA2DF-4801-4819-9294-D82E3D53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FedPKDA 已经形成“论文-实验-系统”的完整证据链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9F53B-F4FD-4EF0-BCD2-F562CCB9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DCBF4-D69B-4B5B-8D3B-00479A18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E676E7-875F-4E7E-9ED0-6987AB1A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62B0E8-8F29-4FF2-A5D9-0643DBB4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09750"/>
            <a:ext cx="32004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5810D-D167-4227-AF88-64E63C98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09750"/>
            <a:ext cx="32004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7D5E2-B497-4953-A226-BF273C50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学术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4CE8DA-75AD-4C31-9B1D-D5EFBB12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AAAI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7C30E9-CD56-4246-992B-24D61C3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FedPKDA 论文正式发表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隐私保护知识动态对齐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B3399B-83D9-4075-BD1D-C51E3CEF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809750"/>
            <a:ext cx="32004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E2D0F-40E9-4A07-98C3-A55EF529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809750"/>
            <a:ext cx="32004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6A7477-7242-45F8-A3CC-D51BD0CA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336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性能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3D1112-0FC1-4C40-8D09-45A09D67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71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3 数据集 · 15 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A4CD0C-749F-44CD-83C3-1B9828DD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异构场景 +6.50~17.42pp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NSL-KDD 稀疏参与稳定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7FBF2-9D5D-4D00-B9A8-26217373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4800" y="1809750"/>
            <a:ext cx="32004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566E09-3A4A-4D33-A942-3E4844CB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4800" y="1809750"/>
            <a:ext cx="32004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6AE58C-55B0-4294-A9D0-0630C286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336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081942-C0B3-43F2-B1BF-4E8F4A19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71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7 页 · 21 接口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BA3E37-1C48-4798-A770-98786AFC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双角色分权架构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控制面与数据面分离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31E205-0597-4533-98CD-06FE56DB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0101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BB69C9-BB5B-45F9-8263-B34CE7F2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数据不出域，知识可共享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6215EA-25D0-40E0-A394-5C346A9A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5010150"/>
            <a:ext cx="342900" cy="990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A39B87-3BC3-49E9-83F0-C9268381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让信任从身份承诺，变成技术事实。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1EC019-03F9-4836-ABE4-77EF8C89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6348212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5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a0232c8c543b9"/>
          <a:srcRect xmlns:a="http://schemas.openxmlformats.org/drawingml/2006/main" l="29904" t="0" r="299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69029-1604-4D38-BC12-9E505923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0"/>
            <a:ext cx="1524000" cy="6858000"/>
          </a:xfrm>
          <a:prstGeom xmlns:a="http://schemas.openxmlformats.org/drawingml/2006/main" prst="roundRect">
            <a:avLst>
              <a:gd name="adj" fmla="val 7500"/>
            </a:avLst>
          </a:prstGeom>
          <a:gradFill xmlns:a="http://schemas.openxmlformats.org/drawingml/2006/main">
            <a:gsLst>
              <a:gs pos="0">
                <a:srgbClr val="0B1530"/>
              </a:gs>
              <a:gs pos="100000">
                <a:srgbClr val="0B1530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A99611-3156-471A-BD12-E7491DC2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谢谢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AB3F8-1FD0-4219-A48C-35CF2DE2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Q &amp;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9509F-2001-411A-8A8E-1D0E26F2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086100"/>
            <a:ext cx="12001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6701B-2B0A-4B4B-9EFB-B2802BBF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953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让信任从身份承诺，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变成技术事实。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B0317-E588-408D-B2EF-E44EE33C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rPr>
              <a:t>作品：FedPKDA 联邦入侵检测协作平台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rPr>
              <a:t>队伍：__________    学校：__________</a:t>
            </a:r>
          </a:p>
        </p:txBody>
      </p:sp>
    </p:spTree>
    <p:extLst>
      <p:ext uri="{BB962C8B-B14F-4D97-AF65-F5344CB8AC3E}">
        <p14:creationId xmlns:p14="http://schemas.microsoft.com/office/powerpoint/2010/main" val="18209496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2026-08-09T05:30:27.4770000Z</dcterms:created>
  <dcterms:modified xsi:type="dcterms:W3CDTF">2026-08-09T05:30:27.4770000Z</dcterms:modified>
</coreProperties>
</file>