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42a91ce6294a3e" /><Relationship Type="http://schemas.openxmlformats.org/officeDocument/2006/relationships/extended-properties" Target="/docProps/app.xml" Id="Rb849b604793b43fa" /><Relationship Type="http://schemas.openxmlformats.org/officeDocument/2006/relationships/officeDocument" Target="/ppt/presentation.xml" Id="Rf0efac61bda749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0f59a08909c4d49"/>
  </p:sldMasterIdLst>
  <p:notesMasterIdLst>
    <p:notesMasterId xmlns:r="http://schemas.openxmlformats.org/officeDocument/2006/relationships" r:id="Rb7cdcf4f908e4faa"/>
  </p:notesMasterIdLst>
  <p:sldIdLst>
    <p:sldId xmlns:r="http://schemas.openxmlformats.org/officeDocument/2006/relationships" id="256" r:id="R22b7fc556c344f81"/>
    <p:sldId xmlns:r="http://schemas.openxmlformats.org/officeDocument/2006/relationships" id="257" r:id="R46302f635506496f"/>
    <p:sldId xmlns:r="http://schemas.openxmlformats.org/officeDocument/2006/relationships" id="258" r:id="R73be97392bf24f1f"/>
    <p:sldId xmlns:r="http://schemas.openxmlformats.org/officeDocument/2006/relationships" id="259" r:id="R8c6efabaf9384b65"/>
    <p:sldId xmlns:r="http://schemas.openxmlformats.org/officeDocument/2006/relationships" id="260" r:id="Ra020d9670f8e4e22"/>
    <p:sldId xmlns:r="http://schemas.openxmlformats.org/officeDocument/2006/relationships" id="261" r:id="Rfc2f5f9512a841ce"/>
    <p:sldId xmlns:r="http://schemas.openxmlformats.org/officeDocument/2006/relationships" id="262" r:id="R5caf66b4506f4041"/>
    <p:sldId xmlns:r="http://schemas.openxmlformats.org/officeDocument/2006/relationships" id="263" r:id="Rf87b26425b454114"/>
    <p:sldId xmlns:r="http://schemas.openxmlformats.org/officeDocument/2006/relationships" id="264" r:id="R8ef98d92b4e54df4"/>
    <p:sldId xmlns:r="http://schemas.openxmlformats.org/officeDocument/2006/relationships" id="265" r:id="Re9ebceb2e03f40b8"/>
    <p:sldId xmlns:r="http://schemas.openxmlformats.org/officeDocument/2006/relationships" id="266" r:id="R13f2bb2c7cad4203"/>
    <p:sldId xmlns:r="http://schemas.openxmlformats.org/officeDocument/2006/relationships" id="267" r:id="R12e881b361ff4dc3"/>
    <p:sldId xmlns:r="http://schemas.openxmlformats.org/officeDocument/2006/relationships" id="268" r:id="Rc709c7e36b1a4f43"/>
    <p:sldId xmlns:r="http://schemas.openxmlformats.org/officeDocument/2006/relationships" id="269" r:id="R92b37f7a3dc94c80"/>
    <p:sldId xmlns:r="http://schemas.openxmlformats.org/officeDocument/2006/relationships" id="270" r:id="R07c43baa82e743b1"/>
    <p:sldId xmlns:r="http://schemas.openxmlformats.org/officeDocument/2006/relationships" id="271" r:id="R00b07567d11f44b4"/>
    <p:sldId xmlns:r="http://schemas.openxmlformats.org/officeDocument/2006/relationships" id="272" r:id="R3810a0f1b34b4bd5"/>
    <p:sldId xmlns:r="http://schemas.openxmlformats.org/officeDocument/2006/relationships" id="273" r:id="Rdc70a11594f14ae7"/>
    <p:sldId xmlns:r="http://schemas.openxmlformats.org/officeDocument/2006/relationships" id="274" r:id="Rb2f6f82ee2b14551"/>
    <p:sldId xmlns:r="http://schemas.openxmlformats.org/officeDocument/2006/relationships" id="275" r:id="Rff507d02f3d94318"/>
    <p:sldId xmlns:r="http://schemas.openxmlformats.org/officeDocument/2006/relationships" id="276" r:id="Rc8042fe1f8824328"/>
    <p:sldId xmlns:r="http://schemas.openxmlformats.org/officeDocument/2006/relationships" id="277" r:id="R79f17a7a075f421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24069e959014062" /><Relationship Type="http://schemas.openxmlformats.org/officeDocument/2006/relationships/slideMaster" Target="/ppt/slideMasters/slideMaster1.xml" Id="Ra0f59a08909c4d49" /><Relationship Type="http://schemas.openxmlformats.org/officeDocument/2006/relationships/notesMaster" Target="/ppt/notesMasters/notesMaster1.xml" Id="Rb7cdcf4f908e4faa" /><Relationship Type="http://schemas.openxmlformats.org/officeDocument/2006/relationships/presProps" Target="/ppt/presProps.xml" Id="R02ece9d5bdb540d3" /><Relationship Type="http://schemas.openxmlformats.org/officeDocument/2006/relationships/tableStyles" Target="/ppt/tableStyles.xml" Id="Re28abc8b5416460f" /><Relationship Type="http://schemas.openxmlformats.org/officeDocument/2006/relationships/slide" Target="/ppt/slides/slide1.xml" Id="R22b7fc556c344f81" /><Relationship Type="http://schemas.openxmlformats.org/officeDocument/2006/relationships/slide" Target="/ppt/slides/slide2.xml" Id="R46302f635506496f" /><Relationship Type="http://schemas.openxmlformats.org/officeDocument/2006/relationships/slide" Target="/ppt/slides/slide3.xml" Id="R73be97392bf24f1f" /><Relationship Type="http://schemas.openxmlformats.org/officeDocument/2006/relationships/slide" Target="/ppt/slides/slide4.xml" Id="R8c6efabaf9384b65" /><Relationship Type="http://schemas.openxmlformats.org/officeDocument/2006/relationships/slide" Target="/ppt/slides/slide5.xml" Id="Ra020d9670f8e4e22" /><Relationship Type="http://schemas.openxmlformats.org/officeDocument/2006/relationships/slide" Target="/ppt/slides/slide6.xml" Id="Rfc2f5f9512a841ce" /><Relationship Type="http://schemas.openxmlformats.org/officeDocument/2006/relationships/slide" Target="/ppt/slides/slide7.xml" Id="R5caf66b4506f4041" /><Relationship Type="http://schemas.openxmlformats.org/officeDocument/2006/relationships/slide" Target="/ppt/slides/slide8.xml" Id="Rf87b26425b454114" /><Relationship Type="http://schemas.openxmlformats.org/officeDocument/2006/relationships/slide" Target="/ppt/slides/slide9.xml" Id="R8ef98d92b4e54df4" /><Relationship Type="http://schemas.openxmlformats.org/officeDocument/2006/relationships/slide" Target="/ppt/slides/slide10.xml" Id="Re9ebceb2e03f40b8" /><Relationship Type="http://schemas.openxmlformats.org/officeDocument/2006/relationships/slide" Target="/ppt/slides/slide11.xml" Id="R13f2bb2c7cad4203" /><Relationship Type="http://schemas.openxmlformats.org/officeDocument/2006/relationships/slide" Target="/ppt/slides/slide12.xml" Id="R12e881b361ff4dc3" /><Relationship Type="http://schemas.openxmlformats.org/officeDocument/2006/relationships/slide" Target="/ppt/slides/slide13.xml" Id="Rc709c7e36b1a4f43" /><Relationship Type="http://schemas.openxmlformats.org/officeDocument/2006/relationships/slide" Target="/ppt/slides/slide14.xml" Id="R92b37f7a3dc94c80" /><Relationship Type="http://schemas.openxmlformats.org/officeDocument/2006/relationships/slide" Target="/ppt/slides/slide15.xml" Id="R07c43baa82e743b1" /><Relationship Type="http://schemas.openxmlformats.org/officeDocument/2006/relationships/slide" Target="/ppt/slides/slide16.xml" Id="R00b07567d11f44b4" /><Relationship Type="http://schemas.openxmlformats.org/officeDocument/2006/relationships/slide" Target="/ppt/slides/slide17.xml" Id="R3810a0f1b34b4bd5" /><Relationship Type="http://schemas.openxmlformats.org/officeDocument/2006/relationships/slide" Target="/ppt/slides/slide18.xml" Id="Rdc70a11594f14ae7" /><Relationship Type="http://schemas.openxmlformats.org/officeDocument/2006/relationships/slide" Target="/ppt/slides/slide19.xml" Id="Rb2f6f82ee2b14551" /><Relationship Type="http://schemas.openxmlformats.org/officeDocument/2006/relationships/slide" Target="/ppt/slides/slide20.xml" Id="Rff507d02f3d94318" /><Relationship Type="http://schemas.openxmlformats.org/officeDocument/2006/relationships/slide" Target="/ppt/slides/slide21.xml" Id="Rc8042fe1f8824328" /><Relationship Type="http://schemas.openxmlformats.org/officeDocument/2006/relationships/slide" Target="/ppt/slides/slide22.xml" Id="R79f17a7a075f42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151821e92b54e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ChatGP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6ae4f7fd3b4800" /><Relationship Type="http://schemas.openxmlformats.org/officeDocument/2006/relationships/notesMaster" Target="/ppt/notesMasters/notesMaster1.xml" Id="R12687a5412f54ef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22d4fd289af4cd6" /><Relationship Type="http://schemas.openxmlformats.org/officeDocument/2006/relationships/notesMaster" Target="/ppt/notesMasters/notesMaster1.xml" Id="Rb268f5b6341547e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c92c63891f0465e" /><Relationship Type="http://schemas.openxmlformats.org/officeDocument/2006/relationships/notesMaster" Target="/ppt/notesMasters/notesMaster1.xml" Id="R0876127d543741d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5dd7b399b5a403b" /><Relationship Type="http://schemas.openxmlformats.org/officeDocument/2006/relationships/notesMaster" Target="/ppt/notesMasters/notesMaster1.xml" Id="R4b8ec1672be04d4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fc29bd4c0fc47fc" /><Relationship Type="http://schemas.openxmlformats.org/officeDocument/2006/relationships/notesMaster" Target="/ppt/notesMasters/notesMaster1.xml" Id="Rd2d770b699724e5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98d69b1455742f0" /><Relationship Type="http://schemas.openxmlformats.org/officeDocument/2006/relationships/notesMaster" Target="/ppt/notesMasters/notesMaster1.xml" Id="R45be158024b4490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c4d37ceac744f79" /><Relationship Type="http://schemas.openxmlformats.org/officeDocument/2006/relationships/notesMaster" Target="/ppt/notesMasters/notesMaster1.xml" Id="R1b5770db287e476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65d25cdc9774583" /><Relationship Type="http://schemas.openxmlformats.org/officeDocument/2006/relationships/notesMaster" Target="/ppt/notesMasters/notesMaster1.xml" Id="R1a95361cad004ec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64155fa01454ada" /><Relationship Type="http://schemas.openxmlformats.org/officeDocument/2006/relationships/notesMaster" Target="/ppt/notesMasters/notesMaster1.xml" Id="R2ff9f711d6d6419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c912c621d114832" /><Relationship Type="http://schemas.openxmlformats.org/officeDocument/2006/relationships/notesMaster" Target="/ppt/notesMasters/notesMaster1.xml" Id="R83d6d1e3d113444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7f37f24c7214200" /><Relationship Type="http://schemas.openxmlformats.org/officeDocument/2006/relationships/notesMaster" Target="/ppt/notesMasters/notesMaster1.xml" Id="R130da34f2475406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b855d00a8e34a6b" /><Relationship Type="http://schemas.openxmlformats.org/officeDocument/2006/relationships/notesMaster" Target="/ppt/notesMasters/notesMaster1.xml" Id="Rd93a3016f91b467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6dd16ce537e4d9c" /><Relationship Type="http://schemas.openxmlformats.org/officeDocument/2006/relationships/notesMaster" Target="/ppt/notesMasters/notesMaster1.xml" Id="Ra56d995180a3497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81264a8b81c442c" /><Relationship Type="http://schemas.openxmlformats.org/officeDocument/2006/relationships/notesMaster" Target="/ppt/notesMasters/notesMaster1.xml" Id="R1b5a446314c045c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f0146d42d704b9f" /><Relationship Type="http://schemas.openxmlformats.org/officeDocument/2006/relationships/notesMaster" Target="/ppt/notesMasters/notesMaster1.xml" Id="R8ca36da4151d4c6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47f5d64a1074bd3" /><Relationship Type="http://schemas.openxmlformats.org/officeDocument/2006/relationships/notesMaster" Target="/ppt/notesMasters/notesMaster1.xml" Id="Rd22e6212967b473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ab06ec7496f4b55" /><Relationship Type="http://schemas.openxmlformats.org/officeDocument/2006/relationships/notesMaster" Target="/ppt/notesMasters/notesMaster1.xml" Id="R9c4aa1d303844f3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e833978bd8d4d3a" /><Relationship Type="http://schemas.openxmlformats.org/officeDocument/2006/relationships/notesMaster" Target="/ppt/notesMasters/notesMaster1.xml" Id="Rc145615e2bfe403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22ecd3de07344dc" /><Relationship Type="http://schemas.openxmlformats.org/officeDocument/2006/relationships/notesMaster" Target="/ppt/notesMasters/notesMaster1.xml" Id="Rf362feab1537475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fcadb82c7744a0f" /><Relationship Type="http://schemas.openxmlformats.org/officeDocument/2006/relationships/notesMaster" Target="/ppt/notesMasters/notesMaster1.xml" Id="R0a0b9e8524bc48e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28652c3cf964bfb" /><Relationship Type="http://schemas.openxmlformats.org/officeDocument/2006/relationships/notesMaster" Target="/ppt/notesMasters/notesMaster1.xml" Id="R947fbccd2ab64c6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cceeafb6da34693" /><Relationship Type="http://schemas.openxmlformats.org/officeDocument/2006/relationships/notesMaster" Target="/ppt/notesMasters/notesMaster1.xml" Id="Rcf36c099b79b45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5 </a:t>
            </a: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秒。只说作品定位：这是一个有 </a:t>
            </a: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AAAI 2026 </a:t>
            </a: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算法支撑、面向多机构网络安全协作的完整系统。</a:t>
            </a:r>
            <a:endParaRPr sz="20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endParaRPr sz="20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[Sources]</a:t>
            </a:r>
            <a:endParaRPr sz="20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- https://github.com/IridiumNan/FedPKDA-robocup/blob/plan/docs/spec/project_description.md</a:t>
            </a:r>
            <a:endParaRPr sz="20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- https://ojs.aaai.org/index.php/AAAI/article/view/40037</a:t>
            </a:r>
            <a:endParaRPr sz="20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- https://github.com/IridiumNan/FedPKDA-robocup/blob/plan/pending/ppt_plan.md</a:t>
            </a:r>
            <a:endParaRPr sz="20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10 </a:t>
            </a: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秒。目录只报五个部分：背景与问题、三大突破、实验验证、系统设计、应用与总结。</a:t>
            </a:r>
            <a:endParaRPr sz="20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endParaRPr sz="20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[Sources]</a:t>
            </a:r>
            <a:endParaRPr sz="20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- https://github.com/IridiumNan/FedPKDA-robocup/issues/6</a:t>
            </a:r>
            <a:endParaRPr sz="20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- https://github.com/IridiumNan/FedPKDA-robocup/blob/plan/docs/spec/project_description.md</a:t>
            </a:r>
            <a:endParaRPr sz="20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30 </a:t>
            </a: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秒。用这一页补齐背景：各机构只在本地训练，上传模型更新，由协调服务器聚合并广播全局模型。原始数据留在本地，但下一页会说明模型更新本身并不天然安全。</a:t>
            </a:r>
            <a:endParaRPr sz="20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endParaRPr sz="20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[Sources]</a:t>
            </a:r>
            <a:endParaRPr sz="20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- https://research.google/pubs/communication-efficient-learning-of-deep-networks-from-decentralized-data/</a:t>
            </a:r>
            <a:endParaRPr sz="20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- https://github.com/IridiumNan/FedPKDA-robocup/blob/plan/docs/spec/project_description.md</a:t>
            </a:r>
            <a:endParaRPr sz="20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40 </a:t>
            </a: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秒。左图只说明攻击会在哪里发生；右侧把两种成熟协作方式与具体局限放在同一页。结论是：现有方案解决了能否协作，却没有同时解决不可逆、异构稳定和最小信任。</a:t>
            </a:r>
            <a:endParaRPr sz="20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endParaRPr sz="20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[Sources]</a:t>
            </a:r>
            <a:endParaRPr sz="20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- https://proceedings.neurips.cc/paper/9617-deep-leakage-from-gradients.pdf</a:t>
            </a:r>
            <a:endParaRPr sz="20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- https://www.misp-project.org/</a:t>
            </a:r>
            <a:endParaRPr sz="20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- https://www.fsisac.com/about-us</a:t>
            </a:r>
            <a:endParaRPr sz="20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- https://github.com/IridiumNan/FedPKDA-robocup/blob/plan/docs/spec/project_description.md</a:t>
            </a:r>
            <a:endParaRPr sz="20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- https://github.com/IridiumNan/FedPKDA-robocup/issues/6</a:t>
            </a:r>
            <a:endParaRPr sz="20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35 </a:t>
            </a: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秒。上方只看攻击入口：梯度经过网络即可被截获并用于重建。下方看 </a:t>
            </a: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FedPKDA</a:t>
            </a: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：客户端把类别特征变成原型，再裁剪、加噪；服务端只聚合带噪原型。</a:t>
            </a: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PSNR 6.9 </a:t>
            </a: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来自论文攻击实验，本项目未重复该攻击实验。</a:t>
            </a:r>
            <a:endParaRPr sz="20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endParaRPr sz="20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[Sources]</a:t>
            </a:r>
            <a:endParaRPr sz="20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- https://ojs.aaai.org/index.php/AAAI/article/view/40037</a:t>
            </a:r>
            <a:endParaRPr sz="20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- https://github.com/IridiumNan/FedPKDA-robocup/blob/plan/docs/spec/project_description.md</a:t>
            </a:r>
            <a:endParaRPr sz="20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- https://proceedings.neurips.cc/paper/9617-deep-leakage-from-gradients.pdf</a:t>
            </a:r>
            <a:endParaRPr sz="20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30 </a:t>
            </a: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秒。聚类找密集中心，马氏距离考虑协方差，离群越远反距离权重越低；</a:t>
            </a: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Fisher </a:t>
            </a: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再量化模型贡献。隔离是理论机制，本项目尚未完成投毒对抗实验，不要说成实测结果。</a:t>
            </a:r>
            <a:endParaRPr sz="20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endParaRPr sz="20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[Sources]</a:t>
            </a:r>
            <a:endParaRPr sz="20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- https://ojs.aaai.org/index.php/AAAI/article/view/40037</a:t>
            </a:r>
            <a:endParaRPr sz="20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- https://github.com/IridiumNan/FedPKDA-robocup/blob/plan/docs/spec/project_description.md</a:t>
            </a:r>
            <a:endParaRPr sz="20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30 </a:t>
            </a: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秒。</a:t>
            </a: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φ(t) </a:t>
            </a: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严格单调递增：早期保护本地表示，后期吸收全局共识。强调阶段切换自动完成，不展开函数推导。</a:t>
            </a:r>
            <a:endParaRPr sz="20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endParaRPr sz="20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[Sources]</a:t>
            </a:r>
            <a:endParaRPr sz="20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- https://ojs.aaai.org/index.php/AAAI/article/view/40037</a:t>
            </a:r>
            <a:endParaRPr sz="20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- https://github.com/IridiumNan/FedPKDA-robocup/blob/plan/docs/spec/project_description.md</a:t>
            </a:r>
            <a:endParaRPr sz="20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40 </a:t>
            </a: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秒。先讲项目复现的两个大差距，再用论文 </a:t>
            </a: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12 </a:t>
            </a: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个 </a:t>
            </a: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SOTA </a:t>
            </a: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基线结果做背书。务必说明每组为单次运行，误差带是客户端间 </a:t>
            </a: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std</a:t>
            </a: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。</a:t>
            </a:r>
            <a:endParaRPr sz="20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endParaRPr sz="20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[Sources]</a:t>
            </a:r>
            <a:endParaRPr sz="20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- https://github.com/IridiumNan/FedPKDA-robocup/blob/plan/docs/report/experiment/report.md</a:t>
            </a:r>
            <a:endParaRPr sz="20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- https://github.com/IridiumNan/FedPKDA-robocup/blob/plan/docs/report/experiment/experiment_explanation.md</a:t>
            </a:r>
            <a:endParaRPr sz="20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- https://ojs.aaai.org/index.php/AAAI/article/view/40037</a:t>
            </a:r>
            <a:endParaRPr sz="20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- https://github.com/IridiumNan/FedPKDA-robocup/blob/plan/docs/spec/project_description.md</a:t>
            </a:r>
            <a:endParaRPr sz="20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40 </a:t>
            </a: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秒。主推 </a:t>
            </a: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jr=0.1</a:t>
            </a: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：</a:t>
            </a: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FedAvg </a:t>
            </a: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从 </a:t>
            </a: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94.09 </a:t>
            </a: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跌到 </a:t>
            </a: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53.39</a:t>
            </a: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，而 </a:t>
            </a: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FedPKDA </a:t>
            </a: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维持 </a:t>
            </a: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99.66</a:t>
            </a: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。稳定性只用 </a:t>
            </a: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best→final </a:t>
            </a: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和最后 </a:t>
            </a: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10 </a:t>
            </a: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轮 </a:t>
            </a: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std</a:t>
            </a: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，不使用全曲线 </a:t>
            </a: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std</a:t>
            </a: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。</a:t>
            </a:r>
            <a:endParaRPr sz="20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endParaRPr sz="20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[Sources]</a:t>
            </a:r>
            <a:endParaRPr sz="20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- https://github.com/IridiumNan/FedPKDA-robocup/blob/plan/docs/report/experiment/report.md</a:t>
            </a:r>
            <a:endParaRPr sz="20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- https://github.com/IridiumNan/FedPKDA-robocup/blob/plan/docs/report/experiment/experiment_explanation.md</a:t>
            </a:r>
            <a:endParaRPr sz="20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- https://github.com/IridiumNan/FedPKDA-robocup/blob/plan/docs/spec/project_description.md</a:t>
            </a:r>
            <a:endParaRPr sz="20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45 </a:t>
            </a: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秒。必须完整讲清两条闭环：上方模型参数由 </a:t>
            </a: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Fisher </a:t>
            </a: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信息矩阵加权生成全局模型；下方带噪类原型经 </a:t>
            </a: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K-Means </a:t>
            </a: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与马氏距离加权生成全局原型；客户端同时接收两类全局知识。</a:t>
            </a:r>
            <a:endParaRPr sz="20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endParaRPr sz="20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[Sources]</a:t>
            </a:r>
            <a:endParaRPr sz="20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- https://github.com/IridiumNan/FedPKDA-robocup/issues/6</a:t>
            </a:r>
            <a:endParaRPr sz="20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- https://github.com/IridiumNan/FedPKDA-robocup/blob/plan/docs/spec/project_description.md</a:t>
            </a:r>
            <a:endParaRPr sz="20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- https://ojs.aaai.org/index.php/AAAI/article/view/40037</a:t>
            </a:r>
            <a:endParaRPr sz="20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40 </a:t>
            </a: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秒。平台只是把算法能力可视化。协调员只有建议权，隔离执行权在机构侧；这是架构分权，不是前端按钮权限。</a:t>
            </a:r>
            <a:endParaRPr sz="20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endParaRPr sz="20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[Sources]</a:t>
            </a:r>
            <a:endParaRPr sz="20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- https://github.com/IridiumNan/FedPKDA-robocup/blob/plan/docs/spec/project_description.md</a:t>
            </a:r>
            <a:endParaRPr sz="20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- https://github.com/IridiumNan/FedPKDA-robocup/tree/plan/docs/api</a:t>
            </a:r>
            <a:endParaRPr sz="20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25 </a:t>
            </a: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秒。不给调研过程，只给结论：</a:t>
            </a: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ISAC </a:t>
            </a: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依赖人工脱敏，传统 </a:t>
            </a: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FL </a:t>
            </a: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传梯度，</a:t>
            </a: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SOC </a:t>
            </a: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集中托管；</a:t>
            </a: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FedPKDA </a:t>
            </a: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传不可逆知识。合规表述用‘降低风险’，不要承诺自动满足全部法律义务。</a:t>
            </a:r>
            <a:endParaRPr sz="20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endParaRPr sz="20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[Sources]</a:t>
            </a:r>
            <a:endParaRPr sz="20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- https://github.com/IridiumNan/FedPKDA-robocup/blob/plan/docs/spec/project_description.md</a:t>
            </a:r>
            <a:endParaRPr sz="20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- https://www.fsisac.com/about-us</a:t>
            </a:r>
            <a:endParaRPr sz="20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- https://www.nist.gov/cyberframework</a:t>
            </a:r>
            <a:endParaRPr sz="20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20 </a:t>
            </a: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秒。落地对象是金融、政务、能源、通信等联盟。强调标准 </a:t>
            </a: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PyTorch </a:t>
            </a: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技术栈与无专用硬件；如果被问成本，承认计算约为 </a:t>
            </a: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FedAvg </a:t>
            </a: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的 </a:t>
            </a: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10 </a:t>
            </a: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倍，以隐私、通信和稳定性换算力。</a:t>
            </a:r>
            <a:endParaRPr sz="20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endParaRPr sz="20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[Sources]</a:t>
            </a:r>
            <a:endParaRPr sz="20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- https://github.com/IridiumNan/FedPKDA-robocup/blob/plan/docs/spec/project_description.md</a:t>
            </a:r>
            <a:endParaRPr sz="20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25 秒。展示三项已登记软件著作权，覆盖攻击检测防御、数据融合分析与跨境数据安全合规管控。证书作者信息在投影中不展示。</a:t>
            </a:r>
            <a:endParaRPr sz="20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t/>
            </a:r>
            <a:endParaRPr sz="20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[Sources]</a:t>
            </a:r>
            <a:endParaRPr sz="20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- 用户提供的软件著作权登记证书图片（作者信息匿名化展示）</a:t>
            </a:r>
            <a:endParaRPr sz="20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25 秒。两篇联邦入侵检测综述均已录用、待发表。画面仅保留论文题名及研究主题，作者、单位、邮箱和通讯作者信息均已匿名。</a:t>
            </a:r>
            <a:endParaRPr sz="20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t/>
            </a:r>
            <a:endParaRPr sz="20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[Sources]</a:t>
            </a:r>
            <a:endParaRPr sz="20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- 用户提供的两篇论文首页截图（题名区匿名化展示）</a:t>
            </a:r>
            <a:endParaRPr sz="20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20 秒。用三条证据链收束：1 篇正式发表论文、2 篇录用待发表论文、3 项软件著作权；同时有实验复现与可运行系统。</a:t>
            </a:r>
            <a:endParaRPr sz="20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t/>
            </a:r>
            <a:endParaRPr sz="20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[Sources]</a:t>
            </a:r>
            <a:endParaRPr sz="20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- https://ojs.aaai.org/index.php/AAAI/article/view/40037</a:t>
            </a:r>
            <a:endParaRPr sz="20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- 用户提供的软件著作权与论文录用成果截图</a:t>
            </a:r>
            <a:endParaRPr sz="20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- https://github.com/IridiumNan/FedPKDA-robocup</a:t>
            </a:r>
            <a:endParaRPr sz="20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5 </a:t>
            </a: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秒。停在本页进入问答。</a:t>
            </a:r>
            <a:endParaRPr sz="20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endParaRPr sz="20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[Sources]</a:t>
            </a:r>
            <a:endParaRPr sz="20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- https://github.com/IridiumNan/FedPKDA-robocup/blob/plan/docs/spec/project_description.md</a:t>
            </a:r>
            <a:endParaRPr sz="20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- https://ojs.aaai.org/index.php/AAAI/article/view/40037</a:t>
            </a:r>
            <a:endParaRPr sz="20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bd0e887a454c1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d1bf15ba6043d5" /></Relationships>
</file>

<file path=ppt/slideLayouts/slideLayout1.xml><?xml version="1.0" encoding="utf-8"?>
<p:sldLayout xmlns:p="http://schemas.openxmlformats.org/presentationml/2006/main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23082509-DCD6-46BD-8DB8-3B95724150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l">
              <a:lnSpc>
                <a:spcPct val="90000"/>
              </a:lnSpc>
              <a:buNone/>
            </a:pPr>
            <a:endParaRPr sz="4400" b="0" u="none">
              <a:solidFill>
                <a:schemeClr val="dk1"/>
              </a:solidFill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5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B439EB10-7264-4768-BEE1-E8426582651D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lnSpc>
                <a:spcPct val="90000"/>
              </a:lnSpc>
              <a:spcBef>
                <a:spcPts val="1417"/>
              </a:spcBef>
              <a:buNone/>
            </a:pPr>
            <a:endParaRPr sz="2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</p:sldLayout>
</file>

<file path=ppt/slideLayouts/slideLayout2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F5D6DEB1-9936-4E92-936D-53C6A4D2F7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l">
              <a:lnSpc>
                <a:spcPct val="90000"/>
              </a:lnSpc>
              <a:buNone/>
            </a:pPr>
            <a:endParaRPr sz="4400" b="0" u="none">
              <a:solidFill>
                <a:schemeClr val="dk1"/>
              </a:solidFill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7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6304FFAE-58DB-45BA-8310-C972DEBA992A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endParaRPr sz="32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0a197a4db04daf" /><Relationship Type="http://schemas.openxmlformats.org/officeDocument/2006/relationships/slideLayout" Target="/ppt/slideLayouts/slideLayout1.xml" Id="R5e955744f1984ae7" /><Relationship Type="http://schemas.openxmlformats.org/officeDocument/2006/relationships/slideLayout" Target="/ppt/slideLayouts/slideLayout2.xml" Id="R4ce2d6021da347c5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1EDFAB6D-5BD9-45B2-8818-1CDBFAF018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indent="0" algn="l">
              <a:lnSpc>
                <a:spcPct val="90000"/>
              </a:lnSpc>
              <a:buNone/>
              <a:defRPr sz="4400" b="0" u="none">
                <a:solidFill>
                  <a:schemeClr val="dk1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pPr indent="0" algn="l">
              <a:lnSpc>
                <a:spcPct val="9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Calibri Light"/>
                <a:ea typeface="Calibri Light"/>
                <a:cs typeface="Calibri Light"/>
              </a:rPr>
              <a:t>Click to edit the title text format</a:t>
            </a:r>
            <a:endParaRPr sz="4400" b="0" u="none">
              <a:solidFill>
                <a:schemeClr val="dk1"/>
              </a:solidFill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3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51EB8E31-101A-4101-A089-5711AD9556AD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</a:lstStyle>
          <a:p xmlns:a="http://schemas.openxmlformats.org/drawingml/2006/main"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the outline text format</a:t>
            </a:r>
            <a:endParaRPr sz="2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Outline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Outline Level</a:t>
            </a:r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Outline Level</a:t>
            </a:r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Outline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Sixth Outline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Seventh Outline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955744f1984ae7"/>
    <p:sldLayoutId xmlns:r="http://schemas.openxmlformats.org/officeDocument/2006/relationships" id="2147483650" r:id="R4ce2d6021da347c5"/>
  </p:sldLayoutIdLst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ChatGP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4b8f0d642949ed" /><Relationship Type="http://schemas.openxmlformats.org/officeDocument/2006/relationships/image" Target="/ppt/media/image.png" Id="R2f625002d6694797" /><Relationship Type="http://schemas.openxmlformats.org/officeDocument/2006/relationships/notesSlide" Target="/ppt/notesSlides/notesSlide1.xml" Id="R031dd6c498ec4d6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44b1fc4e2ac4e64" /><Relationship Type="http://schemas.openxmlformats.org/officeDocument/2006/relationships/notesSlide" Target="/ppt/notesSlides/notesSlide2.xml" Id="R2a7af6c5a6954d9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86d814b4164047" /><Relationship Type="http://schemas.openxmlformats.org/officeDocument/2006/relationships/notesSlide" Target="/ppt/notesSlides/notesSlide3.xml" Id="R137fa21b5913421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bfe8b24b9924658" /><Relationship Type="http://schemas.openxmlformats.org/officeDocument/2006/relationships/notesSlide" Target="/ppt/notesSlides/notesSlide4.xml" Id="R60df5d58f98e43b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97e9d6545844e9" /><Relationship Type="http://schemas.openxmlformats.org/officeDocument/2006/relationships/image" Target="/ppt/media/image2.png" Id="R1a8b31d401594c87" /><Relationship Type="http://schemas.openxmlformats.org/officeDocument/2006/relationships/notesSlide" Target="/ppt/notesSlides/notesSlide5.xml" Id="R83325760cac9437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82a5f0853c408e" /><Relationship Type="http://schemas.openxmlformats.org/officeDocument/2006/relationships/notesSlide" Target="/ppt/notesSlides/notesSlide6.xml" Id="R0140110666f24cc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0963b8e9cf643bb" /><Relationship Type="http://schemas.openxmlformats.org/officeDocument/2006/relationships/notesSlide" Target="/ppt/notesSlides/notesSlide7.xml" Id="R92776726314040f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075ae5b617469e" /><Relationship Type="http://schemas.openxmlformats.org/officeDocument/2006/relationships/notesSlide" Target="/ppt/notesSlides/notesSlide8.xml" Id="Rb3422fd3bc7f462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49452bc7b2446b" /><Relationship Type="http://schemas.openxmlformats.org/officeDocument/2006/relationships/chart" Target="/ppt/slides/charts/chart1.xml" Id="Ra91d727e901a4d63" /><Relationship Type="http://schemas.openxmlformats.org/officeDocument/2006/relationships/notesSlide" Target="/ppt/notesSlides/notesSlide9.xml" Id="R54d12af21903455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3d2ebe32fb4611" /><Relationship Type="http://schemas.openxmlformats.org/officeDocument/2006/relationships/notesSlide" Target="/ppt/notesSlides/notesSlide10.xml" Id="R1e7153746f934c9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ed97be27d7b486f" /><Relationship Type="http://schemas.openxmlformats.org/officeDocument/2006/relationships/image" Target="/ppt/media/image3.png" Id="Ra748ccb709dd4e1b" /><Relationship Type="http://schemas.openxmlformats.org/officeDocument/2006/relationships/image" Target="/ppt/media/image4.png" Id="Rf6ef83408b02493b" /><Relationship Type="http://schemas.openxmlformats.org/officeDocument/2006/relationships/notesSlide" Target="/ppt/notesSlides/notesSlide11.xml" Id="Ra22867fcc2f34cc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eb780e254ac4dee" /><Relationship Type="http://schemas.openxmlformats.org/officeDocument/2006/relationships/image" Target="/ppt/media/image5.png" Id="R782a69399bb44363" /><Relationship Type="http://schemas.openxmlformats.org/officeDocument/2006/relationships/notesSlide" Target="/ppt/notesSlides/notesSlide12.xml" Id="R258a70b17cd04d8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bfc6c3b75d41b9" /><Relationship Type="http://schemas.openxmlformats.org/officeDocument/2006/relationships/notesSlide" Target="/ppt/notesSlides/notesSlide13.xml" Id="R8730d9e41ce949c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a272d1605f84c42" /><Relationship Type="http://schemas.openxmlformats.org/officeDocument/2006/relationships/notesSlide" Target="/ppt/notesSlides/notesSlide14.xml" Id="R37b4fdef036247b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da9ad295a2648d4" /><Relationship Type="http://schemas.openxmlformats.org/officeDocument/2006/relationships/image" Target="/ppt/media/image6.png" Id="R3023fab4f3b74a7e" /><Relationship Type="http://schemas.openxmlformats.org/officeDocument/2006/relationships/image" Target="/ppt/media/image7.png" Id="Rcde8877183694b8d" /><Relationship Type="http://schemas.openxmlformats.org/officeDocument/2006/relationships/notesSlide" Target="/ppt/notesSlides/notesSlide15.xml" Id="Re68dc1dbe6e1476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9b289efe8646c1" /><Relationship Type="http://schemas.openxmlformats.org/officeDocument/2006/relationships/notesSlide" Target="/ppt/notesSlides/notesSlide16.xml" Id="R0a070615b07a46e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5b4c071a6924031" /><Relationship Type="http://schemas.openxmlformats.org/officeDocument/2006/relationships/notesSlide" Target="/ppt/notesSlides/notesSlide17.xml" Id="Rca720df5e64b48b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8bef787796d4033" /><Relationship Type="http://schemas.openxmlformats.org/officeDocument/2006/relationships/image" Target="/ppt/media/image8.png" Id="R4b1f2bd94e1041cb" /><Relationship Type="http://schemas.openxmlformats.org/officeDocument/2006/relationships/notesSlide" Target="/ppt/notesSlides/notesSlide18.xml" Id="R8399c9b681ca406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17e3041e35e46ea" /><Relationship Type="http://schemas.openxmlformats.org/officeDocument/2006/relationships/image" Target="/ppt/media/image9.png" Id="R831418015ba34c27" /><Relationship Type="http://schemas.openxmlformats.org/officeDocument/2006/relationships/image" Target="/ppt/media/image10.png" Id="R5a738beed86a4c5c" /><Relationship Type="http://schemas.openxmlformats.org/officeDocument/2006/relationships/image" Target="/ppt/media/image11.png" Id="R48d4c867075242f8" /><Relationship Type="http://schemas.openxmlformats.org/officeDocument/2006/relationships/notesSlide" Target="/ppt/notesSlides/notesSlide19.xml" Id="R37725cc6ea954bf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8ec9b206fe141d4" /><Relationship Type="http://schemas.openxmlformats.org/officeDocument/2006/relationships/image" Target="/ppt/media/image12.png" Id="R8d19870699b14e83" /><Relationship Type="http://schemas.openxmlformats.org/officeDocument/2006/relationships/image" Target="/ppt/media/image13.png" Id="R7bd064272074483a" /><Relationship Type="http://schemas.openxmlformats.org/officeDocument/2006/relationships/notesSlide" Target="/ppt/notesSlides/notesSlide20.xml" Id="Ra4db4727edfc405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bb09ce5c6c140bc" /><Relationship Type="http://schemas.openxmlformats.org/officeDocument/2006/relationships/notesSlide" Target="/ppt/notesSlides/notesSlide21.xml" Id="R3a4def62d3394a5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bcd1f84255f47e0" /><Relationship Type="http://schemas.openxmlformats.org/officeDocument/2006/relationships/image" Target="/ppt/media/image14.png" Id="Recd21a7ca4774bf7" /><Relationship Type="http://schemas.openxmlformats.org/officeDocument/2006/relationships/notesSlide" Target="/ppt/notesSlides/notesSlide22.xml" Id="R196857e994e648e7" /></Relationships>
</file>

<file path=ppt/slides/charts/chart1.xml><?xml version="1.0" encoding="utf-8"?>
<c:chartSpace xmlns:c="http://schemas.openxmlformats.org/drawingml/2006/chart">
  <c:lang val="en-US"/>
  <c:roundedCorners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φ(t)</c:v>
                </c:pt>
              </c:strCache>
            </c:strRef>
          </c:tx>
          <c:spPr>
            <a:solidFill xmlns:a="http://schemas.openxmlformats.org/drawingml/2006/main">
              <a:srgbClr val="2F6BFF"/>
            </a:solidFill>
            <a:ln xmlns:a="http://schemas.openxmlformats.org/drawingml/2006/main" w="38160">
              <a:solidFill>
                <a:srgbClr val="2F6BFF"/>
              </a:solidFill>
            </a:ln>
          </c:spPr>
          <c:marker>
            <c:symbol val="none"/>
          </c:marker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u="none">
                    <a:solidFill>
                      <a:srgbClr val="000000"/>
                    </a:solidFill>
                    <a:latin typeface="DejaVu Sans"/>
                    <a:ea typeface="DejaVu Sans"/>
                    <a:cs typeface="DejaVu San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</c:dLbls>
          <c:cat>
            <c:numRef>
              <c:f>categories</c:f>
              <c:numCache>
                <c:formatCode>General</c:formatCode>
                <c:ptCount val="11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</c:numCache>
            </c:numRef>
          </c:cat>
          <c:val>
            <c:numRef>
              <c:f>0</c:f>
              <c:numCache>
                <c:formatCode>General</c:formatCode>
                <c:ptCount val="11"/>
                <c:pt idx="0">
                  <c:v>0.03</c:v>
                </c:pt>
                <c:pt idx="1">
                  <c:v>0.05</c:v>
                </c:pt>
                <c:pt idx="2">
                  <c:v>0.09</c:v>
                </c:pt>
                <c:pt idx="3">
                  <c:v>0.16</c:v>
                </c:pt>
                <c:pt idx="4">
                  <c:v>0.29</c:v>
                </c:pt>
                <c:pt idx="5">
                  <c:v>0.5</c:v>
                </c:pt>
                <c:pt idx="6">
                  <c:v>0.71</c:v>
                </c:pt>
                <c:pt idx="7">
                  <c:v>0.84</c:v>
                </c:pt>
                <c:pt idx="8">
                  <c:v>0.91</c:v>
                </c:pt>
                <c:pt idx="9">
                  <c:v>0.95</c:v>
                </c:pt>
                <c:pt idx="10">
                  <c:v>0.97</c:v>
                </c:pt>
              </c:numCache>
            </c:numRef>
          </c:val>
          <c:smooth val="1"/>
        </c:ser>
        <c:axId val="73150857"/>
        <c:axId val="33080380"/>
      </c:lineChart>
      <c:catAx>
        <c:axId val="73150857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 b="1" u="none">
                    <a:solidFill>
                      <a:srgbClr val="516078"/>
                    </a:solidFill>
                    <a:latin typeface="Calibri"/>
                    <a:ea typeface="Calibri"/>
                    <a:cs typeface="Calibri"/>
                  </a:rPr>
                  <a:t>训练轮次 t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 u="none">
                  <a:solidFill>
                    <a:srgbClr val="516078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General" sourceLinked="0"/>
        <c:majorTickMark val="none"/>
        <c:minorTickMark val="none"/>
        <c:tickLblPos val="nextTo"/>
        <c:spPr>
          <a:ln xmlns:a="http://schemas.openxmlformats.org/drawingml/2006/main" w="9360">
            <a:solidFill>
              <a:srgbClr val="DDE4E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 b="0" u="none">
                <a:solidFill>
                  <a:srgbClr val="7B879B"/>
                </a:solidFill>
                <a:latin typeface="Calibri"/>
                <a:ea typeface="Calibri"/>
                <a:cs typeface="Calibri"/>
              </a:defRPr>
            </a:pPr>
          </a:p>
        </c:txPr>
        <c:crossAx val="33080380"/>
        <c:crosses val="autoZero"/>
      </c:catAx>
      <c:valAx>
        <c:axId val="33080380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360">
              <a:solidFill>
                <a:srgbClr val="EDF1F6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 b="1" u="none">
                    <a:solidFill>
                      <a:srgbClr val="516078"/>
                    </a:solidFill>
                    <a:latin typeface="Calibri"/>
                    <a:ea typeface="Calibri"/>
                    <a:cs typeface="Calibri"/>
                  </a:rPr>
                  <a:t>全局权重 φ(t)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 u="none">
                  <a:solidFill>
                    <a:srgbClr val="516078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.0" sourceLinked="0"/>
        <c:majorTickMark val="none"/>
        <c:minorTickMark val="none"/>
        <c:tickLblPos val="nextTo"/>
        <c:spPr>
          <a:ln xmlns:a="http://schemas.openxmlformats.org/drawingml/2006/main" w="9360">
            <a:solidFill>
              <a:srgbClr val="DDE4E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 b="0" u="none">
                <a:solidFill>
                  <a:srgbClr val="7B879B"/>
                </a:solidFill>
                <a:latin typeface="Calibri"/>
                <a:ea typeface="Calibri"/>
                <a:cs typeface="Calibri"/>
              </a:defRPr>
            </a:pPr>
          </a:p>
        </c:txPr>
        <c:crossAx val="73150857"/>
        <c:crosses val="autoZero"/>
        <c:crossBetween val="between"/>
        <c:majorUnit val="0.2"/>
      </c:valAx>
      <c:spPr>
        <a:solidFill xmlns:a="http://schemas.openxmlformats.org/drawingml/2006/main">
          <a:srgbClr val="FFFFFF"/>
        </a:solidFill>
        <a:ln xmlns:a="http://schemas.openxmlformats.org/drawingml/2006/main" w="9360">
          <a:solidFill>
            <a:srgbClr val="DDE4EE"/>
          </a:solidFill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261BAA-7495-4C6F-83D9-24B2700B9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160" y="533520"/>
            <a:ext cx="5009760" cy="5771880"/>
          </a:xfrm>
          <a:prstGeom xmlns:a="http://schemas.openxmlformats.org/drawingml/2006/main" prst="roundRect">
            <a:avLst>
              <a:gd name="adj" fmla="val 3042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360">
            <a:solidFill>
              <a:srgbClr val="D5E0FF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3B384F-94F6-4D33-BE6A-E8BF575EE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760" y="762120"/>
            <a:ext cx="4552560" cy="5314680"/>
          </a:xfrm>
          <a:prstGeom xmlns:a="http://schemas.openxmlformats.org/drawingml/2006/main" prst="roundRect">
            <a:avLst>
              <a:gd name="adj" fmla="val 2510"/>
            </a:avLst>
          </a:prstGeom>
          <a:blipFill xmlns:a="http://schemas.openxmlformats.org/drawingml/2006/main" rotWithShape="0">
            <a:blip xmlns:r="http://schemas.openxmlformats.org/officeDocument/2006/relationships" r:embed="R2f625002d6694797"/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0E2E43-6BF3-4295-96ED-546268680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60"/>
            <a:ext cx="247608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130" b="1" u="none">
                <a:solidFill>
                  <a:srgbClr val="2F6BFF"/>
                </a:solidFill>
                <a:latin typeface="Noto Sans CJK SC"/>
                <a:ea typeface="Noto Sans CJK SC"/>
                <a:cs typeface="Noto Sans CJK SC"/>
              </a:rPr>
              <a:t>ROBOCUP 2026</a:t>
            </a:r>
            <a:endParaRPr sz="113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C9F317-8688-44E0-BDDA-489692749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20"/>
            <a:ext cx="5238360" cy="780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 lnSpcReduction="999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5250" b="1" u="none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FedPKDA</a:t>
            </a:r>
            <a:endParaRPr sz="52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65EA52-8FAA-4AD0-8891-E2D1B953F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400"/>
            <a:ext cx="5333760" cy="55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2930" b="1" u="none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联邦入侵检测协作平台</a:t>
            </a:r>
            <a:endParaRPr sz="293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34BA2D-190A-4BDC-9B4C-5CEA2AA2E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80"/>
            <a:ext cx="990360" cy="37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7D6"/>
          </a:solidFill>
          <a:ln xmlns:a="http://schemas.openxmlformats.org/drawingml/2006/main" w="0">
            <a:solidFill>
              <a:srgbClr val="22C7D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18000" rIns="90000" bIns="-18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F6D042-E4B7-4ACB-BA42-512A9814E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280"/>
            <a:ext cx="495252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2250" b="1" u="none">
                <a:solidFill>
                  <a:srgbClr val="2F6BFF"/>
                </a:solidFill>
                <a:latin typeface="Noto Sans CJK SC"/>
                <a:ea typeface="Noto Sans CJK SC"/>
                <a:cs typeface="Noto Sans CJK SC"/>
              </a:rPr>
              <a:t>数据不出域，知识可共享</a:t>
            </a:r>
            <a:endParaRPr sz="22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845341-4E16-4BAA-BAB5-648AAAF0D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280"/>
            <a:ext cx="4952520" cy="323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500" b="0" u="none">
                <a:solidFill>
                  <a:srgbClr val="516078"/>
                </a:solidFill>
                <a:latin typeface="Noto Sans CJK SC"/>
                <a:ea typeface="Noto Sans CJK SC"/>
                <a:cs typeface="Noto Sans CJK SC"/>
              </a:rPr>
              <a:t>AAAI 2026 </a:t>
            </a:r>
            <a:r>
              <a:rPr sz="1500" b="0" u="none">
                <a:solidFill>
                  <a:srgbClr val="516078"/>
                </a:solidFill>
                <a:latin typeface="Noto Sans CJK SC"/>
                <a:ea typeface="Noto Sans CJK SC"/>
                <a:cs typeface="Noto Sans CJK SC"/>
              </a:rPr>
              <a:t>算法成果 </a:t>
            </a:r>
            <a:r>
              <a:rPr sz="1500" b="0" u="none">
                <a:solidFill>
                  <a:srgbClr val="516078"/>
                </a:solidFill>
                <a:latin typeface="Noto Sans CJK SC"/>
                <a:ea typeface="Noto Sans CJK SC"/>
                <a:cs typeface="Noto Sans CJK SC"/>
              </a:rPr>
              <a:t>× </a:t>
            </a:r>
            <a:r>
              <a:rPr sz="1500" b="0" u="none">
                <a:solidFill>
                  <a:srgbClr val="516078"/>
                </a:solidFill>
                <a:latin typeface="Noto Sans CJK SC"/>
                <a:ea typeface="Noto Sans CJK SC"/>
                <a:cs typeface="Noto Sans CJK SC"/>
              </a:rPr>
              <a:t>可运行协作系统</a:t>
            </a:r>
            <a:endParaRPr sz="15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7DA12C-41A2-408E-91DE-CC1C46F3D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20"/>
            <a:ext cx="4762080" cy="285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280" b="0" u="none">
                <a:solidFill>
                  <a:srgbClr val="7B879B"/>
                </a:solidFill>
                <a:latin typeface="Noto Sans CJK SC"/>
                <a:ea typeface="Noto Sans CJK SC"/>
                <a:cs typeface="Noto Sans CJK SC"/>
              </a:rPr>
              <a:t>队伍：</a:t>
            </a:r>
            <a:r>
              <a:rPr sz="1280" b="0" u="none">
                <a:solidFill>
                  <a:srgbClr val="7B879B"/>
                </a:solidFill>
                <a:latin typeface="Noto Sans CJK SC"/>
                <a:ea typeface="Noto Sans CJK SC"/>
                <a:cs typeface="Noto Sans CJK SC"/>
              </a:rPr>
              <a:t>__________    </a:t>
            </a:r>
            <a:r>
              <a:rPr sz="1280" b="0" u="none">
                <a:solidFill>
                  <a:srgbClr val="7B879B"/>
                </a:solidFill>
                <a:latin typeface="Noto Sans CJK SC"/>
                <a:ea typeface="Noto Sans CJK SC"/>
                <a:cs typeface="Noto Sans CJK SC"/>
              </a:rPr>
              <a:t>成员：</a:t>
            </a:r>
            <a:r>
              <a:rPr sz="1280" b="0" u="none">
                <a:solidFill>
                  <a:srgbClr val="7B879B"/>
                </a:solidFill>
                <a:latin typeface="Noto Sans CJK SC"/>
                <a:ea typeface="Noto Sans CJK SC"/>
                <a:cs typeface="Noto Sans CJK SC"/>
              </a:rPr>
              <a:t>__________</a:t>
            </a:r>
            <a:endParaRPr sz="128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9846333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F9EB31-04D7-4DA6-8FEF-3A2E280F1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324000"/>
            <a:ext cx="495252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50" b="1" u="none">
                <a:solidFill>
                  <a:srgbClr val="2F6BFF"/>
                </a:solidFill>
                <a:latin typeface="Noto Sans CJK SC"/>
                <a:ea typeface="Noto Sans CJK SC"/>
                <a:cs typeface="Noto Sans CJK SC"/>
              </a:rPr>
              <a:t>CONTENTS</a:t>
            </a:r>
            <a:endParaRPr sz="10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F51AC4-CA19-484B-BB21-B441F1702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647640"/>
            <a:ext cx="10667520" cy="57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3230" b="1" u="none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目录</a:t>
            </a:r>
            <a:endParaRPr sz="323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386BB6-B876-412A-AAF5-A8EB4340E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1295280"/>
            <a:ext cx="10972440" cy="9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4EE"/>
          </a:solidFill>
          <a:ln xmlns:a="http://schemas.openxmlformats.org/drawingml/2006/main" w="0">
            <a:solidFill>
              <a:srgbClr val="DDE4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8160" rIns="90000" bIns="-3816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5361A0-916D-4F5F-B625-D1530259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1285920"/>
            <a:ext cx="894960" cy="280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2F6BFF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24840" rIns="90000" bIns="-2484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8E29C4-3561-46E8-9936-5BA9F6C06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40" y="324000"/>
            <a:ext cx="47592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</a:pPr>
            <a:r>
              <a:rPr sz="1050" b="1" u="none">
                <a:solidFill>
                  <a:srgbClr val="7B879B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10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856B78-267B-4571-A1DE-88EC7147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080" y="1752480"/>
            <a:ext cx="685440" cy="39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870" b="1" u="none">
                <a:solidFill>
                  <a:srgbClr val="E75255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sz="187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455C0C-AA92-4F6F-A3D9-E58DBC142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640" y="1676520"/>
            <a:ext cx="666720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2250" b="1" u="none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背景与问题</a:t>
            </a:r>
            <a:endParaRPr sz="22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16FB5A-34F7-4286-AF69-4DAFB7748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160" y="1752480"/>
            <a:ext cx="1142640" cy="304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</a:pPr>
            <a:r>
              <a:rPr sz="1350" b="1" u="none">
                <a:solidFill>
                  <a:srgbClr val="7B879B"/>
                </a:solidFill>
                <a:latin typeface="Noto Sans CJK SC"/>
                <a:ea typeface="Noto Sans CJK SC"/>
                <a:cs typeface="Noto Sans CJK SC"/>
              </a:rPr>
              <a:t>04-05</a:t>
            </a:r>
            <a:endParaRPr sz="13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EDC63C-6025-46E8-87CC-84300403C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640" y="2228760"/>
            <a:ext cx="9353160" cy="9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4EE"/>
          </a:solidFill>
          <a:ln xmlns:a="http://schemas.openxmlformats.org/drawingml/2006/main" w="0">
            <a:solidFill>
              <a:srgbClr val="DDE4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8160" rIns="90000" bIns="-3816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1F7552A-B32C-4243-9D73-3B50A15C4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080" y="2629080"/>
            <a:ext cx="685440" cy="39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870" b="1" u="none">
                <a:solidFill>
                  <a:srgbClr val="2F6BFF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187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E042BD2-BC93-43E9-B7D5-86444CF90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640" y="2552760"/>
            <a:ext cx="666720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2250" b="1" u="none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FedPKDA </a:t>
            </a:r>
            <a:r>
              <a:rPr sz="2250" b="1" u="none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三大突破</a:t>
            </a:r>
            <a:endParaRPr sz="22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7DBAFFB-5BC7-4CD4-9B2C-3102C88B2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160" y="2629080"/>
            <a:ext cx="1142640" cy="304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</a:pPr>
            <a:r>
              <a:rPr sz="1350" b="1" u="none">
                <a:solidFill>
                  <a:srgbClr val="7B879B"/>
                </a:solidFill>
                <a:latin typeface="Noto Sans CJK SC"/>
                <a:ea typeface="Noto Sans CJK SC"/>
                <a:cs typeface="Noto Sans CJK SC"/>
              </a:rPr>
              <a:t>07-09</a:t>
            </a:r>
            <a:endParaRPr sz="13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6A533AA-ED9F-4F7C-B3A5-2007F11FF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640" y="3105000"/>
            <a:ext cx="9353160" cy="9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4EE"/>
          </a:solidFill>
          <a:ln xmlns:a="http://schemas.openxmlformats.org/drawingml/2006/main" w="0">
            <a:solidFill>
              <a:srgbClr val="DDE4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8160" rIns="90000" bIns="-3816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6DB59C0-BA80-4F69-ADA8-5EA3F56B4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080" y="3505320"/>
            <a:ext cx="685440" cy="39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870" b="1" u="none">
                <a:solidFill>
                  <a:srgbClr val="24B787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187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9EF69EF-C28E-4599-95DF-10D978C2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640" y="3429000"/>
            <a:ext cx="666720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2250" b="1" u="none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实验验证</a:t>
            </a:r>
            <a:endParaRPr sz="22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5C1E219-0F1F-4A4B-9FBC-674FB6318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160" y="3505320"/>
            <a:ext cx="1142640" cy="304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</a:pPr>
            <a:r>
              <a:rPr sz="1350" b="1" u="none">
                <a:solidFill>
                  <a:srgbClr val="7B879B"/>
                </a:solidFill>
                <a:latin typeface="Noto Sans CJK SC"/>
                <a:ea typeface="Noto Sans CJK SC"/>
                <a:cs typeface="Noto Sans CJK SC"/>
              </a:rPr>
              <a:t>11-12</a:t>
            </a:r>
            <a:endParaRPr sz="13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60FD9DC-784A-4286-9E2B-EDC8249DA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640" y="3981600"/>
            <a:ext cx="9353160" cy="9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4EE"/>
          </a:solidFill>
          <a:ln xmlns:a="http://schemas.openxmlformats.org/drawingml/2006/main" w="0">
            <a:solidFill>
              <a:srgbClr val="DDE4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8160" rIns="90000" bIns="-3816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09F89BA-09B0-4DD4-B0A8-674C74C76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080" y="4381560"/>
            <a:ext cx="685440" cy="39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870" b="1" u="none">
                <a:solidFill>
                  <a:srgbClr val="22C7D6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187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E6887E1-D91C-40E3-A999-5A89F3973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640" y="4305240"/>
            <a:ext cx="666720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2250" b="1" u="none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系统设计</a:t>
            </a:r>
            <a:endParaRPr sz="22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411C897-D14D-4AF5-8D1A-8950C1884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160" y="4381560"/>
            <a:ext cx="1142640" cy="304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</a:pPr>
            <a:r>
              <a:rPr sz="1350" b="1" u="none">
                <a:solidFill>
                  <a:srgbClr val="7B879B"/>
                </a:solidFill>
                <a:latin typeface="Noto Sans CJK SC"/>
                <a:ea typeface="Noto Sans CJK SC"/>
                <a:cs typeface="Noto Sans CJK SC"/>
              </a:rPr>
              <a:t>14-15</a:t>
            </a:r>
            <a:endParaRPr sz="13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622503B-9F58-45CC-90D3-1C0A90802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640" y="4857840"/>
            <a:ext cx="9353160" cy="9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4EE"/>
          </a:solidFill>
          <a:ln xmlns:a="http://schemas.openxmlformats.org/drawingml/2006/main" w="0">
            <a:solidFill>
              <a:srgbClr val="DDE4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8160" rIns="90000" bIns="-3816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566A24B-E024-40EA-AC87-8560A3621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080" y="5257800"/>
            <a:ext cx="685440" cy="39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870" b="1" u="none">
                <a:solidFill>
                  <a:srgbClr val="F59E0B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 sz="187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10EE262-8CD0-4AF7-9F2C-025B54869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640" y="5181480"/>
            <a:ext cx="666720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2250" b="1" u="none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应用与总结</a:t>
            </a:r>
            <a:endParaRPr sz="22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B05C6E4-E59C-4345-B348-F877C833D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160" y="5257800"/>
            <a:ext cx="1142640" cy="304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</a:pPr>
            <a:r>
              <a:rPr sz="1350" b="1" u="none">
                <a:solidFill>
                  <a:srgbClr val="7B879B"/>
                </a:solidFill>
                <a:latin typeface="Noto Sans CJK SC"/>
                <a:ea typeface="Noto Sans CJK SC"/>
                <a:cs typeface="Noto Sans CJK SC"/>
              </a:rPr>
              <a:t>17-21</a:t>
            </a:r>
            <a:endParaRPr sz="13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2B25DA6-7026-46C7-82E8-2DBEB815B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640" y="5734080"/>
            <a:ext cx="9353160" cy="9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DDEA"/>
          </a:solidFill>
          <a:ln xmlns:a="http://schemas.openxmlformats.org/drawingml/2006/main" w="0">
            <a:solidFill>
              <a:srgbClr val="D5DDEA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8160" rIns="90000" bIns="-3816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593136D-521F-4ABD-9321-59F5D7E60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6534000"/>
            <a:ext cx="6667200" cy="17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820" b="0" u="none">
                <a:solidFill>
                  <a:srgbClr val="7B879B"/>
                </a:solidFill>
                <a:latin typeface="Noto Sans CJK SC"/>
                <a:ea typeface="Noto Sans CJK SC"/>
                <a:cs typeface="Noto Sans CJK SC"/>
              </a:rPr>
              <a:t>FedPKDA · RoboCup 2026</a:t>
            </a:r>
            <a:endParaRPr sz="82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139828686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622BD1DD-5CE9-456E-8D37-1E5CA729F4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200400" y="2286000"/>
            <a:ext cx="61722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l">
              <a:lnSpc>
                <a:spcPct val="90000"/>
              </a:lnSpc>
              <a:buNone/>
            </a:pPr>
            <a:r>
              <a:rPr sz="6600" b="1" u="none">
                <a:solidFill>
                  <a:schemeClr val="dk1"/>
                </a:solidFill>
                <a:latin typeface="Calibri Light"/>
                <a:ea typeface="Calibri Light"/>
                <a:cs typeface="Calibri Light"/>
              </a:rPr>
              <a:t>背景与挑战</a:t>
            </a:r>
            <a:endParaRPr sz="6600" b="0" u="none">
              <a:solidFill>
                <a:schemeClr val="dk1"/>
              </a:solidFill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AB505CB-C9C4-4CCF-8CCC-3CFF3017E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080" y="1352880"/>
            <a:ext cx="1104480" cy="37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7D6"/>
          </a:solidFill>
          <a:ln xmlns:a="http://schemas.openxmlformats.org/drawingml/2006/main" w="0">
            <a:solidFill>
              <a:srgbClr val="22C7D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18000" rIns="90000" bIns="-18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54810ED-1D5D-41AB-A6CE-E9E5FC99D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840" y="5143680"/>
            <a:ext cx="2476080" cy="187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3456C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1320" rIns="90000" bIns="-3132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D712871-0D49-4FCF-8406-41EA81587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680" y="4953240"/>
            <a:ext cx="704520" cy="704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7D6"/>
          </a:solidFill>
          <a:ln xmlns:a="http://schemas.openxmlformats.org/drawingml/2006/main" w="0">
            <a:solidFill>
              <a:srgbClr val="22C7D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6146153-FB9F-46C8-9E15-191E99711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440" y="876240"/>
            <a:ext cx="1428480" cy="1428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EA6B"/>
          </a:solidFill>
          <a:ln xmlns:a="http://schemas.openxmlformats.org/drawingml/2006/main" w="9360">
            <a:solidFill>
              <a:srgbClr val="F6F9D4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F973443-F606-4C70-AC86-2A0DFD15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87400"/>
            <a:ext cx="675000" cy="503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r>
              <a:rPr sz="2800" b="1" u="none">
                <a:solidFill>
                  <a:srgbClr val="FF0000"/>
                </a:solidFill>
                <a:latin typeface="DejaVu Sans"/>
                <a:ea typeface="DejaVu Sans"/>
                <a:cs typeface="DejaVu Sans"/>
              </a:rPr>
              <a:t>01</a:t>
            </a:r>
            <a:endParaRPr sz="2800" b="1" u="none">
              <a:solidFill>
                <a:srgbClr val="FF0000"/>
              </a:solidFill>
              <a:latin typeface="DejaVu Sans"/>
              <a:ea typeface="DejaVu Sans"/>
              <a:cs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20190927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61F66A0-CEA0-4C24-8BF5-FAE1AA935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324000"/>
            <a:ext cx="495252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50" b="1" u="none">
                <a:solidFill>
                  <a:srgbClr val="2F6BFF"/>
                </a:solidFill>
                <a:latin typeface="Noto Sans CJK SC"/>
                <a:ea typeface="Noto Sans CJK SC"/>
                <a:cs typeface="Noto Sans CJK SC"/>
              </a:rPr>
              <a:t>01 / BACKGROUND</a:t>
            </a:r>
            <a:endParaRPr sz="10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DA1E115-FC37-424D-8EE3-697DA5FBE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647640"/>
            <a:ext cx="10667520" cy="57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3000" b="1" u="none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联邦学习让数据留在本地，通过模型更新完成多方协作</a:t>
            </a:r>
            <a:endParaRPr sz="30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7DE88AB-D3AB-4D36-972E-CA7A66FE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1295280"/>
            <a:ext cx="10972440" cy="9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4EE"/>
          </a:solidFill>
          <a:ln xmlns:a="http://schemas.openxmlformats.org/drawingml/2006/main" w="0">
            <a:solidFill>
              <a:srgbClr val="DDE4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8160" rIns="90000" bIns="-3816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65BF45C-06BC-480B-A872-A7EC2769F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1285920"/>
            <a:ext cx="894960" cy="280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2F6BFF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24840" rIns="90000" bIns="-2484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085A033-2244-43EB-8293-BF3DFE381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40" y="324000"/>
            <a:ext cx="47592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</a:pPr>
            <a:r>
              <a:rPr sz="1050" b="1" u="none">
                <a:solidFill>
                  <a:srgbClr val="7B879B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10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5BAB75D-3BFE-49FE-B2CF-507EC202C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1886040"/>
            <a:ext cx="2571480" cy="100944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520">
            <a:solidFill>
              <a:srgbClr val="C9D8FF"/>
            </a:solidFill>
          </a:ln>
          <a:effectLst xmlns:a="http://schemas.openxmlformats.org/drawingml/2006/main">
            <a:outerShdw blurRad="19080" dist="9360" dir="5400000" rotWithShape="0">
              <a:srgbClr val="000000">
                <a:alpha val="6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14480" tIns="57240" rIns="114480" bIns="5724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</a:pPr>
            <a:r>
              <a:rPr sz="1430" b="1" u="none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金融机构</a:t>
            </a:r>
            <a:endParaRPr sz="143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  <a:p xmlns:a="http://schemas.openxmlformats.org/drawingml/2006/main">
            <a:pPr algn="ctr">
              <a:lnSpc>
                <a:spcPct val="115000"/>
              </a:lnSpc>
              <a:buNone/>
            </a:pPr>
            <a:r>
              <a:rPr sz="1430" b="1" u="none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本地数据 </a:t>
            </a:r>
            <a:r>
              <a:rPr sz="1430" b="1" u="none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· </a:t>
            </a:r>
            <a:r>
              <a:rPr sz="1430" b="1" u="none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本地训练</a:t>
            </a:r>
            <a:endParaRPr sz="143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20EC894-4CF5-49B2-9BCF-1F492F54B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3257640"/>
            <a:ext cx="2571480" cy="100944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520">
            <a:solidFill>
              <a:srgbClr val="C9D8FF"/>
            </a:solidFill>
          </a:ln>
          <a:effectLst xmlns:a="http://schemas.openxmlformats.org/drawingml/2006/main">
            <a:outerShdw blurRad="19080" dist="9360" dir="5400000" rotWithShape="0">
              <a:srgbClr val="000000">
                <a:alpha val="6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14480" tIns="57240" rIns="114480" bIns="5724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</a:pPr>
            <a:r>
              <a:rPr sz="1430" b="1" u="none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医疗机构</a:t>
            </a:r>
            <a:endParaRPr sz="143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  <a:p xmlns:a="http://schemas.openxmlformats.org/drawingml/2006/main">
            <a:pPr algn="ctr">
              <a:lnSpc>
                <a:spcPct val="115000"/>
              </a:lnSpc>
              <a:buNone/>
            </a:pPr>
            <a:r>
              <a:rPr sz="1430" b="1" u="none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本地数据 </a:t>
            </a:r>
            <a:r>
              <a:rPr sz="1430" b="1" u="none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· </a:t>
            </a:r>
            <a:r>
              <a:rPr sz="1430" b="1" u="none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本地训练</a:t>
            </a:r>
            <a:endParaRPr sz="143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EB6633E-5D8C-4E97-940F-A0222F89A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4629240"/>
            <a:ext cx="2571480" cy="100944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520">
            <a:solidFill>
              <a:srgbClr val="C9D8FF"/>
            </a:solidFill>
          </a:ln>
          <a:effectLst xmlns:a="http://schemas.openxmlformats.org/drawingml/2006/main">
            <a:outerShdw blurRad="19080" dist="9360" dir="5400000" rotWithShape="0">
              <a:srgbClr val="000000">
                <a:alpha val="6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14480" tIns="57240" rIns="114480" bIns="5724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</a:pPr>
            <a:r>
              <a:rPr sz="1430" b="1" u="none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能源 </a:t>
            </a:r>
            <a:r>
              <a:rPr sz="1430" b="1" u="none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/ </a:t>
            </a:r>
            <a:r>
              <a:rPr sz="1430" b="1" u="none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工业机构</a:t>
            </a:r>
            <a:endParaRPr sz="143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  <a:p xmlns:a="http://schemas.openxmlformats.org/drawingml/2006/main">
            <a:pPr algn="ctr">
              <a:lnSpc>
                <a:spcPct val="115000"/>
              </a:lnSpc>
              <a:buNone/>
            </a:pPr>
            <a:r>
              <a:rPr sz="1430" b="1" u="none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本地数据 </a:t>
            </a:r>
            <a:r>
              <a:rPr sz="1430" b="1" u="none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· </a:t>
            </a:r>
            <a:r>
              <a:rPr sz="1430" b="1" u="none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本地训练</a:t>
            </a:r>
            <a:endParaRPr sz="143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7C5591A-B82C-4AAC-9626-83C35749A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6000" y="2800440"/>
            <a:ext cx="2723760" cy="158076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0B1530"/>
          </a:solidFill>
          <a:ln xmlns:a="http://schemas.openxmlformats.org/drawingml/2006/main" w="11520">
            <a:solidFill>
              <a:srgbClr val="0B1530"/>
            </a:solidFill>
          </a:ln>
          <a:effectLst xmlns:a="http://schemas.openxmlformats.org/drawingml/2006/main">
            <a:outerShdw blurRad="19080" dist="9360" dir="5400000" rotWithShape="0">
              <a:srgbClr val="000000">
                <a:alpha val="6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14480" tIns="57240" rIns="114480" bIns="5724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</a:pPr>
            <a:r>
              <a:rPr sz="1800" b="1" u="none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协调服务器</a:t>
            </a:r>
            <a:endParaRPr sz="1800" b="0" u="none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  <a:p xmlns:a="http://schemas.openxmlformats.org/drawingml/2006/main">
            <a:pPr algn="ctr">
              <a:lnSpc>
                <a:spcPct val="115000"/>
              </a:lnSpc>
              <a:buNone/>
            </a:pPr>
            <a:r>
              <a:rPr sz="1800" b="1" u="none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聚合模型更新</a:t>
            </a:r>
            <a:endParaRPr sz="1800" b="0" u="none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E72FC12-B018-42C6-8836-14F817E0E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60" y="2800440"/>
            <a:ext cx="2628720" cy="158076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E5FAFC"/>
          </a:solidFill>
          <a:ln xmlns:a="http://schemas.openxmlformats.org/drawingml/2006/main" w="11520">
            <a:solidFill>
              <a:srgbClr val="22C7D6"/>
            </a:solidFill>
          </a:ln>
          <a:effectLst xmlns:a="http://schemas.openxmlformats.org/drawingml/2006/main">
            <a:outerShdw blurRad="19080" dist="9360" dir="5400000" rotWithShape="0">
              <a:srgbClr val="000000">
                <a:alpha val="6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14480" tIns="57240" rIns="114480" bIns="5724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</a:pPr>
            <a:r>
              <a:rPr sz="1800" b="1" u="none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全局模型</a:t>
            </a:r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  <a:p xmlns:a="http://schemas.openxmlformats.org/drawingml/2006/main">
            <a:pPr algn="ctr">
              <a:lnSpc>
                <a:spcPct val="115000"/>
              </a:lnSpc>
              <a:buNone/>
            </a:pPr>
            <a:r>
              <a:rPr sz="1800" b="1" u="none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广播回各机构</a:t>
            </a:r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cxnSp>
        <p:nvCxnSpPr>
          <p:cNvPr id="97" name=""/>
          <p:cNvCxnSpPr>
            <a:stCxn xmlns:a="http://schemas.openxmlformats.org/drawingml/2006/main" id="60" idx="3"/>
            <a:endCxn xmlns:a="http://schemas.openxmlformats.org/drawingml/2006/main" id="63" idx="1"/>
          </p:cNvCxnSpPr>
          <p:nvPr/>
        </p:nvCxnSpPr>
        <p:spPr>
          <a:xfrm xmlns:a="http://schemas.openxmlformats.org/drawingml/2006/main">
            <a:off x="3180960" y="2390760"/>
            <a:ext cx="1715400" cy="1200600"/>
          </a:xfrm>
          <a:prstGeom xmlns:a="http://schemas.openxmlformats.org/drawingml/2006/main" prst="straightConnector1">
            <a:avLst/>
          </a:prstGeom>
          <a:ln xmlns:a="http://schemas.openxmlformats.org/drawingml/2006/main" w="19080">
            <a:solidFill>
              <a:srgbClr val="2F6BFF"/>
            </a:solidFill>
            <a:round/>
            <a:tailEnd type="triangle" w="sm" len="sm"/>
          </a:ln>
        </p:spPr>
      </p:cxnSp>
      <p:cxnSp>
        <p:nvCxnSpPr>
          <p:cNvPr id="98" name=""/>
          <p:cNvCxnSpPr>
            <a:stCxn xmlns:a="http://schemas.openxmlformats.org/drawingml/2006/main" id="61" idx="3"/>
            <a:endCxn xmlns:a="http://schemas.openxmlformats.org/drawingml/2006/main" id="63" idx="1"/>
          </p:cNvCxnSpPr>
          <p:nvPr/>
        </p:nvCxnSpPr>
        <p:spPr>
          <a:xfrm xmlns:a="http://schemas.openxmlformats.org/drawingml/2006/main" flipV="1">
            <a:off x="3180960" y="3591000"/>
            <a:ext cx="1715400" cy="171720"/>
          </a:xfrm>
          <a:prstGeom xmlns:a="http://schemas.openxmlformats.org/drawingml/2006/main" prst="straightConnector1">
            <a:avLst/>
          </a:prstGeom>
          <a:ln xmlns:a="http://schemas.openxmlformats.org/drawingml/2006/main" w="19080">
            <a:solidFill>
              <a:srgbClr val="2F6BFF"/>
            </a:solidFill>
            <a:round/>
            <a:tailEnd type="triangle" w="sm" len="sm"/>
          </a:ln>
        </p:spPr>
      </p:cxnSp>
      <p:cxnSp>
        <p:nvCxnSpPr>
          <p:cNvPr id="99" name=""/>
          <p:cNvCxnSpPr>
            <a:stCxn xmlns:a="http://schemas.openxmlformats.org/drawingml/2006/main" id="62" idx="3"/>
            <a:endCxn xmlns:a="http://schemas.openxmlformats.org/drawingml/2006/main" id="63" idx="1"/>
          </p:cNvCxnSpPr>
          <p:nvPr/>
        </p:nvCxnSpPr>
        <p:spPr>
          <a:xfrm xmlns:a="http://schemas.openxmlformats.org/drawingml/2006/main" flipV="1">
            <a:off x="3180960" y="3591000"/>
            <a:ext cx="1715400" cy="1543320"/>
          </a:xfrm>
          <a:prstGeom xmlns:a="http://schemas.openxmlformats.org/drawingml/2006/main" prst="straightConnector1">
            <a:avLst/>
          </a:prstGeom>
          <a:ln xmlns:a="http://schemas.openxmlformats.org/drawingml/2006/main" w="19080">
            <a:solidFill>
              <a:srgbClr val="2F6BFF"/>
            </a:solidFill>
            <a:round/>
            <a:tailEnd type="triangle" w="sm" len="sm"/>
          </a:ln>
        </p:spPr>
      </p:cxnSp>
      <p:cxnSp>
        <p:nvCxnSpPr>
          <p:cNvPr id="100" name=""/>
          <p:cNvCxnSpPr>
            <a:stCxn xmlns:a="http://schemas.openxmlformats.org/drawingml/2006/main" id="63" idx="3"/>
            <a:endCxn xmlns:a="http://schemas.openxmlformats.org/drawingml/2006/main" id="64" idx="1"/>
          </p:cNvCxnSpPr>
          <p:nvPr/>
        </p:nvCxnSpPr>
        <p:spPr>
          <a:xfrm xmlns:a="http://schemas.openxmlformats.org/drawingml/2006/main">
            <a:off x="7619760" y="3591000"/>
            <a:ext cx="1334160" cy="360"/>
          </a:xfrm>
          <a:prstGeom xmlns:a="http://schemas.openxmlformats.org/drawingml/2006/main" prst="straightConnector1">
            <a:avLst/>
          </a:prstGeom>
          <a:ln xmlns:a="http://schemas.openxmlformats.org/drawingml/2006/main" w="23040">
            <a:solidFill>
              <a:srgbClr val="22C7D6"/>
            </a:solidFill>
            <a:round/>
            <a:tailEnd type="triangle" w="sm" len="sm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73B8CA8-B2BD-43FB-8501-B238F81A5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60" y="2247840"/>
            <a:ext cx="2152440" cy="3236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360">
            <a:solidFill>
              <a:srgbClr val="EAF0FF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6320" tIns="0" rIns="7632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30" b="1" u="none">
                <a:solidFill>
                  <a:srgbClr val="2F6BFF"/>
                </a:solidFill>
                <a:latin typeface="Noto Sans CJK SC"/>
                <a:ea typeface="Noto Sans CJK SC"/>
                <a:cs typeface="Noto Sans CJK SC"/>
              </a:rPr>
              <a:t>上传：梯度 </a:t>
            </a:r>
            <a:r>
              <a:rPr sz="1130" b="1" u="none">
                <a:solidFill>
                  <a:srgbClr val="2F6BFF"/>
                </a:solidFill>
                <a:latin typeface="Noto Sans CJK SC"/>
                <a:ea typeface="Noto Sans CJK SC"/>
                <a:cs typeface="Noto Sans CJK SC"/>
              </a:rPr>
              <a:t>/ </a:t>
            </a:r>
            <a:r>
              <a:rPr sz="1130" b="1" u="none">
                <a:solidFill>
                  <a:srgbClr val="2F6BFF"/>
                </a:solidFill>
                <a:latin typeface="Noto Sans CJK SC"/>
                <a:ea typeface="Noto Sans CJK SC"/>
                <a:cs typeface="Noto Sans CJK SC"/>
              </a:rPr>
              <a:t>模型参数</a:t>
            </a:r>
            <a:endParaRPr sz="113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546B141-EDBA-4167-9A65-93AECE71D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200" y="4591080"/>
            <a:ext cx="837720" cy="3045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360">
            <a:solidFill>
              <a:srgbClr val="EAF0FF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6320" tIns="0" rIns="7632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30" b="1" u="none">
                <a:solidFill>
                  <a:srgbClr val="2F6BFF"/>
                </a:solidFill>
                <a:latin typeface="Noto Sans CJK SC"/>
                <a:ea typeface="Noto Sans CJK SC"/>
                <a:cs typeface="Noto Sans CJK SC"/>
              </a:rPr>
              <a:t>聚合</a:t>
            </a:r>
            <a:endParaRPr sz="113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532DEB8-1251-4A29-B8E6-F2DDE185D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80" y="5238720"/>
            <a:ext cx="7467120" cy="514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650" b="1" u="none">
                <a:solidFill>
                  <a:srgbClr val="516078"/>
                </a:solidFill>
                <a:latin typeface="Noto Sans CJK SC"/>
                <a:ea typeface="Noto Sans CJK SC"/>
                <a:cs typeface="Noto Sans CJK SC"/>
              </a:rPr>
              <a:t>基本原则：原始数据不出机构域；参与方交换模型更新，而非直接交换样本。</a:t>
            </a:r>
            <a:endParaRPr sz="16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C81006D-7388-490F-816B-AFAF29740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6534000"/>
            <a:ext cx="6667200" cy="17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820" b="0" u="none">
                <a:solidFill>
                  <a:srgbClr val="7B879B"/>
                </a:solidFill>
                <a:latin typeface="Noto Sans CJK SC"/>
                <a:ea typeface="Noto Sans CJK SC"/>
                <a:cs typeface="Noto Sans CJK SC"/>
              </a:rPr>
              <a:t>FedPKDA · RoboCup 2026</a:t>
            </a:r>
            <a:endParaRPr sz="82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10531622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FADA137-13E9-4544-8F36-29A5440D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324000"/>
            <a:ext cx="495252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50" b="1" u="none">
                <a:solidFill>
                  <a:srgbClr val="2F6BFF"/>
                </a:solidFill>
                <a:latin typeface="Noto Sans CJK SC"/>
                <a:ea typeface="Noto Sans CJK SC"/>
                <a:cs typeface="Noto Sans CJK SC"/>
              </a:rPr>
              <a:t>01 / PROBLEM</a:t>
            </a:r>
            <a:endParaRPr sz="10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3ADC7E2-4884-4446-BFC0-A798BE31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647640"/>
            <a:ext cx="10667520" cy="57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2930" b="1" u="none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成熟协作仍留下三处缺口：可逆泄露、中心信任、异构不稳</a:t>
            </a:r>
            <a:endParaRPr sz="293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98D93F6-ED1B-4B4B-AAA6-9AD954C4C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1295280"/>
            <a:ext cx="10972440" cy="9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4EE"/>
          </a:solidFill>
          <a:ln xmlns:a="http://schemas.openxmlformats.org/drawingml/2006/main" w="0">
            <a:solidFill>
              <a:srgbClr val="DDE4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8160" rIns="90000" bIns="-3816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855D700-C64A-487C-A847-D6F71C98C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1285920"/>
            <a:ext cx="894960" cy="280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5255"/>
          </a:solidFill>
          <a:ln xmlns:a="http://schemas.openxmlformats.org/drawingml/2006/main" w="0">
            <a:solidFill>
              <a:srgbClr val="E75255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24840" rIns="90000" bIns="-2484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83C8BF8-6506-42C7-8246-FD1BA6D41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40" y="324000"/>
            <a:ext cx="47592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</a:pPr>
            <a:r>
              <a:rPr sz="1050" b="1" u="none">
                <a:solidFill>
                  <a:srgbClr val="7B879B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10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2D05F60-892A-46D6-B59E-784BE32AE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600" y="1695600"/>
            <a:ext cx="4552560" cy="3066840"/>
          </a:xfrm>
          <a:prstGeom xmlns:a="http://schemas.openxmlformats.org/drawingml/2006/main" prst="roundRect">
            <a:avLst>
              <a:gd name="adj" fmla="val 3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360">
            <a:solidFill>
              <a:srgbClr val="D8E2F0"/>
            </a:solidFill>
          </a:ln>
          <a:effectLst xmlns:a="http://schemas.openxmlformats.org/drawingml/2006/main">
            <a:outerShdw blurRad="19080" dist="9360" dir="5400000" rotWithShape="0">
              <a:srgbClr val="000000">
                <a:alpha val="6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4C216DE-1A25-451C-BB64-3B4621E63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1752480"/>
            <a:ext cx="4438440" cy="2952360"/>
          </a:xfrm>
          <a:prstGeom xmlns:a="http://schemas.openxmlformats.org/drawingml/2006/main" prst="roundRect">
            <a:avLst>
              <a:gd name="adj" fmla="val 3871"/>
            </a:avLst>
          </a:prstGeom>
          <a:blipFill xmlns:a="http://schemas.openxmlformats.org/drawingml/2006/main" rotWithShape="0">
            <a:blip xmlns:r="http://schemas.openxmlformats.org/officeDocument/2006/relationships" r:embed="R1a8b31d401594c87"/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DCA2563-EE1F-4E76-BC59-BD72C739E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20" y="4819680"/>
            <a:ext cx="4323960" cy="41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</a:pPr>
            <a:r>
              <a:rPr sz="1280" b="1" u="none">
                <a:solidFill>
                  <a:srgbClr val="E75255"/>
                </a:solidFill>
                <a:latin typeface="Noto Sans CJK SC"/>
                <a:ea typeface="Noto Sans CJK SC"/>
                <a:cs typeface="Noto Sans CJK SC"/>
              </a:rPr>
              <a:t>本地梯度离开机构  →  传输中被截获  →  </a:t>
            </a:r>
            <a:r>
              <a:rPr sz="1280" b="1" u="none">
                <a:solidFill>
                  <a:srgbClr val="E75255"/>
                </a:solidFill>
                <a:latin typeface="Noto Sans CJK SC"/>
                <a:ea typeface="Noto Sans CJK SC"/>
                <a:cs typeface="Noto Sans CJK SC"/>
              </a:rPr>
              <a:t>DLG </a:t>
            </a:r>
            <a:r>
              <a:rPr sz="1280" b="1" u="none">
                <a:solidFill>
                  <a:srgbClr val="E75255"/>
                </a:solidFill>
                <a:latin typeface="Noto Sans CJK SC"/>
                <a:ea typeface="Noto Sans CJK SC"/>
                <a:cs typeface="Noto Sans CJK SC"/>
              </a:rPr>
              <a:t>恢复样本</a:t>
            </a:r>
            <a:endParaRPr sz="128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7D52CE6-864D-435E-8C7E-DA8AF970C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160" y="1752480"/>
            <a:ext cx="6152760" cy="142848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360">
            <a:solidFill>
              <a:srgbClr val="EFD59E"/>
            </a:solidFill>
          </a:ln>
          <a:effectLst xmlns:a="http://schemas.openxmlformats.org/drawingml/2006/main">
            <a:outerShdw blurRad="19080" dist="9360" dir="5400000" rotWithShape="0">
              <a:srgbClr val="000000">
                <a:alpha val="6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D7F5E6F-B43F-410B-B6B6-F3634A07D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840" y="1943280"/>
            <a:ext cx="2952360" cy="323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800" b="1" u="none">
                <a:solidFill>
                  <a:srgbClr val="9A5B00"/>
                </a:solidFill>
                <a:latin typeface="Noto Sans CJK SC"/>
                <a:ea typeface="Noto Sans CJK SC"/>
                <a:cs typeface="Noto Sans CJK SC"/>
              </a:rPr>
              <a:t>威胁情报平台 </a:t>
            </a:r>
            <a:r>
              <a:rPr sz="1800" b="1" u="none">
                <a:solidFill>
                  <a:srgbClr val="9A5B00"/>
                </a:solidFill>
                <a:latin typeface="Noto Sans CJK SC"/>
                <a:ea typeface="Noto Sans CJK SC"/>
                <a:cs typeface="Noto Sans CJK SC"/>
              </a:rPr>
              <a:t>/ ISAC</a:t>
            </a:r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2AB60EF-B3C9-484F-978E-AE4ADDCD3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840" y="2362320"/>
            <a:ext cx="542880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280" b="0" u="none">
                <a:solidFill>
                  <a:srgbClr val="516078"/>
                </a:solidFill>
                <a:latin typeface="Noto Sans CJK SC"/>
                <a:ea typeface="Noto Sans CJK SC"/>
                <a:cs typeface="Noto Sans CJK SC"/>
              </a:rPr>
              <a:t>本地日志 → 人工脱敏 → </a:t>
            </a:r>
            <a:r>
              <a:rPr sz="1280" b="0" u="none">
                <a:solidFill>
                  <a:srgbClr val="516078"/>
                </a:solidFill>
                <a:latin typeface="Noto Sans CJK SC"/>
                <a:ea typeface="Noto Sans CJK SC"/>
                <a:cs typeface="Noto Sans CJK SC"/>
              </a:rPr>
              <a:t>IOC → </a:t>
            </a:r>
            <a:r>
              <a:rPr sz="1280" b="0" u="none">
                <a:solidFill>
                  <a:srgbClr val="516078"/>
                </a:solidFill>
                <a:latin typeface="Noto Sans CJK SC"/>
                <a:ea typeface="Noto Sans CJK SC"/>
                <a:cs typeface="Noto Sans CJK SC"/>
              </a:rPr>
              <a:t>中心平台</a:t>
            </a:r>
            <a:endParaRPr sz="128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385FF9C-B109-4F8A-A66B-B5D83AF2B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840" y="2781360"/>
            <a:ext cx="542880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350" b="1" u="none">
                <a:solidFill>
                  <a:srgbClr val="E75255"/>
                </a:solidFill>
                <a:latin typeface="Noto Sans CJK SC"/>
                <a:ea typeface="Noto Sans CJK SC"/>
                <a:cs typeface="Noto Sans CJK SC"/>
              </a:rPr>
              <a:t>局限：脱敏可能遗漏，静态 </a:t>
            </a:r>
            <a:r>
              <a:rPr sz="1350" b="1" u="none">
                <a:solidFill>
                  <a:srgbClr val="E75255"/>
                </a:solidFill>
                <a:latin typeface="Noto Sans CJK SC"/>
                <a:ea typeface="Noto Sans CJK SC"/>
                <a:cs typeface="Noto Sans CJK SC"/>
              </a:rPr>
              <a:t>IOC </a:t>
            </a:r>
            <a:r>
              <a:rPr sz="1350" b="1" u="none">
                <a:solidFill>
                  <a:srgbClr val="E75255"/>
                </a:solidFill>
                <a:latin typeface="Noto Sans CJK SC"/>
                <a:ea typeface="Noto Sans CJK SC"/>
                <a:cs typeface="Noto Sans CJK SC"/>
              </a:rPr>
              <a:t>的时效与格式受限</a:t>
            </a:r>
            <a:endParaRPr sz="13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C72B646-67B3-47B9-8264-51D0B6FE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160" y="3371760"/>
            <a:ext cx="6152760" cy="142848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360">
            <a:solidFill>
              <a:srgbClr val="C9D8FF"/>
            </a:solidFill>
          </a:ln>
          <a:effectLst xmlns:a="http://schemas.openxmlformats.org/drawingml/2006/main">
            <a:outerShdw blurRad="19080" dist="9360" dir="5400000" rotWithShape="0">
              <a:srgbClr val="000000">
                <a:alpha val="6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FBE3FCA-C933-4B39-A77E-2A9E1161F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840" y="3562200"/>
            <a:ext cx="2476080" cy="323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800" b="1" u="none">
                <a:solidFill>
                  <a:srgbClr val="2F6BFF"/>
                </a:solidFill>
                <a:latin typeface="Noto Sans CJK SC"/>
                <a:ea typeface="Noto Sans CJK SC"/>
                <a:cs typeface="Noto Sans CJK SC"/>
              </a:rPr>
              <a:t>传统联邦学习</a:t>
            </a:r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4072570-AAAD-4B42-A0E0-E2C514B31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840" y="3981600"/>
            <a:ext cx="542880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280" b="0" u="none">
                <a:solidFill>
                  <a:srgbClr val="516078"/>
                </a:solidFill>
                <a:latin typeface="Noto Sans CJK SC"/>
                <a:ea typeface="Noto Sans CJK SC"/>
                <a:cs typeface="Noto Sans CJK SC"/>
              </a:rPr>
              <a:t>本地数据不出域 → 上传梯度 </a:t>
            </a:r>
            <a:r>
              <a:rPr sz="1280" b="0" u="none">
                <a:solidFill>
                  <a:srgbClr val="516078"/>
                </a:solidFill>
                <a:latin typeface="Noto Sans CJK SC"/>
                <a:ea typeface="Noto Sans CJK SC"/>
                <a:cs typeface="Noto Sans CJK SC"/>
              </a:rPr>
              <a:t>/ </a:t>
            </a:r>
            <a:r>
              <a:rPr sz="1280" b="0" u="none">
                <a:solidFill>
                  <a:srgbClr val="516078"/>
                </a:solidFill>
                <a:latin typeface="Noto Sans CJK SC"/>
                <a:ea typeface="Noto Sans CJK SC"/>
                <a:cs typeface="Noto Sans CJK SC"/>
              </a:rPr>
              <a:t>参数 → 中心聚合</a:t>
            </a:r>
            <a:endParaRPr sz="128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AA6F6C7-E472-4955-A990-AEE0D5817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840" y="4400640"/>
            <a:ext cx="542880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350" b="1" u="none">
                <a:solidFill>
                  <a:srgbClr val="E75255"/>
                </a:solidFill>
                <a:latin typeface="Noto Sans CJK SC"/>
                <a:ea typeface="Noto Sans CJK SC"/>
                <a:cs typeface="Noto Sans CJK SC"/>
              </a:rPr>
              <a:t>局限：梯度可逆，中心方需被信任，异构数据易掉点</a:t>
            </a:r>
            <a:endParaRPr sz="13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38F21C9-6372-4BF5-A850-880FC9F14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5429160"/>
            <a:ext cx="10972440" cy="74268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B1530"/>
          </a:solidFill>
          <a:ln xmlns:a="http://schemas.openxmlformats.org/drawingml/2006/main" w="9360">
            <a:solidFill>
              <a:srgbClr val="0B153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4A13EEF-6F5F-46BB-A061-50B8DE2DE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080" y="5610240"/>
            <a:ext cx="10515240" cy="38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</a:pPr>
            <a:r>
              <a:rPr sz="1800" b="1" u="none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现有方案能协作，却没有同时实现：不可逆知识传输 </a:t>
            </a:r>
            <a:r>
              <a:rPr sz="1800" b="1" u="none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+ </a:t>
            </a:r>
            <a:r>
              <a:rPr sz="1800" b="1" u="none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异构稳定 </a:t>
            </a:r>
            <a:r>
              <a:rPr sz="1800" b="1" u="none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+ </a:t>
            </a:r>
            <a:r>
              <a:rPr sz="1800" b="1" u="none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协调方最小信任</a:t>
            </a:r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AB9D1ED-8118-4DB8-A508-8BE9FADC6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6534000"/>
            <a:ext cx="6667200" cy="17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820" b="0" u="none">
                <a:solidFill>
                  <a:srgbClr val="7B879B"/>
                </a:solidFill>
                <a:latin typeface="Noto Sans CJK SC"/>
                <a:ea typeface="Noto Sans CJK SC"/>
                <a:cs typeface="Noto Sans CJK SC"/>
              </a:rPr>
              <a:t>FedPKDA · RoboCup 2026</a:t>
            </a:r>
            <a:endParaRPr sz="82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85316656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A210389A-E885-410F-9412-95738C4B40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057400" y="2108520"/>
            <a:ext cx="8686800" cy="2184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l">
              <a:lnSpc>
                <a:spcPct val="90000"/>
              </a:lnSpc>
              <a:buNone/>
            </a:pPr>
            <a:r>
              <a:rPr sz="6600" b="0" u="none">
                <a:solidFill>
                  <a:schemeClr val="dk1"/>
                </a:solidFill>
                <a:latin typeface="Calibri Light"/>
                <a:ea typeface="Calibri Light"/>
                <a:cs typeface="Calibri Light"/>
              </a:rPr>
              <a:t>FedPKDA</a:t>
            </a:r>
            <a:r>
              <a:rPr sz="6600" b="1" u="none">
                <a:solidFill>
                  <a:schemeClr val="dk1"/>
                </a:solidFill>
                <a:latin typeface="Calibri Light"/>
                <a:ea typeface="Calibri Light"/>
                <a:cs typeface="Calibri Light"/>
              </a:rPr>
              <a:t> </a:t>
            </a:r>
            <a:r>
              <a:rPr sz="6600" b="1" u="none">
                <a:solidFill>
                  <a:schemeClr val="dk1"/>
                </a:solidFill>
                <a:latin typeface="Calibri Light"/>
                <a:ea typeface="Calibri Light"/>
                <a:cs typeface="Calibri Light"/>
              </a:rPr>
              <a:t>三大突破</a:t>
            </a:r>
            <a:endParaRPr sz="6600" b="0" u="none">
              <a:solidFill>
                <a:schemeClr val="dk1"/>
              </a:solidFill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FC7172F-CD0F-4CB0-BBC4-D3EE6D820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080" y="1352880"/>
            <a:ext cx="1104480" cy="37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7D6"/>
          </a:solidFill>
          <a:ln xmlns:a="http://schemas.openxmlformats.org/drawingml/2006/main" w="0">
            <a:solidFill>
              <a:srgbClr val="22C7D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18000" rIns="90000" bIns="-18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ACADC8EE-6A68-41E3-9FC7-906836F5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840" y="5143680"/>
            <a:ext cx="2476080" cy="187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3456C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1320" rIns="90000" bIns="-3132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E422B88-2960-4004-B7C4-27E480776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680" y="4953240"/>
            <a:ext cx="704520" cy="704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7D6"/>
          </a:solidFill>
          <a:ln xmlns:a="http://schemas.openxmlformats.org/drawingml/2006/main" w="0">
            <a:solidFill>
              <a:srgbClr val="22C7D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EB8392E-13A3-4812-8785-2E061E1E8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440" y="876240"/>
            <a:ext cx="1428480" cy="1428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EA6B"/>
          </a:solidFill>
          <a:ln xmlns:a="http://schemas.openxmlformats.org/drawingml/2006/main" w="9360">
            <a:solidFill>
              <a:srgbClr val="F6F9D4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4080D79-1831-4B9C-AF9F-CA69D21B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6480"/>
            <a:ext cx="632520" cy="645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2800" b="1" u="none">
                <a:solidFill>
                  <a:srgbClr val="2F6BFF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2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18477856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5B0B3FDF-B9E1-4927-A809-CE5C21F4B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324000"/>
            <a:ext cx="495252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50" b="1" u="none">
                <a:solidFill>
                  <a:srgbClr val="2F6BFF"/>
                </a:solidFill>
                <a:latin typeface="Noto Sans CJK SC"/>
                <a:ea typeface="Noto Sans CJK SC"/>
                <a:cs typeface="Noto Sans CJK SC"/>
              </a:rPr>
              <a:t>02 / BREAKTHROUGH 1</a:t>
            </a:r>
            <a:endParaRPr sz="10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24DB4A09-DD66-4E84-8819-CC369EF54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647640"/>
            <a:ext cx="10667520" cy="57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3230" b="1" u="none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传输带噪类原型，从源头切断梯度还原路径</a:t>
            </a:r>
            <a:endParaRPr sz="323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D6CA36E-E6D1-4AB1-9F88-B8CED75EE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1295280"/>
            <a:ext cx="10972440" cy="9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4EE"/>
          </a:solidFill>
          <a:ln xmlns:a="http://schemas.openxmlformats.org/drawingml/2006/main" w="0">
            <a:solidFill>
              <a:srgbClr val="DDE4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8160" rIns="90000" bIns="-3816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80FE2859-91FD-496F-9611-FA21F9384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1285920"/>
            <a:ext cx="894960" cy="280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2F6BFF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24840" rIns="90000" bIns="-2484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B413A32-9F2E-46FF-8182-C2709245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40" y="324000"/>
            <a:ext cx="47592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</a:pPr>
            <a:r>
              <a:rPr sz="1050" b="1" u="none">
                <a:solidFill>
                  <a:srgbClr val="7B879B"/>
                </a:solidFill>
                <a:latin typeface="Noto Sans CJK SC"/>
                <a:ea typeface="Noto Sans CJK SC"/>
                <a:cs typeface="Noto Sans CJK SC"/>
              </a:rPr>
              <a:t>06</a:t>
            </a:r>
            <a:endParaRPr sz="10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1EE58959-1183-469B-A90B-8F0DBC64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1562040"/>
            <a:ext cx="1961640" cy="3045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8E8"/>
          </a:solidFill>
          <a:ln xmlns:a="http://schemas.openxmlformats.org/drawingml/2006/main" w="9360">
            <a:solidFill>
              <a:srgbClr val="FDE8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6320" tIns="0" rIns="7632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30" b="1" u="none">
                <a:solidFill>
                  <a:srgbClr val="E75255"/>
                </a:solidFill>
                <a:latin typeface="Noto Sans CJK SC"/>
                <a:ea typeface="Noto Sans CJK SC"/>
                <a:cs typeface="Noto Sans CJK SC"/>
              </a:rPr>
              <a:t>传统链路 </a:t>
            </a:r>
            <a:r>
              <a:rPr sz="1130" b="1" u="none">
                <a:solidFill>
                  <a:srgbClr val="E75255"/>
                </a:solidFill>
                <a:latin typeface="Noto Sans CJK SC"/>
                <a:ea typeface="Noto Sans CJK SC"/>
                <a:cs typeface="Noto Sans CJK SC"/>
              </a:rPr>
              <a:t>· </a:t>
            </a:r>
            <a:r>
              <a:rPr sz="1130" b="1" u="none">
                <a:solidFill>
                  <a:srgbClr val="E75255"/>
                </a:solidFill>
                <a:latin typeface="Noto Sans CJK SC"/>
                <a:ea typeface="Noto Sans CJK SC"/>
                <a:cs typeface="Noto Sans CJK SC"/>
              </a:rPr>
              <a:t>梯度攻击</a:t>
            </a:r>
            <a:endParaRPr sz="113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C617043C-29CE-43E0-94D6-518013BF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1981080"/>
            <a:ext cx="10972440" cy="158076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9F9"/>
          </a:solidFill>
          <a:ln xmlns:a="http://schemas.openxmlformats.org/drawingml/2006/main" w="9360">
            <a:solidFill>
              <a:srgbClr val="F0CCC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A09FF50-0090-4507-A91D-82C22AAE2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080" y="2324160"/>
            <a:ext cx="1333080" cy="57132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360">
            <a:solidFill>
              <a:srgbClr val="DDE4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8FC81F8-04BE-4BE3-B8A7-B4967795C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80" y="2495520"/>
            <a:ext cx="114264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</a:pPr>
            <a:r>
              <a:rPr sz="1350" b="1" u="none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本地数据</a:t>
            </a:r>
            <a:endParaRPr sz="13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51CDD1F1-6B92-4204-8980-1CBB62909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840" y="2324160"/>
            <a:ext cx="1333080" cy="57132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360">
            <a:solidFill>
              <a:srgbClr val="DDE4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1056863E-FE30-44CC-932B-CD8ACEB4D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6880" y="2495520"/>
            <a:ext cx="114264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</a:pPr>
            <a:r>
              <a:rPr sz="1350" b="1" u="none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本地训练</a:t>
            </a:r>
            <a:endParaRPr sz="13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A51D8936-764F-4F72-8840-9075D8068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240" y="2324160"/>
            <a:ext cx="1333080" cy="57132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DE8E8"/>
          </a:solidFill>
          <a:ln xmlns:a="http://schemas.openxmlformats.org/drawingml/2006/main" w="9360">
            <a:solidFill>
              <a:srgbClr val="E75255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1A6FE7E0-24F6-4BA7-956F-E785B1D23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640" y="2495520"/>
            <a:ext cx="114264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</a:pPr>
            <a:r>
              <a:rPr sz="1350" b="1" u="none">
                <a:solidFill>
                  <a:srgbClr val="E75255"/>
                </a:solidFill>
                <a:latin typeface="Noto Sans CJK SC"/>
                <a:ea typeface="Noto Sans CJK SC"/>
                <a:cs typeface="Noto Sans CJK SC"/>
              </a:rPr>
              <a:t>上传梯度</a:t>
            </a:r>
            <a:endParaRPr sz="13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21C22DA1-BFAE-47E8-9ABE-D8A9795DD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9000" y="2324160"/>
            <a:ext cx="1333080" cy="57132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360">
            <a:solidFill>
              <a:srgbClr val="DDE4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F72C97DA-F27C-49D4-97B8-64172FDFC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040" y="2495520"/>
            <a:ext cx="114264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</a:pPr>
            <a:r>
              <a:rPr sz="1350" b="1" u="none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网络链路</a:t>
            </a:r>
            <a:endParaRPr sz="13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cxnSp>
        <p:nvCxnSpPr>
          <p:cNvPr id="209" name=""/>
          <p:cNvCxnSpPr>
            <a:stCxn xmlns:a="http://schemas.openxmlformats.org/drawingml/2006/main" id="105" idx="3"/>
            <a:endCxn xmlns:a="http://schemas.openxmlformats.org/drawingml/2006/main" id="107" idx="1"/>
          </p:cNvCxnSpPr>
          <p:nvPr/>
        </p:nvCxnSpPr>
        <p:spPr>
          <a:xfrm xmlns:a="http://schemas.openxmlformats.org/drawingml/2006/main">
            <a:off x="2171160" y="2610000"/>
            <a:ext cx="401040" cy="360"/>
          </a:xfrm>
          <a:prstGeom xmlns:a="http://schemas.openxmlformats.org/drawingml/2006/main" prst="straightConnector1">
            <a:avLst/>
          </a:prstGeom>
          <a:ln xmlns:a="http://schemas.openxmlformats.org/drawingml/2006/main" w="19080">
            <a:solidFill>
              <a:srgbClr val="E75255"/>
            </a:solidFill>
            <a:round/>
            <a:tailEnd type="triangle" w="sm" len="sm"/>
          </a:ln>
        </p:spPr>
      </p:cxnSp>
      <p:cxnSp>
        <p:nvCxnSpPr>
          <p:cNvPr id="210" name=""/>
          <p:cNvCxnSpPr>
            <a:stCxn xmlns:a="http://schemas.openxmlformats.org/drawingml/2006/main" id="107" idx="3"/>
            <a:endCxn xmlns:a="http://schemas.openxmlformats.org/drawingml/2006/main" id="109" idx="1"/>
          </p:cNvCxnSpPr>
          <p:nvPr/>
        </p:nvCxnSpPr>
        <p:spPr>
          <a:xfrm xmlns:a="http://schemas.openxmlformats.org/drawingml/2006/main">
            <a:off x="3904920" y="2610000"/>
            <a:ext cx="400680" cy="360"/>
          </a:xfrm>
          <a:prstGeom xmlns:a="http://schemas.openxmlformats.org/drawingml/2006/main" prst="straightConnector1">
            <a:avLst/>
          </a:prstGeom>
          <a:ln xmlns:a="http://schemas.openxmlformats.org/drawingml/2006/main" w="19080">
            <a:solidFill>
              <a:srgbClr val="E75255"/>
            </a:solidFill>
            <a:round/>
            <a:tailEnd type="triangle" w="sm" len="sm"/>
          </a:ln>
        </p:spPr>
      </p:cxnSp>
      <p:cxnSp>
        <p:nvCxnSpPr>
          <p:cNvPr id="211" name=""/>
          <p:cNvCxnSpPr>
            <a:stCxn xmlns:a="http://schemas.openxmlformats.org/drawingml/2006/main" id="109" idx="3"/>
            <a:endCxn xmlns:a="http://schemas.openxmlformats.org/drawingml/2006/main" id="111" idx="1"/>
          </p:cNvCxnSpPr>
          <p:nvPr/>
        </p:nvCxnSpPr>
        <p:spPr>
          <a:xfrm xmlns:a="http://schemas.openxmlformats.org/drawingml/2006/main">
            <a:off x="5638320" y="2610000"/>
            <a:ext cx="401040" cy="360"/>
          </a:xfrm>
          <a:prstGeom xmlns:a="http://schemas.openxmlformats.org/drawingml/2006/main" prst="straightConnector1">
            <a:avLst/>
          </a:prstGeom>
          <a:ln xmlns:a="http://schemas.openxmlformats.org/drawingml/2006/main" w="19080">
            <a:solidFill>
              <a:srgbClr val="E75255"/>
            </a:solidFill>
            <a:round/>
            <a:tailEnd type="triangle" w="sm" len="sm"/>
          </a:ln>
        </p:spPr>
      </p:cxn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52BDC988-7AA7-4205-8A0F-79052D908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20" y="2152800"/>
            <a:ext cx="2209320" cy="51408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360">
            <a:solidFill>
              <a:srgbClr val="DDE4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9AEB27E4-4075-4367-9457-F6084E3E7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800" y="2276640"/>
            <a:ext cx="190476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</a:pPr>
            <a:r>
              <a:rPr sz="1280" b="1" u="none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服务端接收梯度</a:t>
            </a:r>
            <a:endParaRPr sz="128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8DDB9DFE-CB4B-4C03-A07A-54C133F2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20" y="2876400"/>
            <a:ext cx="2209320" cy="51408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B1530"/>
          </a:solidFill>
          <a:ln xmlns:a="http://schemas.openxmlformats.org/drawingml/2006/main" w="9360">
            <a:solidFill>
              <a:srgbClr val="0B153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5E942C36-7C32-49A8-826D-DEF56655B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4080" y="3000240"/>
            <a:ext cx="194292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</a:pPr>
            <a:r>
              <a:rPr sz="1200" b="1" u="none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攻击者截获 → </a:t>
            </a:r>
            <a:r>
              <a:rPr sz="1200" b="1" u="none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DLG </a:t>
            </a:r>
            <a:r>
              <a:rPr sz="1200" b="1" u="none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重建</a:t>
            </a:r>
            <a:endParaRPr sz="12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cxnSp>
        <p:nvCxnSpPr>
          <p:cNvPr id="216" name=""/>
          <p:cNvCxnSpPr>
            <a:stCxn xmlns:a="http://schemas.openxmlformats.org/drawingml/2006/main" id="111" idx="3"/>
            <a:endCxn xmlns:a="http://schemas.openxmlformats.org/drawingml/2006/main" id="116" idx="1"/>
          </p:cNvCxnSpPr>
          <p:nvPr/>
        </p:nvCxnSpPr>
        <p:spPr>
          <a:xfrm xmlns:a="http://schemas.openxmlformats.org/drawingml/2006/main" flipV="1">
            <a:off x="7372080" y="2409840"/>
            <a:ext cx="838800" cy="200520"/>
          </a:xfrm>
          <a:prstGeom xmlns:a="http://schemas.openxmlformats.org/drawingml/2006/main" prst="straightConnector1">
            <a:avLst/>
          </a:prstGeom>
          <a:ln xmlns:a="http://schemas.openxmlformats.org/drawingml/2006/main" w="19080">
            <a:solidFill>
              <a:srgbClr val="E75255"/>
            </a:solidFill>
            <a:round/>
            <a:tailEnd type="triangle" w="sm" len="sm"/>
          </a:ln>
        </p:spPr>
      </p:cxnSp>
      <p:cxnSp>
        <p:nvCxnSpPr>
          <p:cNvPr id="217" name=""/>
          <p:cNvCxnSpPr>
            <a:stCxn xmlns:a="http://schemas.openxmlformats.org/drawingml/2006/main" id="111" idx="2"/>
            <a:endCxn xmlns:a="http://schemas.openxmlformats.org/drawingml/2006/main" id="118" idx="1"/>
          </p:cNvCxnSpPr>
          <p:nvPr/>
        </p:nvCxnSpPr>
        <p:spPr>
          <a:xfrm xmlns:a="http://schemas.openxmlformats.org/drawingml/2006/main" rot="16200000" flipH="1">
            <a:off x="7339320" y="2261880"/>
            <a:ext cx="238320" cy="1505160"/>
          </a:xfrm>
          <a:prstGeom xmlns:a="http://schemas.openxmlformats.org/drawingml/2006/main" prst="bentConnector2">
            <a:avLst/>
          </a:prstGeom>
          <a:ln xmlns:a="http://schemas.openxmlformats.org/drawingml/2006/main" w="19080">
            <a:solidFill>
              <a:srgbClr val="E75255"/>
            </a:solidFill>
            <a:prstDash val="dash"/>
            <a:round/>
            <a:tailEnd type="triangle" w="sm" len="sm"/>
          </a:ln>
        </p:spPr>
      </p:cxn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7A556E83-993F-406D-95E6-EFF2A6083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3753000"/>
            <a:ext cx="2018880" cy="3045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360">
            <a:solidFill>
              <a:srgbClr val="EAF0FF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6320" tIns="0" rIns="7632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30" b="1" u="none">
                <a:solidFill>
                  <a:srgbClr val="2F6BFF"/>
                </a:solidFill>
                <a:latin typeface="Noto Sans CJK SC"/>
                <a:ea typeface="Noto Sans CJK SC"/>
                <a:cs typeface="Noto Sans CJK SC"/>
              </a:rPr>
              <a:t>FedPKDA · </a:t>
            </a:r>
            <a:r>
              <a:rPr sz="1130" b="1" u="none">
                <a:solidFill>
                  <a:srgbClr val="2F6BFF"/>
                </a:solidFill>
                <a:latin typeface="Noto Sans CJK SC"/>
                <a:ea typeface="Noto Sans CJK SC"/>
                <a:cs typeface="Noto Sans CJK SC"/>
              </a:rPr>
              <a:t>原型保护链</a:t>
            </a:r>
            <a:endParaRPr sz="113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B09CB43F-E706-4BB1-968B-597C5F909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4133880"/>
            <a:ext cx="10972440" cy="171432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360">
            <a:solidFill>
              <a:srgbClr val="CBD9FF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3AA70ED5-A95D-4E64-9960-90668BA0D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200" y="4610160"/>
            <a:ext cx="1257120" cy="64728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360">
            <a:solidFill>
              <a:srgbClr val="DDE4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9255082F-DD99-41E8-955B-F6D3D37FB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160" y="4791240"/>
            <a:ext cx="1104480" cy="285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</a:pPr>
            <a:r>
              <a:rPr sz="1280" b="1" u="none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本地数据</a:t>
            </a:r>
            <a:endParaRPr sz="128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62479558-AD0A-41D7-8D89-29F70DB58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60" y="4610160"/>
            <a:ext cx="1257120" cy="64728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360">
            <a:solidFill>
              <a:srgbClr val="DDE4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A9941D28-5DB6-4C29-AF1F-1338A5869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480" y="4791240"/>
            <a:ext cx="1104480" cy="285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</a:pPr>
            <a:r>
              <a:rPr sz="1280" b="1" u="none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特征提取</a:t>
            </a:r>
            <a:endParaRPr sz="128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631BD9A5-4E52-4F49-A65E-846ECA4EC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20" y="4610160"/>
            <a:ext cx="1257120" cy="64728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DF8EF"/>
          </a:solidFill>
          <a:ln xmlns:a="http://schemas.openxmlformats.org/drawingml/2006/main" w="9360">
            <a:solidFill>
              <a:srgbClr val="24B78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162F26F4-D8FE-44A7-BCDD-6D8D51DCF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440" y="4791240"/>
            <a:ext cx="1104480" cy="285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</a:pPr>
            <a:r>
              <a:rPr sz="1280" b="1" u="none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类别原型</a:t>
            </a:r>
            <a:endParaRPr sz="128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6DCB7580-FB4C-48C8-8D0F-A962F0292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080" y="4610160"/>
            <a:ext cx="1257120" cy="64728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FAFC"/>
          </a:solidFill>
          <a:ln xmlns:a="http://schemas.openxmlformats.org/drawingml/2006/main" w="9360">
            <a:solidFill>
              <a:srgbClr val="22C7D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37117402-FAD3-4427-9CD6-17BA2E929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791240"/>
            <a:ext cx="1104480" cy="285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</a:pPr>
            <a:r>
              <a:rPr sz="1280" b="1" u="none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裁剪 </a:t>
            </a:r>
            <a:r>
              <a:rPr sz="1280" b="1" u="none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+ </a:t>
            </a:r>
            <a:r>
              <a:rPr sz="1280" b="1" u="none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加噪</a:t>
            </a:r>
            <a:endParaRPr sz="128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ACB84836-93FE-4023-820E-EF3005E2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400" y="4610160"/>
            <a:ext cx="1257120" cy="64728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360">
            <a:solidFill>
              <a:srgbClr val="2F6BFF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ADC55D99-258B-4DF3-BEEB-8D470598B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360" y="4791240"/>
            <a:ext cx="1104480" cy="285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</a:pPr>
            <a:r>
              <a:rPr sz="1280" b="1" u="none">
                <a:solidFill>
                  <a:srgbClr val="2F6BFF"/>
                </a:solidFill>
                <a:latin typeface="Noto Sans CJK SC"/>
                <a:ea typeface="Noto Sans CJK SC"/>
                <a:cs typeface="Noto Sans CJK SC"/>
              </a:rPr>
              <a:t>带噪原型</a:t>
            </a:r>
            <a:endParaRPr sz="128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32383251-D589-484A-9BED-9EC6D2F02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60" y="4610160"/>
            <a:ext cx="1257120" cy="64728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B1530"/>
          </a:solidFill>
          <a:ln xmlns:a="http://schemas.openxmlformats.org/drawingml/2006/main" w="9360">
            <a:solidFill>
              <a:srgbClr val="0B153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5D74D518-5F51-4D45-8A86-3656DC86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680" y="4667400"/>
            <a:ext cx="1104480" cy="514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</a:pPr>
            <a:r>
              <a:rPr sz="1280" b="1" u="none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K-Means +</a:t>
            </a:r>
            <a:endParaRPr sz="128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  <a:p xmlns:a="http://schemas.openxmlformats.org/drawingml/2006/main">
            <a:pPr algn="ctr">
              <a:lnSpc>
                <a:spcPct val="115000"/>
              </a:lnSpc>
              <a:buNone/>
            </a:pPr>
            <a:r>
              <a:rPr sz="1280" b="1" u="none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马氏加权</a:t>
            </a:r>
            <a:endParaRPr sz="128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9CACFCAE-5BFC-4F55-9388-86F9060EF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20" y="4610160"/>
            <a:ext cx="1257120" cy="64728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DF8EF"/>
          </a:solidFill>
          <a:ln xmlns:a="http://schemas.openxmlformats.org/drawingml/2006/main" w="9360">
            <a:solidFill>
              <a:srgbClr val="24B78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03395E42-2E2C-4CE6-9CBA-1FAACA7CD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640" y="4791240"/>
            <a:ext cx="1104480" cy="285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</a:pPr>
            <a:r>
              <a:rPr sz="1280" b="1" u="none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全局原型</a:t>
            </a:r>
            <a:endParaRPr sz="128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cxnSp>
        <p:nvCxnSpPr>
          <p:cNvPr id="234" name=""/>
          <p:cNvCxnSpPr>
            <a:stCxn xmlns:a="http://schemas.openxmlformats.org/drawingml/2006/main" id="124" idx="3"/>
            <a:endCxn xmlns:a="http://schemas.openxmlformats.org/drawingml/2006/main" id="126" idx="1"/>
          </p:cNvCxnSpPr>
          <p:nvPr/>
        </p:nvCxnSpPr>
        <p:spPr>
          <a:xfrm xmlns:a="http://schemas.openxmlformats.org/drawingml/2006/main">
            <a:off x="2038320" y="4933800"/>
            <a:ext cx="286200" cy="360"/>
          </a:xfrm>
          <a:prstGeom xmlns:a="http://schemas.openxmlformats.org/drawingml/2006/main" prst="straightConnector1">
            <a:avLst/>
          </a:prstGeom>
          <a:ln xmlns:a="http://schemas.openxmlformats.org/drawingml/2006/main" w="19080">
            <a:solidFill>
              <a:srgbClr val="24B787"/>
            </a:solidFill>
            <a:round/>
            <a:tailEnd type="triangle" w="sm" len="sm"/>
          </a:ln>
        </p:spPr>
      </p:cxnSp>
      <p:cxnSp>
        <p:nvCxnSpPr>
          <p:cNvPr id="235" name=""/>
          <p:cNvCxnSpPr>
            <a:stCxn xmlns:a="http://schemas.openxmlformats.org/drawingml/2006/main" id="126" idx="3"/>
            <a:endCxn xmlns:a="http://schemas.openxmlformats.org/drawingml/2006/main" id="128" idx="1"/>
          </p:cNvCxnSpPr>
          <p:nvPr/>
        </p:nvCxnSpPr>
        <p:spPr>
          <a:xfrm xmlns:a="http://schemas.openxmlformats.org/drawingml/2006/main">
            <a:off x="3581280" y="4933800"/>
            <a:ext cx="286200" cy="360"/>
          </a:xfrm>
          <a:prstGeom xmlns:a="http://schemas.openxmlformats.org/drawingml/2006/main" prst="straightConnector1">
            <a:avLst/>
          </a:prstGeom>
          <a:ln xmlns:a="http://schemas.openxmlformats.org/drawingml/2006/main" w="19080">
            <a:solidFill>
              <a:srgbClr val="24B787"/>
            </a:solidFill>
            <a:round/>
            <a:tailEnd type="triangle" w="sm" len="sm"/>
          </a:ln>
        </p:spPr>
      </p:cxnSp>
      <p:cxnSp>
        <p:nvCxnSpPr>
          <p:cNvPr id="236" name=""/>
          <p:cNvCxnSpPr>
            <a:stCxn xmlns:a="http://schemas.openxmlformats.org/drawingml/2006/main" id="128" idx="3"/>
            <a:endCxn xmlns:a="http://schemas.openxmlformats.org/drawingml/2006/main" id="130" idx="1"/>
          </p:cNvCxnSpPr>
          <p:nvPr/>
        </p:nvCxnSpPr>
        <p:spPr>
          <a:xfrm xmlns:a="http://schemas.openxmlformats.org/drawingml/2006/main">
            <a:off x="5124240" y="4933800"/>
            <a:ext cx="286200" cy="360"/>
          </a:xfrm>
          <a:prstGeom xmlns:a="http://schemas.openxmlformats.org/drawingml/2006/main" prst="straightConnector1">
            <a:avLst/>
          </a:prstGeom>
          <a:ln xmlns:a="http://schemas.openxmlformats.org/drawingml/2006/main" w="19080">
            <a:solidFill>
              <a:srgbClr val="24B787"/>
            </a:solidFill>
            <a:round/>
            <a:tailEnd type="triangle" w="sm" len="sm"/>
          </a:ln>
        </p:spPr>
      </p:cxnSp>
      <p:cxnSp>
        <p:nvCxnSpPr>
          <p:cNvPr id="237" name=""/>
          <p:cNvCxnSpPr>
            <a:stCxn xmlns:a="http://schemas.openxmlformats.org/drawingml/2006/main" id="130" idx="3"/>
            <a:endCxn xmlns:a="http://schemas.openxmlformats.org/drawingml/2006/main" id="132" idx="1"/>
          </p:cNvCxnSpPr>
          <p:nvPr/>
        </p:nvCxnSpPr>
        <p:spPr>
          <a:xfrm xmlns:a="http://schemas.openxmlformats.org/drawingml/2006/main">
            <a:off x="6667200" y="4933800"/>
            <a:ext cx="286560" cy="360"/>
          </a:xfrm>
          <a:prstGeom xmlns:a="http://schemas.openxmlformats.org/drawingml/2006/main" prst="straightConnector1">
            <a:avLst/>
          </a:prstGeom>
          <a:ln xmlns:a="http://schemas.openxmlformats.org/drawingml/2006/main" w="19080">
            <a:solidFill>
              <a:srgbClr val="2F6BFF"/>
            </a:solidFill>
            <a:round/>
            <a:tailEnd type="triangle" w="sm" len="sm"/>
          </a:ln>
        </p:spPr>
      </p:cxnSp>
      <p:cxnSp>
        <p:nvCxnSpPr>
          <p:cNvPr id="238" name=""/>
          <p:cNvCxnSpPr>
            <a:stCxn xmlns:a="http://schemas.openxmlformats.org/drawingml/2006/main" id="132" idx="3"/>
            <a:endCxn xmlns:a="http://schemas.openxmlformats.org/drawingml/2006/main" id="134" idx="1"/>
          </p:cNvCxnSpPr>
          <p:nvPr/>
        </p:nvCxnSpPr>
        <p:spPr>
          <a:xfrm xmlns:a="http://schemas.openxmlformats.org/drawingml/2006/main">
            <a:off x="8210520" y="4933800"/>
            <a:ext cx="286200" cy="360"/>
          </a:xfrm>
          <a:prstGeom xmlns:a="http://schemas.openxmlformats.org/drawingml/2006/main" prst="straightConnector1">
            <a:avLst/>
          </a:prstGeom>
          <a:ln xmlns:a="http://schemas.openxmlformats.org/drawingml/2006/main" w="19080">
            <a:solidFill>
              <a:srgbClr val="2F6BFF"/>
            </a:solidFill>
            <a:round/>
            <a:tailEnd type="triangle" w="sm" len="sm"/>
          </a:ln>
        </p:spPr>
      </p:cxnSp>
      <p:cxnSp>
        <p:nvCxnSpPr>
          <p:cNvPr id="239" name=""/>
          <p:cNvCxnSpPr>
            <a:stCxn xmlns:a="http://schemas.openxmlformats.org/drawingml/2006/main" id="134" idx="3"/>
            <a:endCxn xmlns:a="http://schemas.openxmlformats.org/drawingml/2006/main" id="136" idx="1"/>
          </p:cNvCxnSpPr>
          <p:nvPr/>
        </p:nvCxnSpPr>
        <p:spPr>
          <a:xfrm xmlns:a="http://schemas.openxmlformats.org/drawingml/2006/main">
            <a:off x="9753480" y="4933800"/>
            <a:ext cx="286200" cy="360"/>
          </a:xfrm>
          <a:prstGeom xmlns:a="http://schemas.openxmlformats.org/drawingml/2006/main" prst="straightConnector1">
            <a:avLst/>
          </a:prstGeom>
          <a:ln xmlns:a="http://schemas.openxmlformats.org/drawingml/2006/main" w="19080">
            <a:solidFill>
              <a:srgbClr val="2F6BFF"/>
            </a:solidFill>
            <a:round/>
            <a:tailEnd type="triangle" w="sm" len="sm"/>
          </a:ln>
        </p:spPr>
      </p:cxn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61FD4E65-4E70-4379-A64A-81470670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000" y="4286160"/>
            <a:ext cx="367632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130" b="1" u="none">
                <a:solidFill>
                  <a:srgbClr val="24B787"/>
                </a:solidFill>
                <a:latin typeface="Noto Sans CJK SC"/>
                <a:ea typeface="Noto Sans CJK SC"/>
                <a:cs typeface="Noto Sans CJK SC"/>
              </a:rPr>
              <a:t>客户端：原始数据从不离开机构</a:t>
            </a:r>
            <a:endParaRPr sz="113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3218C76D-A32F-4CB0-A632-A8D44F035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20" y="4286160"/>
            <a:ext cx="304776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</a:pPr>
            <a:r>
              <a:rPr sz="1130" b="1" u="none">
                <a:solidFill>
                  <a:srgbClr val="2F6BFF"/>
                </a:solidFill>
                <a:latin typeface="Noto Sans CJK SC"/>
                <a:ea typeface="Noto Sans CJK SC"/>
                <a:cs typeface="Noto Sans CJK SC"/>
              </a:rPr>
              <a:t>服务端：只接触带噪类原型</a:t>
            </a:r>
            <a:endParaRPr sz="113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1A46CDFD-8030-4EAF-8C2F-C1C96A695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6058080"/>
            <a:ext cx="9810360" cy="247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280" b="1" u="none">
                <a:solidFill>
                  <a:srgbClr val="516078"/>
                </a:solidFill>
                <a:latin typeface="Noto Sans CJK SC"/>
                <a:ea typeface="Noto Sans CJK SC"/>
                <a:cs typeface="Noto Sans CJK SC"/>
              </a:rPr>
              <a:t>论文攻击实验：重建结果接近随机噪声，</a:t>
            </a:r>
            <a:r>
              <a:rPr sz="1280" b="1" u="none">
                <a:solidFill>
                  <a:srgbClr val="516078"/>
                </a:solidFill>
                <a:latin typeface="Noto Sans CJK SC"/>
                <a:ea typeface="Noto Sans CJK SC"/>
                <a:cs typeface="Noto Sans CJK SC"/>
              </a:rPr>
              <a:t>PSNR ≈ 6.9 dB</a:t>
            </a:r>
            <a:r>
              <a:rPr sz="1280" b="1" u="none">
                <a:solidFill>
                  <a:srgbClr val="516078"/>
                </a:solidFill>
                <a:latin typeface="Noto Sans CJK SC"/>
                <a:ea typeface="Noto Sans CJK SC"/>
                <a:cs typeface="Noto Sans CJK SC"/>
              </a:rPr>
              <a:t>（非本项目复测）</a:t>
            </a:r>
            <a:endParaRPr sz="128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B012E09D-583E-4669-9238-5D9762F58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6534000"/>
            <a:ext cx="6667200" cy="17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820" b="0" u="none">
                <a:solidFill>
                  <a:srgbClr val="7B879B"/>
                </a:solidFill>
                <a:latin typeface="Noto Sans CJK SC"/>
                <a:ea typeface="Noto Sans CJK SC"/>
                <a:cs typeface="Noto Sans CJK SC"/>
              </a:rPr>
              <a:t>FedPKDA · RoboCup 2026</a:t>
            </a:r>
            <a:endParaRPr sz="82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11057004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3F1CC9E7-2A8F-41D9-B4F8-162936043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324000"/>
            <a:ext cx="495252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50" b="1" u="none">
                <a:solidFill>
                  <a:srgbClr val="2F6BFF"/>
                </a:solidFill>
                <a:latin typeface="Noto Sans CJK SC"/>
                <a:ea typeface="Noto Sans CJK SC"/>
                <a:cs typeface="Noto Sans CJK SC"/>
              </a:rPr>
              <a:t>02 / BREAKTHROUGH 2</a:t>
            </a:r>
            <a:endParaRPr sz="10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D72CE62D-47BF-47FA-8E22-422A9C12A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647640"/>
            <a:ext cx="10667520" cy="57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3230" b="1" u="none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几何偏离决定权重，异常与搭便车自然降权</a:t>
            </a:r>
            <a:endParaRPr sz="323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6984D6D2-7291-4032-8EFB-AB6F59A3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1295280"/>
            <a:ext cx="10972440" cy="9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4EE"/>
          </a:solidFill>
          <a:ln xmlns:a="http://schemas.openxmlformats.org/drawingml/2006/main" w="0">
            <a:solidFill>
              <a:srgbClr val="DDE4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8160" rIns="90000" bIns="-3816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A6C34681-CC18-4481-83B7-9932F1439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1285920"/>
            <a:ext cx="894960" cy="280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B787"/>
          </a:solidFill>
          <a:ln xmlns:a="http://schemas.openxmlformats.org/drawingml/2006/main" w="0">
            <a:solidFill>
              <a:srgbClr val="24B78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24840" rIns="90000" bIns="-2484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C6A4CEE6-CB66-40E7-90C6-16394DBB0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40" y="324000"/>
            <a:ext cx="47592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</a:pPr>
            <a:r>
              <a:rPr sz="1050" b="1" u="none">
                <a:solidFill>
                  <a:srgbClr val="7B879B"/>
                </a:solidFill>
                <a:latin typeface="Noto Sans CJK SC"/>
                <a:ea typeface="Noto Sans CJK SC"/>
                <a:cs typeface="Noto Sans CJK SC"/>
              </a:rPr>
              <a:t>07</a:t>
            </a:r>
            <a:endParaRPr sz="10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E058FD51-27EC-4960-9909-5E9829EAF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1657440"/>
            <a:ext cx="4952520" cy="361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2020" b="1" u="none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马氏距离自动隔离</a:t>
            </a:r>
            <a:endParaRPr sz="202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29A8D410-DBE3-4D85-9FD8-AAACE0FD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2057400"/>
            <a:ext cx="4952520" cy="304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350" b="0" u="none">
                <a:solidFill>
                  <a:srgbClr val="516078"/>
                </a:solidFill>
                <a:latin typeface="Noto Sans CJK SC"/>
                <a:ea typeface="Noto Sans CJK SC"/>
                <a:cs typeface="Noto Sans CJK SC"/>
              </a:rPr>
              <a:t>密度高者权重高，而不是简单“少数服从多数”</a:t>
            </a:r>
            <a:endParaRPr sz="13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212AAB89-4BE0-4CB9-8058-784FE26D0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2533680"/>
            <a:ext cx="5943240" cy="297144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360">
            <a:solidFill>
              <a:srgbClr val="DDE4EE"/>
            </a:solidFill>
          </a:ln>
          <a:effectLst xmlns:a="http://schemas.openxmlformats.org/drawingml/2006/main">
            <a:outerShdw blurRad="19080" dist="9360" dir="5400000" rotWithShape="0">
              <a:srgbClr val="000000">
                <a:alpha val="6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4ABF8FC5-1B25-476E-ADD3-D49B66643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60" y="3219480"/>
            <a:ext cx="266400" cy="26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B787"/>
          </a:solidFill>
          <a:ln xmlns:a="http://schemas.openxmlformats.org/drawingml/2006/main" w="0">
            <a:solidFill>
              <a:srgbClr val="24B78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 fontScale="47500" lnSpcReduction="19999"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34EB434E-66E7-4032-BA5F-50A041323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20" y="3581280"/>
            <a:ext cx="266400" cy="26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B787"/>
          </a:solidFill>
          <a:ln xmlns:a="http://schemas.openxmlformats.org/drawingml/2006/main" w="0">
            <a:solidFill>
              <a:srgbClr val="24B78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 fontScale="47500" lnSpcReduction="19999"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272556AD-94E7-4475-B2A7-F6132D52E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840" y="4248000"/>
            <a:ext cx="266400" cy="26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B787"/>
          </a:solidFill>
          <a:ln xmlns:a="http://schemas.openxmlformats.org/drawingml/2006/main" w="0">
            <a:solidFill>
              <a:srgbClr val="24B78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 fontScale="47500" lnSpcReduction="19999"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9294DA6A-035A-4633-A517-6BD54FB4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80" y="3333600"/>
            <a:ext cx="266400" cy="26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B787"/>
          </a:solidFill>
          <a:ln xmlns:a="http://schemas.openxmlformats.org/drawingml/2006/main" w="0">
            <a:solidFill>
              <a:srgbClr val="24B78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 fontScale="47500" lnSpcReduction="19999"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2ABF5D09-4689-4190-99E0-94EA649F3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840" y="3676680"/>
            <a:ext cx="266400" cy="26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B787"/>
          </a:solidFill>
          <a:ln xmlns:a="http://schemas.openxmlformats.org/drawingml/2006/main" w="0">
            <a:solidFill>
              <a:srgbClr val="24B78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 fontScale="47500" lnSpcReduction="19999"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CBC33A74-0295-43D3-8579-90BC22B1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680" y="4457880"/>
            <a:ext cx="266400" cy="26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B787"/>
          </a:solidFill>
          <a:ln xmlns:a="http://schemas.openxmlformats.org/drawingml/2006/main" w="0">
            <a:solidFill>
              <a:srgbClr val="24B78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 fontScale="47500" lnSpcReduction="19999"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BE23F4BC-7374-4FB8-BBE5-CC020782C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9880" y="4172040"/>
            <a:ext cx="266400" cy="26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B787"/>
          </a:solidFill>
          <a:ln xmlns:a="http://schemas.openxmlformats.org/drawingml/2006/main" w="0">
            <a:solidFill>
              <a:srgbClr val="24B78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 fontScale="47500" lnSpcReduction="19999"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1A4DCCE1-8185-4F96-B121-502E532A2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2040" y="3486240"/>
            <a:ext cx="266400" cy="26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B787"/>
          </a:solidFill>
          <a:ln xmlns:a="http://schemas.openxmlformats.org/drawingml/2006/main" w="0">
            <a:solidFill>
              <a:srgbClr val="24B78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 fontScale="47500" lnSpcReduction="19999"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1D97581C-F6D5-42A4-8120-0D1BA6D3F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760" y="4476600"/>
            <a:ext cx="323640" cy="323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5255"/>
          </a:solidFill>
          <a:ln xmlns:a="http://schemas.openxmlformats.org/drawingml/2006/main" w="0">
            <a:solidFill>
              <a:srgbClr val="E75255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1" u="none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!</a:t>
            </a:r>
            <a:endParaRPr sz="1200" b="0" u="none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94B0562E-F8E6-4248-ABCE-91107B5B4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160" y="3943440"/>
            <a:ext cx="437760" cy="437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530"/>
          </a:solidFill>
          <a:ln xmlns:a="http://schemas.openxmlformats.org/drawingml/2006/main" w="0">
            <a:solidFill>
              <a:srgbClr val="0B153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800" b="1" u="none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μ</a:t>
            </a:r>
            <a:endParaRPr sz="1800" b="0" u="none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</p:txBody>
      </p:sp>
      <p:cxnSp>
        <p:nvCxnSpPr>
          <p:cNvPr id="259" name=""/>
          <p:cNvCxnSpPr>
            <a:stCxn xmlns:a="http://schemas.openxmlformats.org/drawingml/2006/main" id="156" idx="5"/>
            <a:endCxn xmlns:a="http://schemas.openxmlformats.org/drawingml/2006/main" id="165" idx="1"/>
          </p:cNvCxnSpPr>
          <p:nvPr/>
        </p:nvCxnSpPr>
        <p:spPr>
          <a:xfrm xmlns:a="http://schemas.openxmlformats.org/drawingml/2006/main">
            <a:off x="2323080" y="3447000"/>
            <a:ext cx="884520" cy="560880"/>
          </a:xfrm>
          <a:prstGeom xmlns:a="http://schemas.openxmlformats.org/drawingml/2006/main" prst="straightConnector1">
            <a:avLst/>
          </a:prstGeom>
          <a:ln xmlns:a="http://schemas.openxmlformats.org/drawingml/2006/main" w="17280">
            <a:solidFill>
              <a:srgbClr val="BBDDD4"/>
            </a:solidFill>
            <a:round/>
          </a:ln>
        </p:spPr>
      </p:cxnSp>
      <p:cxnSp>
        <p:nvCxnSpPr>
          <p:cNvPr id="260" name=""/>
          <p:cNvCxnSpPr>
            <a:stCxn xmlns:a="http://schemas.openxmlformats.org/drawingml/2006/main" id="157" idx="5"/>
            <a:endCxn xmlns:a="http://schemas.openxmlformats.org/drawingml/2006/main" id="165" idx="1"/>
          </p:cNvCxnSpPr>
          <p:nvPr/>
        </p:nvCxnSpPr>
        <p:spPr>
          <a:xfrm xmlns:a="http://schemas.openxmlformats.org/drawingml/2006/main">
            <a:off x="2723040" y="3808800"/>
            <a:ext cx="484560" cy="199080"/>
          </a:xfrm>
          <a:prstGeom xmlns:a="http://schemas.openxmlformats.org/drawingml/2006/main" prst="straightConnector1">
            <a:avLst/>
          </a:prstGeom>
          <a:ln xmlns:a="http://schemas.openxmlformats.org/drawingml/2006/main" w="17280">
            <a:solidFill>
              <a:srgbClr val="BBDDD4"/>
            </a:solidFill>
            <a:round/>
          </a:ln>
        </p:spPr>
      </p:cxnSp>
      <p:cxnSp>
        <p:nvCxnSpPr>
          <p:cNvPr id="261" name=""/>
          <p:cNvCxnSpPr>
            <a:stCxn xmlns:a="http://schemas.openxmlformats.org/drawingml/2006/main" id="158" idx="6"/>
            <a:endCxn xmlns:a="http://schemas.openxmlformats.org/drawingml/2006/main" id="165" idx="2"/>
          </p:cNvCxnSpPr>
          <p:nvPr/>
        </p:nvCxnSpPr>
        <p:spPr>
          <a:xfrm xmlns:a="http://schemas.openxmlformats.org/drawingml/2006/main" flipV="1">
            <a:off x="2514240" y="4162320"/>
            <a:ext cx="629280" cy="219240"/>
          </a:xfrm>
          <a:prstGeom xmlns:a="http://schemas.openxmlformats.org/drawingml/2006/main" prst="straightConnector1">
            <a:avLst/>
          </a:prstGeom>
          <a:ln xmlns:a="http://schemas.openxmlformats.org/drawingml/2006/main" w="17280">
            <a:solidFill>
              <a:srgbClr val="BBDDD4"/>
            </a:solidFill>
            <a:round/>
          </a:ln>
        </p:spPr>
      </p:cxnSp>
      <p:cxnSp>
        <p:nvCxnSpPr>
          <p:cNvPr id="262" name=""/>
          <p:cNvCxnSpPr>
            <a:stCxn xmlns:a="http://schemas.openxmlformats.org/drawingml/2006/main" id="159" idx="5"/>
            <a:endCxn xmlns:a="http://schemas.openxmlformats.org/drawingml/2006/main" id="165" idx="0"/>
          </p:cNvCxnSpPr>
          <p:nvPr/>
        </p:nvCxnSpPr>
        <p:spPr>
          <a:xfrm xmlns:a="http://schemas.openxmlformats.org/drawingml/2006/main">
            <a:off x="3218400" y="3561120"/>
            <a:ext cx="144000" cy="382680"/>
          </a:xfrm>
          <a:prstGeom xmlns:a="http://schemas.openxmlformats.org/drawingml/2006/main" prst="straightConnector1">
            <a:avLst/>
          </a:prstGeom>
          <a:ln xmlns:a="http://schemas.openxmlformats.org/drawingml/2006/main" w="17280">
            <a:solidFill>
              <a:srgbClr val="BBDDD4"/>
            </a:solidFill>
            <a:round/>
          </a:ln>
        </p:spPr>
      </p:cxnSp>
      <p:cxnSp>
        <p:nvCxnSpPr>
          <p:cNvPr id="263" name=""/>
          <p:cNvCxnSpPr>
            <a:stCxn xmlns:a="http://schemas.openxmlformats.org/drawingml/2006/main" id="160" idx="4"/>
            <a:endCxn xmlns:a="http://schemas.openxmlformats.org/drawingml/2006/main" id="165" idx="7"/>
          </p:cNvCxnSpPr>
          <p:nvPr/>
        </p:nvCxnSpPr>
        <p:spPr>
          <a:xfrm xmlns:a="http://schemas.openxmlformats.org/drawingml/2006/main" flipH="1">
            <a:off x="3516840" y="3943080"/>
            <a:ext cx="7560" cy="64800"/>
          </a:xfrm>
          <a:prstGeom xmlns:a="http://schemas.openxmlformats.org/drawingml/2006/main" prst="straightConnector1">
            <a:avLst/>
          </a:prstGeom>
          <a:ln xmlns:a="http://schemas.openxmlformats.org/drawingml/2006/main" w="17280">
            <a:solidFill>
              <a:srgbClr val="BBDDD4"/>
            </a:solidFill>
            <a:round/>
          </a:ln>
        </p:spPr>
      </p:cxnSp>
      <p:cxnSp>
        <p:nvCxnSpPr>
          <p:cNvPr id="264" name=""/>
          <p:cNvCxnSpPr>
            <a:stCxn xmlns:a="http://schemas.openxmlformats.org/drawingml/2006/main" id="161" idx="7"/>
            <a:endCxn xmlns:a="http://schemas.openxmlformats.org/drawingml/2006/main" id="165" idx="3"/>
          </p:cNvCxnSpPr>
          <p:nvPr/>
        </p:nvCxnSpPr>
        <p:spPr>
          <a:xfrm xmlns:a="http://schemas.openxmlformats.org/drawingml/2006/main" flipV="1">
            <a:off x="3085200" y="4317120"/>
            <a:ext cx="122400" cy="180000"/>
          </a:xfrm>
          <a:prstGeom xmlns:a="http://schemas.openxmlformats.org/drawingml/2006/main" prst="straightConnector1">
            <a:avLst/>
          </a:prstGeom>
          <a:ln xmlns:a="http://schemas.openxmlformats.org/drawingml/2006/main" w="17280">
            <a:solidFill>
              <a:srgbClr val="BBDDD4"/>
            </a:solidFill>
            <a:round/>
          </a:ln>
        </p:spPr>
      </p:cxnSp>
      <p:cxnSp>
        <p:nvCxnSpPr>
          <p:cNvPr id="265" name=""/>
          <p:cNvCxnSpPr>
            <a:stCxn xmlns:a="http://schemas.openxmlformats.org/drawingml/2006/main" id="162" idx="2"/>
            <a:endCxn xmlns:a="http://schemas.openxmlformats.org/drawingml/2006/main" id="165" idx="6"/>
          </p:cNvCxnSpPr>
          <p:nvPr/>
        </p:nvCxnSpPr>
        <p:spPr>
          <a:xfrm xmlns:a="http://schemas.openxmlformats.org/drawingml/2006/main" flipH="1" flipV="1">
            <a:off x="3580920" y="4162320"/>
            <a:ext cx="229320" cy="143280"/>
          </a:xfrm>
          <a:prstGeom xmlns:a="http://schemas.openxmlformats.org/drawingml/2006/main" prst="straightConnector1">
            <a:avLst/>
          </a:prstGeom>
          <a:ln xmlns:a="http://schemas.openxmlformats.org/drawingml/2006/main" w="17280">
            <a:solidFill>
              <a:srgbClr val="BBDDD4"/>
            </a:solidFill>
            <a:round/>
          </a:ln>
        </p:spPr>
      </p:cxnSp>
      <p:cxnSp>
        <p:nvCxnSpPr>
          <p:cNvPr id="266" name=""/>
          <p:cNvCxnSpPr>
            <a:stCxn xmlns:a="http://schemas.openxmlformats.org/drawingml/2006/main" id="163" idx="3"/>
            <a:endCxn xmlns:a="http://schemas.openxmlformats.org/drawingml/2006/main" id="165" idx="7"/>
          </p:cNvCxnSpPr>
          <p:nvPr/>
        </p:nvCxnSpPr>
        <p:spPr>
          <a:xfrm xmlns:a="http://schemas.openxmlformats.org/drawingml/2006/main" flipH="1">
            <a:off x="3516840" y="3713760"/>
            <a:ext cx="694440" cy="294120"/>
          </a:xfrm>
          <a:prstGeom xmlns:a="http://schemas.openxmlformats.org/drawingml/2006/main" prst="straightConnector1">
            <a:avLst/>
          </a:prstGeom>
          <a:ln xmlns:a="http://schemas.openxmlformats.org/drawingml/2006/main" w="17280">
            <a:solidFill>
              <a:srgbClr val="BBDDD4"/>
            </a:solidFill>
            <a:round/>
          </a:ln>
        </p:spPr>
      </p:cxnSp>
      <p:cxnSp>
        <p:nvCxnSpPr>
          <p:cNvPr id="267" name=""/>
          <p:cNvCxnSpPr>
            <a:stCxn xmlns:a="http://schemas.openxmlformats.org/drawingml/2006/main" id="164" idx="1"/>
            <a:endCxn xmlns:a="http://schemas.openxmlformats.org/drawingml/2006/main" id="165" idx="6"/>
          </p:cNvCxnSpPr>
          <p:nvPr/>
        </p:nvCxnSpPr>
        <p:spPr>
          <a:xfrm xmlns:a="http://schemas.openxmlformats.org/drawingml/2006/main" flipH="1" flipV="1">
            <a:off x="3580920" y="4162320"/>
            <a:ext cx="981360" cy="361800"/>
          </a:xfrm>
          <a:prstGeom xmlns:a="http://schemas.openxmlformats.org/drawingml/2006/main" prst="straightConnector1">
            <a:avLst/>
          </a:prstGeom>
          <a:ln xmlns:a="http://schemas.openxmlformats.org/drawingml/2006/main" w="11520">
            <a:solidFill>
              <a:srgbClr val="F4B4B5"/>
            </a:solidFill>
            <a:prstDash val="dash"/>
            <a:round/>
          </a:ln>
        </p:spPr>
      </p:cxn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FF04DF9D-0D43-4233-AC64-0AFF752D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880" y="4952880"/>
            <a:ext cx="5047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</a:pPr>
            <a:r>
              <a:rPr sz="1500" b="1" u="none">
                <a:solidFill>
                  <a:srgbClr val="E75255"/>
                </a:solidFill>
                <a:latin typeface="Noto Sans CJK SC"/>
                <a:ea typeface="Noto Sans CJK SC"/>
                <a:cs typeface="Noto Sans CJK SC"/>
              </a:rPr>
              <a:t>离群越远 → 马氏距离越大 → 反距离权重越接近 </a:t>
            </a:r>
            <a:r>
              <a:rPr sz="1500" b="1" u="none">
                <a:solidFill>
                  <a:srgbClr val="E75255"/>
                </a:solidFill>
                <a:latin typeface="Noto Sans CJK SC"/>
                <a:ea typeface="Noto Sans CJK SC"/>
                <a:cs typeface="Noto Sans CJK SC"/>
              </a:rPr>
              <a:t>0</a:t>
            </a:r>
            <a:endParaRPr sz="15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D4BCFDB2-97A2-4A3C-BEA3-B10602B3C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200" y="1657440"/>
            <a:ext cx="1523520" cy="304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350" b="1" u="none">
                <a:solidFill>
                  <a:srgbClr val="2F6BFF"/>
                </a:solidFill>
                <a:latin typeface="Noto Sans CJK SC"/>
                <a:ea typeface="Noto Sans CJK SC"/>
                <a:cs typeface="Noto Sans CJK SC"/>
              </a:rPr>
              <a:t>机制链</a:t>
            </a:r>
            <a:endParaRPr sz="13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F004A3DB-F533-4493-871C-BD58AE8C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480" y="2114640"/>
            <a:ext cx="1999800" cy="87588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11520">
            <a:solidFill>
              <a:srgbClr val="2F6BFF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6FCE8D61-A547-4494-9209-8F8D3199D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238480"/>
            <a:ext cx="342720" cy="342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2F6BFF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1" u="none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</a:t>
            </a:r>
            <a:endParaRPr sz="1280" b="0" u="none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ABF21B56-94F1-4C98-9DE2-ED49CCFF6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20" y="2238480"/>
            <a:ext cx="1333080" cy="666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430" b="1" u="none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K-Means</a:t>
            </a:r>
            <a:endParaRPr sz="143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430" b="1" u="none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求中心</a:t>
            </a:r>
            <a:endParaRPr sz="143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E76D85D6-F070-4266-8B10-6FBC53D1A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320" y="2114640"/>
            <a:ext cx="1999800" cy="87588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11520">
            <a:solidFill>
              <a:srgbClr val="2F6BFF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C2AE8ECB-8403-4A03-AB92-063AF2C6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440" y="2238480"/>
            <a:ext cx="342720" cy="342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2F6BFF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1" u="none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2</a:t>
            </a:r>
            <a:endParaRPr sz="1280" b="0" u="none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792B64BF-28E8-41DA-83FF-C51B83B75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560" y="2238480"/>
            <a:ext cx="1333080" cy="666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430" b="1" u="none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马氏距离</a:t>
            </a:r>
            <a:endParaRPr sz="143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430" b="1" u="none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量偏离</a:t>
            </a:r>
            <a:endParaRPr sz="143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F5D7247F-D3C3-4FA6-B7A5-6D1CDBBF2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480" y="3314880"/>
            <a:ext cx="1999800" cy="87588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11520">
            <a:solidFill>
              <a:srgbClr val="2F6BFF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7A8D4BBB-E8A1-4609-BCD7-0676CC33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438360"/>
            <a:ext cx="342720" cy="342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2F6BFF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1" u="none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3</a:t>
            </a:r>
            <a:endParaRPr sz="1280" b="0" u="none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14AD1E52-2A5E-424F-A0DC-D48CD943B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20" y="3438360"/>
            <a:ext cx="1333080" cy="666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430" b="1" u="none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反距离</a:t>
            </a:r>
            <a:endParaRPr sz="143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430" b="1" u="none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生成权重</a:t>
            </a:r>
            <a:endParaRPr sz="143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FED19DE7-3226-4F36-8674-483A27FAD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320" y="3314880"/>
            <a:ext cx="1999800" cy="87588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DE8E8"/>
          </a:solidFill>
          <a:ln xmlns:a="http://schemas.openxmlformats.org/drawingml/2006/main" w="11520">
            <a:solidFill>
              <a:srgbClr val="E75255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C9C10477-7F07-4BE3-AC6A-C1A1A7F6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440" y="3438360"/>
            <a:ext cx="342720" cy="342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5255"/>
          </a:solidFill>
          <a:ln xmlns:a="http://schemas.openxmlformats.org/drawingml/2006/main" w="0">
            <a:solidFill>
              <a:srgbClr val="E75255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1" u="none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4</a:t>
            </a:r>
            <a:endParaRPr sz="1280" b="0" u="none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8EC7A753-F192-4AB8-BECF-46F880C07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560" y="3438360"/>
            <a:ext cx="1333080" cy="666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430" b="1" u="none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离群节点</a:t>
            </a:r>
            <a:endParaRPr sz="143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430" b="1" u="none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近零贡献</a:t>
            </a:r>
            <a:endParaRPr sz="143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cxnSp>
        <p:nvCxnSpPr>
          <p:cNvPr id="282" name=""/>
          <p:cNvCxnSpPr>
            <a:stCxn xmlns:a="http://schemas.openxmlformats.org/drawingml/2006/main" id="177" idx="3"/>
            <a:endCxn xmlns:a="http://schemas.openxmlformats.org/drawingml/2006/main" id="180" idx="1"/>
          </p:cNvCxnSpPr>
          <p:nvPr/>
        </p:nvCxnSpPr>
        <p:spPr>
          <a:xfrm xmlns:a="http://schemas.openxmlformats.org/drawingml/2006/main">
            <a:off x="8972280" y="2552760"/>
            <a:ext cx="248400" cy="360"/>
          </a:xfrm>
          <a:prstGeom xmlns:a="http://schemas.openxmlformats.org/drawingml/2006/main" prst="straightConnector1">
            <a:avLst/>
          </a:prstGeom>
          <a:ln xmlns:a="http://schemas.openxmlformats.org/drawingml/2006/main" w="19080">
            <a:solidFill>
              <a:srgbClr val="2F6BFF"/>
            </a:solidFill>
            <a:round/>
            <a:tailEnd type="triangle" w="sm" len="sm"/>
          </a:ln>
        </p:spPr>
      </p:cxnSp>
      <p:cxnSp>
        <p:nvCxnSpPr>
          <p:cNvPr id="283" name=""/>
          <p:cNvCxnSpPr>
            <a:stCxn xmlns:a="http://schemas.openxmlformats.org/drawingml/2006/main" id="180" idx="2"/>
            <a:endCxn xmlns:a="http://schemas.openxmlformats.org/drawingml/2006/main" id="183" idx="0"/>
          </p:cNvCxnSpPr>
          <p:nvPr/>
        </p:nvCxnSpPr>
        <p:spPr>
          <a:xfrm xmlns:a="http://schemas.openxmlformats.org/drawingml/2006/main" rot="5400000">
            <a:off x="8934120" y="2028600"/>
            <a:ext cx="324720" cy="2248200"/>
          </a:xfrm>
          <a:prstGeom xmlns:a="http://schemas.openxmlformats.org/drawingml/2006/main" prst="bentConnector3">
            <a:avLst>
              <a:gd name="adj1" fmla="val 50055"/>
            </a:avLst>
          </a:prstGeom>
          <a:ln xmlns:a="http://schemas.openxmlformats.org/drawingml/2006/main" w="19080">
            <a:solidFill>
              <a:srgbClr val="2F6BFF"/>
            </a:solidFill>
            <a:round/>
            <a:tailEnd type="triangle" w="sm" len="sm"/>
          </a:ln>
        </p:spPr>
      </p:cxnSp>
      <p:cxnSp>
        <p:nvCxnSpPr>
          <p:cNvPr id="284" name=""/>
          <p:cNvCxnSpPr>
            <a:stCxn xmlns:a="http://schemas.openxmlformats.org/drawingml/2006/main" id="183" idx="3"/>
            <a:endCxn xmlns:a="http://schemas.openxmlformats.org/drawingml/2006/main" id="186" idx="1"/>
          </p:cNvCxnSpPr>
          <p:nvPr/>
        </p:nvCxnSpPr>
        <p:spPr>
          <a:xfrm xmlns:a="http://schemas.openxmlformats.org/drawingml/2006/main">
            <a:off x="8972280" y="3753000"/>
            <a:ext cx="248400" cy="360"/>
          </a:xfrm>
          <a:prstGeom xmlns:a="http://schemas.openxmlformats.org/drawingml/2006/main" prst="straightConnector1">
            <a:avLst/>
          </a:prstGeom>
          <a:ln xmlns:a="http://schemas.openxmlformats.org/drawingml/2006/main" w="19080">
            <a:solidFill>
              <a:srgbClr val="2F6BFF"/>
            </a:solidFill>
            <a:round/>
            <a:tailEnd type="triangle" w="sm" len="sm"/>
          </a:ln>
        </p:spPr>
      </p:cxn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97BD5BF8-5402-4C06-A88F-617CE762A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480" y="4629240"/>
            <a:ext cx="4266720" cy="87588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360">
            <a:solidFill>
              <a:srgbClr val="F2D59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0B7DC474-6F36-4996-AFFA-8808EBB3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2000" y="4800600"/>
            <a:ext cx="2857320" cy="285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650" b="1" u="none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Fisher </a:t>
            </a:r>
            <a:r>
              <a:rPr sz="1650" b="1" u="none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信息量化贡献</a:t>
            </a:r>
            <a:endParaRPr sz="16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D246F9EE-F247-4119-98FE-B09EEEAF7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2000" y="5143680"/>
            <a:ext cx="3714480" cy="247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280" b="0" u="none">
                <a:solidFill>
                  <a:srgbClr val="516078"/>
                </a:solidFill>
                <a:latin typeface="Noto Sans CJK SC"/>
                <a:ea typeface="Noto Sans CJK SC"/>
                <a:cs typeface="Noto Sans CJK SC"/>
              </a:rPr>
              <a:t>关键知识权重大；搭便车节点自动降权</a:t>
            </a:r>
            <a:endParaRPr sz="128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E3C60CA3-8368-4EE1-A708-9AE9F672C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5981760"/>
            <a:ext cx="523836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50" b="0" i="1" u="none">
                <a:solidFill>
                  <a:srgbClr val="7B879B"/>
                </a:solidFill>
                <a:latin typeface="Noto Sans CJK SC"/>
                <a:ea typeface="Noto Sans CJK SC"/>
                <a:cs typeface="Noto Sans CJK SC"/>
              </a:rPr>
              <a:t>机制性质：本页不声称已完成投毒对抗实测</a:t>
            </a:r>
            <a:endParaRPr sz="10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A4118719-AFA2-4DAA-BF76-7C1BBB854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6534000"/>
            <a:ext cx="6667200" cy="17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820" b="0" u="none">
                <a:solidFill>
                  <a:srgbClr val="7B879B"/>
                </a:solidFill>
                <a:latin typeface="Noto Sans CJK SC"/>
                <a:ea typeface="Noto Sans CJK SC"/>
                <a:cs typeface="Noto Sans CJK SC"/>
              </a:rPr>
              <a:t>FedPKDA · RoboCup 2026</a:t>
            </a:r>
            <a:endParaRPr sz="82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16707204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F6B30A8C-B596-4265-A136-0A193B8A5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324000"/>
            <a:ext cx="495252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50" b="1" u="none">
                <a:solidFill>
                  <a:srgbClr val="2F6BFF"/>
                </a:solidFill>
                <a:latin typeface="Noto Sans CJK SC"/>
                <a:ea typeface="Noto Sans CJK SC"/>
                <a:cs typeface="Noto Sans CJK SC"/>
              </a:rPr>
              <a:t>02 / BREAKTHROUGH 3</a:t>
            </a:r>
            <a:endParaRPr sz="10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AC63FECA-3439-4B74-B7FF-D2064E9E3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647640"/>
            <a:ext cx="10667520" cy="57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3230" b="1" u="none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φ(t) </a:t>
            </a:r>
            <a:r>
              <a:rPr sz="3230" b="1" u="none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自动完成“先学本地、再吸收全局”的阶段切换</a:t>
            </a:r>
            <a:endParaRPr sz="323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69F133C3-6F50-423D-A700-AABA2FC5D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1295280"/>
            <a:ext cx="10972440" cy="9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4EE"/>
          </a:solidFill>
          <a:ln xmlns:a="http://schemas.openxmlformats.org/drawingml/2006/main" w="0">
            <a:solidFill>
              <a:srgbClr val="DDE4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8160" rIns="90000" bIns="-3816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3CCF5EFA-4DF7-4BB8-A5CD-EBDDE6145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1285920"/>
            <a:ext cx="894960" cy="280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24840" rIns="90000" bIns="-2484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25E3673E-6491-4625-8A89-AEF016977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40" y="324000"/>
            <a:ext cx="47592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</a:pPr>
            <a:r>
              <a:rPr sz="1050" b="1" u="none">
                <a:solidFill>
                  <a:srgbClr val="7B879B"/>
                </a:solidFill>
                <a:latin typeface="Noto Sans CJK SC"/>
                <a:ea typeface="Noto Sans CJK SC"/>
                <a:cs typeface="Noto Sans CJK SC"/>
              </a:rPr>
              <a:t>08</a:t>
            </a:r>
            <a:endParaRPr sz="10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FF2167EE-A736-4A0D-A57F-6621569BD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1676520"/>
            <a:ext cx="6667200" cy="390492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360">
            <a:solidFill>
              <a:srgbClr val="DDE4EE"/>
            </a:solidFill>
          </a:ln>
          <a:effectLst xmlns:a="http://schemas.openxmlformats.org/drawingml/2006/main">
            <a:outerShdw blurRad="19080" dist="9360" dir="5400000" rotWithShape="0">
              <a:srgbClr val="000000">
                <a:alpha val="6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graphicFrame>
        <p:nvGraphicFramePr>
          <p:cNvPr id="226" name="Chart"/>
          <p:cNvGraphicFramePr/>
          <p:nvPr/>
        </p:nvGraphicFramePr>
        <p:xfrm>
          <a:off xmlns:a="http://schemas.openxmlformats.org/drawingml/2006/main" x="895320" y="2048040"/>
          <a:ext xmlns:a="http://schemas.openxmlformats.org/drawingml/2006/main" cx="6095520" cy="285732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91d727e901a4d63"/>
          </a:graphicData>
        </a:graphic>
      </p:graphicFrame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87859659-F761-4D9D-ADA2-54200F9D6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60" y="5048280"/>
            <a:ext cx="1428480" cy="3045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360">
            <a:solidFill>
              <a:srgbClr val="FFF4D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6320" tIns="0" rIns="7632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30" b="1" u="none">
                <a:solidFill>
                  <a:srgbClr val="A45D00"/>
                </a:solidFill>
                <a:latin typeface="Noto Sans CJK SC"/>
                <a:ea typeface="Noto Sans CJK SC"/>
                <a:cs typeface="Noto Sans CJK SC"/>
              </a:rPr>
              <a:t>早期：偏本地</a:t>
            </a:r>
            <a:endParaRPr sz="113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59CD4D40-5D3F-4945-8461-67E979685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20" y="5048280"/>
            <a:ext cx="1428480" cy="3045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FAFC"/>
          </a:solidFill>
          <a:ln xmlns:a="http://schemas.openxmlformats.org/drawingml/2006/main" w="9360">
            <a:solidFill>
              <a:srgbClr val="E5FAF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6320" tIns="0" rIns="7632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30" b="1" u="none">
                <a:solidFill>
                  <a:srgbClr val="087E8C"/>
                </a:solidFill>
                <a:latin typeface="Noto Sans CJK SC"/>
                <a:ea typeface="Noto Sans CJK SC"/>
                <a:cs typeface="Noto Sans CJK SC"/>
              </a:rPr>
              <a:t>后期：偏全局</a:t>
            </a:r>
            <a:endParaRPr sz="113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76BDDE29-3873-4F05-848C-8E2AA65B7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280" y="1790640"/>
            <a:ext cx="361908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950" b="1" u="none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双对齐权重如何变化</a:t>
            </a:r>
            <a:endParaRPr sz="19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2B6A3673-F91B-4C5E-85CA-1B68A1EC8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280" y="2286000"/>
            <a:ext cx="3924000" cy="106632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360">
            <a:solidFill>
              <a:srgbClr val="EFD59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EEB7D2F4-3983-40EC-BCE4-FE0C9E84E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880" y="2457360"/>
            <a:ext cx="1352160" cy="323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729" b="1" u="none">
                <a:solidFill>
                  <a:srgbClr val="9A5B00"/>
                </a:solidFill>
                <a:latin typeface="Noto Sans CJK SC"/>
                <a:ea typeface="Noto Sans CJK SC"/>
                <a:cs typeface="Noto Sans CJK SC"/>
              </a:rPr>
              <a:t>本地对齐</a:t>
            </a:r>
            <a:endParaRPr sz="1729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4C868ADC-001B-4546-A0A3-680ABD0F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880" y="2876400"/>
            <a:ext cx="240012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280" b="0" u="none">
                <a:solidFill>
                  <a:srgbClr val="516078"/>
                </a:solidFill>
                <a:latin typeface="Noto Sans CJK SC"/>
                <a:ea typeface="Noto Sans CJK SC"/>
                <a:cs typeface="Noto Sans CJK SC"/>
              </a:rPr>
              <a:t>保留本机构个性化威胁特征</a:t>
            </a:r>
            <a:endParaRPr sz="128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6982D515-59F4-4C07-9281-755B3942E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000" y="2590920"/>
            <a:ext cx="1390320" cy="3614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360">
            <a:solidFill>
              <a:srgbClr val="E5C47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6320" tIns="0" rIns="7632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1" u="none">
                <a:solidFill>
                  <a:srgbClr val="9A5B00"/>
                </a:solidFill>
                <a:latin typeface="Noto Sans CJK SC"/>
                <a:ea typeface="Noto Sans CJK SC"/>
                <a:cs typeface="Noto Sans CJK SC"/>
              </a:rPr>
              <a:t>权重 </a:t>
            </a:r>
            <a:r>
              <a:rPr sz="1200" b="1" u="none">
                <a:solidFill>
                  <a:srgbClr val="9A5B00"/>
                </a:solidFill>
                <a:latin typeface="Noto Sans CJK SC"/>
                <a:ea typeface="Noto Sans CJK SC"/>
                <a:cs typeface="Noto Sans CJK SC"/>
              </a:rPr>
              <a:t>1 − φ(t)</a:t>
            </a:r>
            <a:endParaRPr sz="12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1BE8BA37-329C-464B-BD90-9C82817C4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280" y="3524400"/>
            <a:ext cx="3924000" cy="106632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5FAFC"/>
          </a:solidFill>
          <a:ln xmlns:a="http://schemas.openxmlformats.org/drawingml/2006/main" w="9360">
            <a:solidFill>
              <a:srgbClr val="BDECF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27A51C86-D9FC-49DA-855E-33B983475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880" y="3695760"/>
            <a:ext cx="1352160" cy="323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729" b="1" u="none">
                <a:solidFill>
                  <a:srgbClr val="087E8C"/>
                </a:solidFill>
                <a:latin typeface="Noto Sans CJK SC"/>
                <a:ea typeface="Noto Sans CJK SC"/>
                <a:cs typeface="Noto Sans CJK SC"/>
              </a:rPr>
              <a:t>全局对齐</a:t>
            </a:r>
            <a:endParaRPr sz="1729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8BCBE2FE-6F19-4AC2-88AE-F7F5A3452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880" y="4114800"/>
            <a:ext cx="240012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280" b="0" u="none">
                <a:solidFill>
                  <a:srgbClr val="516078"/>
                </a:solidFill>
                <a:latin typeface="Noto Sans CJK SC"/>
                <a:ea typeface="Noto Sans CJK SC"/>
                <a:cs typeface="Noto Sans CJK SC"/>
              </a:rPr>
              <a:t>吸收联盟跨机构共识知识</a:t>
            </a:r>
            <a:endParaRPr sz="128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B1ABAAD7-F8BB-4528-BD78-F7EBEBDE7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60" y="3828960"/>
            <a:ext cx="1257120" cy="3614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360">
            <a:solidFill>
              <a:srgbClr val="83DDE5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6320" tIns="0" rIns="7632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1" u="none">
                <a:solidFill>
                  <a:srgbClr val="087E8C"/>
                </a:solidFill>
                <a:latin typeface="Noto Sans CJK SC"/>
                <a:ea typeface="Noto Sans CJK SC"/>
                <a:cs typeface="Noto Sans CJK SC"/>
              </a:rPr>
              <a:t>权重 </a:t>
            </a:r>
            <a:r>
              <a:rPr sz="1200" b="1" u="none">
                <a:solidFill>
                  <a:srgbClr val="087E8C"/>
                </a:solidFill>
                <a:latin typeface="Noto Sans CJK SC"/>
                <a:ea typeface="Noto Sans CJK SC"/>
                <a:cs typeface="Noto Sans CJK SC"/>
              </a:rPr>
              <a:t>φ(t)</a:t>
            </a:r>
            <a:endParaRPr sz="12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01E561C4-95F2-42FB-B762-AC5305F58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280" y="4876920"/>
            <a:ext cx="3924000" cy="78084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B1530"/>
          </a:solidFill>
          <a:ln xmlns:a="http://schemas.openxmlformats.org/drawingml/2006/main" w="9360">
            <a:solidFill>
              <a:srgbClr val="0B153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8BAF29AF-FC2B-4503-890F-10F07F96C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880" y="5029200"/>
            <a:ext cx="3466800" cy="304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 lnSpcReduction="99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</a:pPr>
            <a:r>
              <a:rPr sz="1870" b="1" u="none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随训练轮次自动切换</a:t>
            </a:r>
            <a:endParaRPr sz="187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09C6C258-5C8C-40A1-944F-B702C714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880" y="5343480"/>
            <a:ext cx="346680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</a:pPr>
            <a:r>
              <a:rPr sz="1200" b="0" u="none">
                <a:solidFill>
                  <a:srgbClr val="B8C7E1"/>
                </a:solidFill>
                <a:latin typeface="Noto Sans CJK SC"/>
                <a:ea typeface="Noto Sans CJK SC"/>
                <a:cs typeface="Noto Sans CJK SC"/>
              </a:rPr>
              <a:t>早期偏本地  →  后期偏全局</a:t>
            </a:r>
            <a:endParaRPr sz="12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D2B5F5F4-9128-4EB8-9EB4-4778E9C40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6534000"/>
            <a:ext cx="6667200" cy="17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820" b="0" u="none">
                <a:solidFill>
                  <a:srgbClr val="7B879B"/>
                </a:solidFill>
                <a:latin typeface="Noto Sans CJK SC"/>
                <a:ea typeface="Noto Sans CJK SC"/>
                <a:cs typeface="Noto Sans CJK SC"/>
              </a:rPr>
              <a:t>FedPKDA · RoboCup 2026</a:t>
            </a:r>
            <a:endParaRPr sz="82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131385826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9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B8878973-EBE3-40CE-93B7-6C139B8258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200400" y="2286000"/>
            <a:ext cx="61722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l">
              <a:lnSpc>
                <a:spcPct val="90000"/>
              </a:lnSpc>
              <a:buNone/>
            </a:pPr>
            <a:r>
              <a:rPr sz="6600" b="1" u="none">
                <a:solidFill>
                  <a:schemeClr val="dk1"/>
                </a:solidFill>
                <a:latin typeface="Calibri Light"/>
                <a:ea typeface="Calibri Light"/>
                <a:cs typeface="Calibri Light"/>
              </a:rPr>
              <a:t>实验验证</a:t>
            </a:r>
            <a:endParaRPr sz="6600" b="0" u="none">
              <a:solidFill>
                <a:schemeClr val="dk1"/>
              </a:solidFill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4F92A9F0-40D3-4BB2-9686-9276A423E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080" y="1352880"/>
            <a:ext cx="1104480" cy="37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7D6"/>
          </a:solidFill>
          <a:ln xmlns:a="http://schemas.openxmlformats.org/drawingml/2006/main" w="0">
            <a:solidFill>
              <a:srgbClr val="22C7D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18000" rIns="90000" bIns="-18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57A7F9EB-B79A-44AF-9DB5-C04519CB4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840" y="5143680"/>
            <a:ext cx="2476080" cy="187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3456C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1320" rIns="90000" bIns="-3132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7A9B700E-41A2-4BDB-A15E-C576D4241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680" y="4953240"/>
            <a:ext cx="704520" cy="704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7D6"/>
          </a:solidFill>
          <a:ln xmlns:a="http://schemas.openxmlformats.org/drawingml/2006/main" w="0">
            <a:solidFill>
              <a:srgbClr val="22C7D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F003EB7A-0CB1-4C7B-A37C-95B95F5B3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440" y="876240"/>
            <a:ext cx="1428480" cy="1428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EA6B"/>
          </a:solidFill>
          <a:ln xmlns:a="http://schemas.openxmlformats.org/drawingml/2006/main" w="9360">
            <a:solidFill>
              <a:srgbClr val="F6F9D4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81677CEC-FDDF-45BA-BF81-D0999332E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7760"/>
            <a:ext cx="632520" cy="645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2800" b="1" u="none">
                <a:solidFill>
                  <a:srgbClr val="24B787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2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208395894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BF674061-1E54-4B31-BE18-57F58A148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324000"/>
            <a:ext cx="495252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50" b="1" u="none">
                <a:solidFill>
                  <a:srgbClr val="2F6BFF"/>
                </a:solidFill>
                <a:latin typeface="Noto Sans CJK SC"/>
                <a:ea typeface="Noto Sans CJK SC"/>
                <a:cs typeface="Noto Sans CJK SC"/>
              </a:rPr>
              <a:t>03 / EVIDENCE 1</a:t>
            </a:r>
            <a:endParaRPr sz="10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F9C5EF66-64C2-4140-B4E3-D11FA85C8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647640"/>
            <a:ext cx="10667520" cy="57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3230" b="1" u="none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异构数据上，</a:t>
            </a:r>
            <a:r>
              <a:rPr sz="3230" b="1" u="none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FedPKDA </a:t>
            </a:r>
            <a:r>
              <a:rPr sz="3230" b="1" u="none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的提升不是边际改进</a:t>
            </a:r>
            <a:endParaRPr sz="323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B3B10A2A-EE47-45DF-9A6B-03C3667C5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1295280"/>
            <a:ext cx="10972440" cy="9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4EE"/>
          </a:solidFill>
          <a:ln xmlns:a="http://schemas.openxmlformats.org/drawingml/2006/main" w="0">
            <a:solidFill>
              <a:srgbClr val="DDE4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8160" rIns="90000" bIns="-3816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1B007E86-452C-41DF-A750-1F1B4D884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1285920"/>
            <a:ext cx="894960" cy="280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2F6BFF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24840" rIns="90000" bIns="-2484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99803607-DE14-4961-9C7A-F88EBBAA7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40" y="324000"/>
            <a:ext cx="47592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</a:pPr>
            <a:r>
              <a:rPr sz="1050" b="1" u="none">
                <a:solidFill>
                  <a:srgbClr val="7B879B"/>
                </a:solidFill>
                <a:latin typeface="Noto Sans CJK SC"/>
                <a:ea typeface="Noto Sans CJK SC"/>
                <a:cs typeface="Noto Sans CJK SC"/>
              </a:rPr>
              <a:t>10</a:t>
            </a:r>
            <a:endParaRPr sz="10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070EC73C-B720-41D9-A732-8E66845B6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600" y="324000"/>
            <a:ext cx="4285800" cy="2854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360">
            <a:solidFill>
              <a:srgbClr val="EAF0FF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6320" tIns="0" rIns="7632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1" u="none">
                <a:solidFill>
                  <a:srgbClr val="2F6BFF"/>
                </a:solidFill>
                <a:latin typeface="Noto Sans CJK SC"/>
                <a:ea typeface="Noto Sans CJK SC"/>
                <a:cs typeface="Noto Sans CJK SC"/>
              </a:rPr>
              <a:t>论文背书：</a:t>
            </a:r>
            <a:r>
              <a:rPr sz="1050" b="1" u="none">
                <a:solidFill>
                  <a:srgbClr val="2F6BFF"/>
                </a:solidFill>
                <a:latin typeface="Noto Sans CJK SC"/>
                <a:ea typeface="Noto Sans CJK SC"/>
                <a:cs typeface="Noto Sans CJK SC"/>
              </a:rPr>
              <a:t>CIFAR-100 44.91%</a:t>
            </a:r>
            <a:r>
              <a:rPr sz="1050" b="1" u="none">
                <a:solidFill>
                  <a:srgbClr val="2F6BFF"/>
                </a:solidFill>
                <a:latin typeface="Noto Sans CJK SC"/>
                <a:ea typeface="Noto Sans CJK SC"/>
                <a:cs typeface="Noto Sans CJK SC"/>
              </a:rPr>
              <a:t>，领先 </a:t>
            </a:r>
            <a:r>
              <a:rPr sz="1050" b="1" u="none">
                <a:solidFill>
                  <a:srgbClr val="2F6BFF"/>
                </a:solidFill>
                <a:latin typeface="Noto Sans CJK SC"/>
                <a:ea typeface="Noto Sans CJK SC"/>
                <a:cs typeface="Noto Sans CJK SC"/>
              </a:rPr>
              <a:t>FedAS 4.23pp</a:t>
            </a:r>
            <a:endParaRPr sz="10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837DD9AD-7D5C-4290-ACA2-935C118E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600" y="1638360"/>
            <a:ext cx="5352840" cy="331452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360">
            <a:solidFill>
              <a:srgbClr val="DDE4EE"/>
            </a:solidFill>
          </a:ln>
          <a:effectLst xmlns:a="http://schemas.openxmlformats.org/drawingml/2006/main">
            <a:outerShdw blurRad="19080" dist="9360" dir="5400000" rotWithShape="0">
              <a:srgbClr val="000000">
                <a:alpha val="6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9CDE3B83-2AEC-4A01-B571-967AE29AE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60" y="1695600"/>
            <a:ext cx="5236560" cy="3200040"/>
          </a:xfrm>
          <a:prstGeom xmlns:a="http://schemas.openxmlformats.org/drawingml/2006/main" prst="roundRect">
            <a:avLst>
              <a:gd name="adj" fmla="val 2381"/>
            </a:avLst>
          </a:prstGeom>
          <a:blipFill xmlns:a="http://schemas.openxmlformats.org/drawingml/2006/main" rotWithShape="0">
            <a:blip xmlns:r="http://schemas.openxmlformats.org/officeDocument/2006/relationships" r:embed="Ra748ccb709dd4e1b"/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36E111B5-9B46-4A74-BEFB-7023562D4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680" y="1638360"/>
            <a:ext cx="5352840" cy="331452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360">
            <a:solidFill>
              <a:srgbClr val="DDE4EE"/>
            </a:solidFill>
          </a:ln>
          <a:effectLst xmlns:a="http://schemas.openxmlformats.org/drawingml/2006/main">
            <a:outerShdw blurRad="19080" dist="9360" dir="5400000" rotWithShape="0">
              <a:srgbClr val="000000">
                <a:alpha val="6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CE365601-5EEF-4942-8F86-858B104BE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4640" y="1695600"/>
            <a:ext cx="5236560" cy="3200040"/>
          </a:xfrm>
          <a:prstGeom xmlns:a="http://schemas.openxmlformats.org/drawingml/2006/main" prst="roundRect">
            <a:avLst>
              <a:gd name="adj" fmla="val 2381"/>
            </a:avLst>
          </a:prstGeom>
          <a:blipFill xmlns:a="http://schemas.openxmlformats.org/drawingml/2006/main" rotWithShape="0">
            <a:blip xmlns:r="http://schemas.openxmlformats.org/officeDocument/2006/relationships" r:embed="Rf6ef83408b02493b"/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0B97D212-D1EC-401E-BD36-F9224A448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5105520"/>
            <a:ext cx="238104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280" b="1" u="none">
                <a:solidFill>
                  <a:srgbClr val="7B879B"/>
                </a:solidFill>
                <a:latin typeface="Noto Sans CJK SC"/>
                <a:ea typeface="Noto Sans CJK SC"/>
                <a:cs typeface="Noto Sans CJK SC"/>
              </a:rPr>
              <a:t>CIFAR-100</a:t>
            </a:r>
            <a:endParaRPr sz="128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9BB06C2E-7110-4FD3-81D6-B896DF047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5410080"/>
            <a:ext cx="180936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2850" b="1" u="none">
                <a:solidFill>
                  <a:srgbClr val="E75255"/>
                </a:solidFill>
                <a:latin typeface="Noto Sans CJK SC"/>
                <a:ea typeface="Noto Sans CJK SC"/>
                <a:cs typeface="Noto Sans CJK SC"/>
              </a:rPr>
              <a:t>45.29%</a:t>
            </a:r>
            <a:endParaRPr sz="28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FED555E8-2EDC-4AE4-B24B-C5924541F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360" y="5524560"/>
            <a:ext cx="2190240" cy="285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350" b="0" u="none">
                <a:solidFill>
                  <a:srgbClr val="516078"/>
                </a:solidFill>
                <a:latin typeface="Noto Sans CJK SC"/>
                <a:ea typeface="Noto Sans CJK SC"/>
                <a:cs typeface="Noto Sans CJK SC"/>
              </a:rPr>
              <a:t>vs FedAvg 27.87%</a:t>
            </a:r>
            <a:endParaRPr sz="13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5D5C4133-0B31-4112-9CBA-0C00B6F3E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240" y="5429160"/>
            <a:ext cx="1142640" cy="3614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8E8"/>
          </a:solidFill>
          <a:ln xmlns:a="http://schemas.openxmlformats.org/drawingml/2006/main" w="9360">
            <a:solidFill>
              <a:srgbClr val="FDE8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6320" tIns="0" rIns="7632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350" b="1" u="none">
                <a:solidFill>
                  <a:srgbClr val="E75255"/>
                </a:solidFill>
                <a:latin typeface="Noto Sans CJK SC"/>
                <a:ea typeface="Noto Sans CJK SC"/>
                <a:cs typeface="Noto Sans CJK SC"/>
              </a:rPr>
              <a:t>+17.42pp</a:t>
            </a:r>
            <a:endParaRPr sz="13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5F0A8CF9-DB56-4A09-ADF4-C3BDF282A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560" y="5105520"/>
            <a:ext cx="238104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280" b="1" u="none">
                <a:solidFill>
                  <a:srgbClr val="7B879B"/>
                </a:solidFill>
                <a:latin typeface="Noto Sans CJK SC"/>
                <a:ea typeface="Noto Sans CJK SC"/>
                <a:cs typeface="Noto Sans CJK SC"/>
              </a:rPr>
              <a:t>Flowers102</a:t>
            </a:r>
            <a:endParaRPr sz="128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8C60A6BC-F4A6-471A-9DFF-AFAB8E5CA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560" y="5410080"/>
            <a:ext cx="180936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2850" b="1" u="none">
                <a:solidFill>
                  <a:srgbClr val="E75255"/>
                </a:solidFill>
                <a:latin typeface="Noto Sans CJK SC"/>
                <a:ea typeface="Noto Sans CJK SC"/>
                <a:cs typeface="Noto Sans CJK SC"/>
              </a:rPr>
              <a:t>36.65%</a:t>
            </a:r>
            <a:endParaRPr sz="28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34F17F7F-8DB7-4008-A3FD-45F4318BB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440" y="5524560"/>
            <a:ext cx="2190240" cy="285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350" b="0" u="none">
                <a:solidFill>
                  <a:srgbClr val="516078"/>
                </a:solidFill>
                <a:latin typeface="Noto Sans CJK SC"/>
                <a:ea typeface="Noto Sans CJK SC"/>
                <a:cs typeface="Noto Sans CJK SC"/>
              </a:rPr>
              <a:t>vs FedAvg 30.15%</a:t>
            </a:r>
            <a:endParaRPr sz="13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21C8D0DD-3F08-4D4D-BF52-01B913569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400" y="5429160"/>
            <a:ext cx="1104480" cy="3614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8E8"/>
          </a:solidFill>
          <a:ln xmlns:a="http://schemas.openxmlformats.org/drawingml/2006/main" w="9360">
            <a:solidFill>
              <a:srgbClr val="FDE8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6320" tIns="0" rIns="7632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350" b="1" u="none">
                <a:solidFill>
                  <a:srgbClr val="E75255"/>
                </a:solidFill>
                <a:latin typeface="Noto Sans CJK SC"/>
                <a:ea typeface="Noto Sans CJK SC"/>
                <a:cs typeface="Noto Sans CJK SC"/>
              </a:rPr>
              <a:t>+6.50pp</a:t>
            </a:r>
            <a:endParaRPr sz="13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B892F69E-F42C-4B2F-98BB-DEBA45341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6114960"/>
            <a:ext cx="8953200" cy="247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50" b="0" u="none">
                <a:solidFill>
                  <a:srgbClr val="7B879B"/>
                </a:solidFill>
                <a:latin typeface="Noto Sans CJK SC"/>
                <a:ea typeface="Noto Sans CJK SC"/>
                <a:cs typeface="Noto Sans CJK SC"/>
              </a:rPr>
              <a:t>项目实测：</a:t>
            </a:r>
            <a:r>
              <a:rPr sz="1050" b="0" u="none">
                <a:solidFill>
                  <a:srgbClr val="7B879B"/>
                </a:solidFill>
                <a:latin typeface="Noto Sans CJK SC"/>
                <a:ea typeface="Noto Sans CJK SC"/>
                <a:cs typeface="Noto Sans CJK SC"/>
              </a:rPr>
              <a:t>3 </a:t>
            </a:r>
            <a:r>
              <a:rPr sz="1050" b="0" u="none">
                <a:solidFill>
                  <a:srgbClr val="7B879B"/>
                </a:solidFill>
                <a:latin typeface="Noto Sans CJK SC"/>
                <a:ea typeface="Noto Sans CJK SC"/>
                <a:cs typeface="Noto Sans CJK SC"/>
              </a:rPr>
              <a:t>数据集、</a:t>
            </a:r>
            <a:r>
              <a:rPr sz="1050" b="0" u="none">
                <a:solidFill>
                  <a:srgbClr val="7B879B"/>
                </a:solidFill>
                <a:latin typeface="Noto Sans CJK SC"/>
                <a:ea typeface="Noto Sans CJK SC"/>
                <a:cs typeface="Noto Sans CJK SC"/>
              </a:rPr>
              <a:t>15 </a:t>
            </a:r>
            <a:r>
              <a:rPr sz="1050" b="0" u="none">
                <a:solidFill>
                  <a:srgbClr val="7B879B"/>
                </a:solidFill>
                <a:latin typeface="Noto Sans CJK SC"/>
                <a:ea typeface="Noto Sans CJK SC"/>
                <a:cs typeface="Noto Sans CJK SC"/>
              </a:rPr>
              <a:t>组实验、每组 </a:t>
            </a:r>
            <a:r>
              <a:rPr sz="1050" b="0" u="none">
                <a:solidFill>
                  <a:srgbClr val="7B879B"/>
                </a:solidFill>
                <a:latin typeface="Noto Sans CJK SC"/>
                <a:ea typeface="Noto Sans CJK SC"/>
                <a:cs typeface="Noto Sans CJK SC"/>
              </a:rPr>
              <a:t>run=0</a:t>
            </a:r>
            <a:r>
              <a:rPr sz="1050" b="0" u="none">
                <a:solidFill>
                  <a:srgbClr val="7B879B"/>
                </a:solidFill>
                <a:latin typeface="Noto Sans CJK SC"/>
                <a:ea typeface="Noto Sans CJK SC"/>
                <a:cs typeface="Noto Sans CJK SC"/>
              </a:rPr>
              <a:t>；误差带为客户端间测试精度 </a:t>
            </a:r>
            <a:r>
              <a:rPr sz="1050" b="0" u="none">
                <a:solidFill>
                  <a:srgbClr val="7B879B"/>
                </a:solidFill>
                <a:latin typeface="Noto Sans CJK SC"/>
                <a:ea typeface="Noto Sans CJK SC"/>
                <a:cs typeface="Noto Sans CJK SC"/>
              </a:rPr>
              <a:t>std</a:t>
            </a:r>
            <a:endParaRPr sz="10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0111B8A8-7AD8-4CEA-A84B-4A9C1FB40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6534000"/>
            <a:ext cx="6667200" cy="17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820" b="0" u="none">
                <a:solidFill>
                  <a:srgbClr val="7B879B"/>
                </a:solidFill>
                <a:latin typeface="Noto Sans CJK SC"/>
                <a:ea typeface="Noto Sans CJK SC"/>
                <a:cs typeface="Noto Sans CJK SC"/>
              </a:rPr>
              <a:t>FedPKDA · RoboCup 2026</a:t>
            </a:r>
            <a:endParaRPr sz="82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91208755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11FD46C6-61AA-4831-9AC2-D076E0964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324000"/>
            <a:ext cx="495252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50" b="1" u="none">
                <a:solidFill>
                  <a:srgbClr val="2F6BFF"/>
                </a:solidFill>
                <a:latin typeface="Noto Sans CJK SC"/>
                <a:ea typeface="Noto Sans CJK SC"/>
                <a:cs typeface="Noto Sans CJK SC"/>
              </a:rPr>
              <a:t>03 / EVIDENCE 2</a:t>
            </a:r>
            <a:endParaRPr sz="10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8BD8B124-EB0F-4EDB-B9F5-23C93FEED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647640"/>
            <a:ext cx="10667520" cy="57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3230" b="1" u="none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安全联盟真正需要的不是峰值，而是稀疏参与下不崩</a:t>
            </a:r>
            <a:endParaRPr sz="323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32847F3F-300F-4E71-B359-AD050B1D4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1295280"/>
            <a:ext cx="10972440" cy="9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4EE"/>
          </a:solidFill>
          <a:ln xmlns:a="http://schemas.openxmlformats.org/drawingml/2006/main" w="0">
            <a:solidFill>
              <a:srgbClr val="DDE4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8160" rIns="90000" bIns="-3816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01D1DE74-1F5B-4D73-AFEE-71DEC31B3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1285920"/>
            <a:ext cx="894960" cy="280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5255"/>
          </a:solidFill>
          <a:ln xmlns:a="http://schemas.openxmlformats.org/drawingml/2006/main" w="0">
            <a:solidFill>
              <a:srgbClr val="E75255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24840" rIns="90000" bIns="-2484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F4158B5E-77A5-48DF-8C4D-9DAFDCF04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40" y="324000"/>
            <a:ext cx="47592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</a:pPr>
            <a:r>
              <a:rPr sz="1050" b="1" u="none">
                <a:solidFill>
                  <a:srgbClr val="7B879B"/>
                </a:solidFill>
                <a:latin typeface="Noto Sans CJK SC"/>
                <a:ea typeface="Noto Sans CJK SC"/>
                <a:cs typeface="Noto Sans CJK SC"/>
              </a:rPr>
              <a:t>11</a:t>
            </a:r>
            <a:endParaRPr sz="10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B85A9057-170B-4918-890C-2006832C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600" y="1619280"/>
            <a:ext cx="7448040" cy="4590720"/>
          </a:xfrm>
          <a:prstGeom xmlns:a="http://schemas.openxmlformats.org/drawingml/2006/main" prst="roundRect">
            <a:avLst>
              <a:gd name="adj" fmla="val 24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360">
            <a:solidFill>
              <a:srgbClr val="DDE4EE"/>
            </a:solidFill>
          </a:ln>
          <a:effectLst xmlns:a="http://schemas.openxmlformats.org/drawingml/2006/main">
            <a:outerShdw blurRad="19080" dist="9360" dir="5400000" rotWithShape="0">
              <a:srgbClr val="000000">
                <a:alpha val="6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10BAB93C-BBE4-4D6D-8A5C-EABE41D7D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800" y="1676520"/>
            <a:ext cx="7325280" cy="4476240"/>
          </a:xfrm>
          <a:prstGeom xmlns:a="http://schemas.openxmlformats.org/drawingml/2006/main" prst="roundRect">
            <a:avLst>
              <a:gd name="adj" fmla="val 1702"/>
            </a:avLst>
          </a:prstGeom>
          <a:blipFill xmlns:a="http://schemas.openxmlformats.org/drawingml/2006/main" rotWithShape="0">
            <a:blip xmlns:r="http://schemas.openxmlformats.org/officeDocument/2006/relationships" r:embed="R782a69399bb44363"/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D14FD37F-1906-4E42-AE54-3EE30A478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5000" y="1676520"/>
            <a:ext cx="3257280" cy="179028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0B1530"/>
          </a:solidFill>
          <a:ln xmlns:a="http://schemas.openxmlformats.org/drawingml/2006/main" w="9360">
            <a:solidFill>
              <a:srgbClr val="0B1530"/>
            </a:solidFill>
          </a:ln>
          <a:effectLst xmlns:a="http://schemas.openxmlformats.org/drawingml/2006/main">
            <a:outerShdw blurRad="19080" dist="9360" dir="5400000" rotWithShape="0">
              <a:srgbClr val="000000">
                <a:alpha val="6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5283C4D8-43C4-4E9F-B23D-DC4C5139D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680" y="1886040"/>
            <a:ext cx="2190240" cy="3045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395F"/>
          </a:solidFill>
          <a:ln xmlns:a="http://schemas.openxmlformats.org/drawingml/2006/main" w="9360">
            <a:solidFill>
              <a:srgbClr val="26395F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6320" tIns="0" rIns="7632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1" u="none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极端稀疏参与 </a:t>
            </a:r>
            <a:r>
              <a:rPr sz="1050" b="1" u="none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jr=0.1</a:t>
            </a:r>
            <a:endParaRPr sz="1050" b="0" u="none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47092720-3C2A-4FE9-ABD6-16F179247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680" y="2362320"/>
            <a:ext cx="112356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280" b="1" u="none">
                <a:solidFill>
                  <a:srgbClr val="FFB6B8"/>
                </a:solidFill>
                <a:latin typeface="Noto Sans CJK SC"/>
                <a:ea typeface="Noto Sans CJK SC"/>
                <a:cs typeface="Noto Sans CJK SC"/>
              </a:rPr>
              <a:t>FedAvg</a:t>
            </a:r>
            <a:endParaRPr sz="128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7BBFCF83-8900-4521-A5D5-618CE54F0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680" y="2647800"/>
            <a:ext cx="2628720" cy="39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2250" b="1" u="none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94.09 → 53.39</a:t>
            </a:r>
            <a:endParaRPr sz="22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3938959F-547A-4854-A16D-C8D6A2BE5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680" y="3105000"/>
            <a:ext cx="238104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350" b="1" u="none">
                <a:solidFill>
                  <a:srgbClr val="FFB6B8"/>
                </a:solidFill>
                <a:latin typeface="Noto Sans CJK SC"/>
                <a:ea typeface="Noto Sans CJK SC"/>
                <a:cs typeface="Noto Sans CJK SC"/>
              </a:rPr>
              <a:t>-40.7pp </a:t>
            </a:r>
            <a:r>
              <a:rPr sz="1350" b="1" u="none">
                <a:solidFill>
                  <a:srgbClr val="FFB6B8"/>
                </a:solidFill>
                <a:latin typeface="Noto Sans CJK SC"/>
                <a:ea typeface="Noto Sans CJK SC"/>
                <a:cs typeface="Noto Sans CJK SC"/>
              </a:rPr>
              <a:t>崩塌</a:t>
            </a:r>
            <a:endParaRPr sz="13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64E3E5CA-736A-4036-AA60-8301A08E8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5000" y="3638520"/>
            <a:ext cx="3257280" cy="179028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E5FAFC"/>
          </a:solidFill>
          <a:ln xmlns:a="http://schemas.openxmlformats.org/drawingml/2006/main" w="9360">
            <a:solidFill>
              <a:srgbClr val="BDECF1"/>
            </a:solidFill>
          </a:ln>
          <a:effectLst xmlns:a="http://schemas.openxmlformats.org/drawingml/2006/main">
            <a:outerShdw blurRad="19080" dist="9360" dir="5400000" rotWithShape="0">
              <a:srgbClr val="000000">
                <a:alpha val="6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B4A1D190-C07D-4921-BA42-618182FBA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680" y="3905280"/>
            <a:ext cx="142848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280" b="1" u="none">
                <a:solidFill>
                  <a:srgbClr val="2F6BFF"/>
                </a:solidFill>
                <a:latin typeface="Noto Sans CJK SC"/>
                <a:ea typeface="Noto Sans CJK SC"/>
                <a:cs typeface="Noto Sans CJK SC"/>
              </a:rPr>
              <a:t>FedPKDA</a:t>
            </a:r>
            <a:endParaRPr sz="128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E691DCB8-0580-41F8-9C77-06A19DF9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680" y="4248000"/>
            <a:ext cx="2685600" cy="39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2250" b="1" u="none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99.67 → 99.66</a:t>
            </a:r>
            <a:endParaRPr sz="22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F3A3D344-C3E1-49A7-BB70-C5EA473A5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680" y="4743360"/>
            <a:ext cx="247608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350" b="1" u="none">
                <a:solidFill>
                  <a:srgbClr val="24B787"/>
                </a:solidFill>
                <a:latin typeface="Noto Sans CJK SC"/>
                <a:ea typeface="Noto Sans CJK SC"/>
                <a:cs typeface="Noto Sans CJK SC"/>
              </a:rPr>
              <a:t>±0.01pp</a:t>
            </a:r>
            <a:r>
              <a:rPr sz="1350" b="1" u="none">
                <a:solidFill>
                  <a:srgbClr val="24B787"/>
                </a:solidFill>
                <a:latin typeface="Noto Sans CJK SC"/>
                <a:ea typeface="Noto Sans CJK SC"/>
                <a:cs typeface="Noto Sans CJK SC"/>
              </a:rPr>
              <a:t>，稳定收敛</a:t>
            </a:r>
            <a:endParaRPr sz="13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7D1C6CDF-DF66-4747-A160-6460EF569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5000" y="5638680"/>
            <a:ext cx="3257280" cy="9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4EE"/>
          </a:solidFill>
          <a:ln xmlns:a="http://schemas.openxmlformats.org/drawingml/2006/main" w="0">
            <a:solidFill>
              <a:srgbClr val="DDE4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8160" rIns="90000" bIns="-3816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E4C49CA5-0EAC-47D5-BB62-3978FFFFF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20" y="5829480"/>
            <a:ext cx="1333080" cy="247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200" b="0" u="none">
                <a:solidFill>
                  <a:srgbClr val="7B879B"/>
                </a:solidFill>
                <a:latin typeface="Noto Sans CJK SC"/>
                <a:ea typeface="Noto Sans CJK SC"/>
                <a:cs typeface="Noto Sans CJK SC"/>
              </a:rPr>
              <a:t>最后 </a:t>
            </a:r>
            <a:r>
              <a:rPr sz="1200" b="0" u="none">
                <a:solidFill>
                  <a:srgbClr val="7B879B"/>
                </a:solidFill>
                <a:latin typeface="Noto Sans CJK SC"/>
                <a:ea typeface="Noto Sans CJK SC"/>
                <a:cs typeface="Noto Sans CJK SC"/>
              </a:rPr>
              <a:t>10 </a:t>
            </a:r>
            <a:r>
              <a:rPr sz="1200" b="0" u="none">
                <a:solidFill>
                  <a:srgbClr val="7B879B"/>
                </a:solidFill>
                <a:latin typeface="Noto Sans CJK SC"/>
                <a:ea typeface="Noto Sans CJK SC"/>
                <a:cs typeface="Noto Sans CJK SC"/>
              </a:rPr>
              <a:t>轮 </a:t>
            </a:r>
            <a:r>
              <a:rPr sz="1200" b="0" u="none">
                <a:solidFill>
                  <a:srgbClr val="7B879B"/>
                </a:solidFill>
                <a:latin typeface="Noto Sans CJK SC"/>
                <a:ea typeface="Noto Sans CJK SC"/>
                <a:cs typeface="Noto Sans CJK SC"/>
              </a:rPr>
              <a:t>std</a:t>
            </a:r>
            <a:endParaRPr sz="12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2541C5D3-E43B-4581-B4CB-406F41009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520" y="5810400"/>
            <a:ext cx="171432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280" b="1" u="none">
                <a:solidFill>
                  <a:srgbClr val="E75255"/>
                </a:solidFill>
                <a:latin typeface="Noto Sans CJK SC"/>
                <a:ea typeface="Noto Sans CJK SC"/>
                <a:cs typeface="Noto Sans CJK SC"/>
              </a:rPr>
              <a:t>FedAvg 1.2-15.7</a:t>
            </a:r>
            <a:endParaRPr sz="128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3C2E2129-7616-4311-BA9E-308AA6538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520" y="6095880"/>
            <a:ext cx="171432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280" b="1" u="none">
                <a:solidFill>
                  <a:srgbClr val="24B787"/>
                </a:solidFill>
                <a:latin typeface="Noto Sans CJK SC"/>
                <a:ea typeface="Noto Sans CJK SC"/>
                <a:cs typeface="Noto Sans CJK SC"/>
              </a:rPr>
              <a:t>FedPKDA 0.00</a:t>
            </a:r>
            <a:endParaRPr sz="128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42B8677C-F50F-44FF-A129-43B8C22DB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6229440"/>
            <a:ext cx="6953040" cy="19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980" b="0" u="none">
                <a:solidFill>
                  <a:srgbClr val="7B879B"/>
                </a:solidFill>
                <a:latin typeface="Noto Sans CJK SC"/>
                <a:ea typeface="Noto Sans CJK SC"/>
                <a:cs typeface="Noto Sans CJK SC"/>
              </a:rPr>
              <a:t>项目实测 </a:t>
            </a:r>
            <a:r>
              <a:rPr sz="980" b="0" u="none">
                <a:solidFill>
                  <a:srgbClr val="7B879B"/>
                </a:solidFill>
                <a:latin typeface="Noto Sans CJK SC"/>
                <a:ea typeface="Noto Sans CJK SC"/>
                <a:cs typeface="Noto Sans CJK SC"/>
              </a:rPr>
              <a:t>· run=0 · </a:t>
            </a:r>
            <a:r>
              <a:rPr sz="980" b="0" u="none">
                <a:solidFill>
                  <a:srgbClr val="7B879B"/>
                </a:solidFill>
                <a:latin typeface="Noto Sans CJK SC"/>
                <a:ea typeface="Noto Sans CJK SC"/>
                <a:cs typeface="Noto Sans CJK SC"/>
              </a:rPr>
              <a:t>稳定性用 </a:t>
            </a:r>
            <a:r>
              <a:rPr sz="980" b="0" u="none">
                <a:solidFill>
                  <a:srgbClr val="7B879B"/>
                </a:solidFill>
                <a:latin typeface="Noto Sans CJK SC"/>
                <a:ea typeface="Noto Sans CJK SC"/>
                <a:cs typeface="Noto Sans CJK SC"/>
              </a:rPr>
              <a:t>best→final </a:t>
            </a:r>
            <a:r>
              <a:rPr sz="980" b="0" u="none">
                <a:solidFill>
                  <a:srgbClr val="7B879B"/>
                </a:solidFill>
                <a:latin typeface="Noto Sans CJK SC"/>
                <a:ea typeface="Noto Sans CJK SC"/>
                <a:cs typeface="Noto Sans CJK SC"/>
              </a:rPr>
              <a:t>与收敛后波动表述</a:t>
            </a:r>
            <a:endParaRPr sz="98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117F1989-9A10-40E1-8A35-9AD902E86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6534000"/>
            <a:ext cx="6667200" cy="17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820" b="0" u="none">
                <a:solidFill>
                  <a:srgbClr val="7B879B"/>
                </a:solidFill>
                <a:latin typeface="Noto Sans CJK SC"/>
                <a:ea typeface="Noto Sans CJK SC"/>
                <a:cs typeface="Noto Sans CJK SC"/>
              </a:rPr>
              <a:t>FedPKDA · RoboCup 2026</a:t>
            </a:r>
            <a:endParaRPr sz="82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204351037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7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C04E6543-33EC-44C1-B43A-86F9570BEA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200400" y="2286000"/>
            <a:ext cx="61722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l">
              <a:lnSpc>
                <a:spcPct val="90000"/>
              </a:lnSpc>
              <a:buNone/>
            </a:pPr>
            <a:r>
              <a:rPr sz="6600" b="1" u="none">
                <a:solidFill>
                  <a:schemeClr val="dk1"/>
                </a:solidFill>
                <a:latin typeface="Calibri Light"/>
                <a:ea typeface="Calibri Light"/>
                <a:cs typeface="Calibri Light"/>
              </a:rPr>
              <a:t>系统设计</a:t>
            </a:r>
            <a:endParaRPr sz="6600" b="0" u="none">
              <a:solidFill>
                <a:schemeClr val="dk1"/>
              </a:solidFill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D669CD8E-1DFB-465D-BBED-7F330816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080" y="1352880"/>
            <a:ext cx="1104480" cy="37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7D6"/>
          </a:solidFill>
          <a:ln xmlns:a="http://schemas.openxmlformats.org/drawingml/2006/main" w="0">
            <a:solidFill>
              <a:srgbClr val="22C7D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18000" rIns="90000" bIns="-18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C8E4F32D-D383-47FC-A5EA-EE8B1A5AB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840" y="5143680"/>
            <a:ext cx="2476080" cy="187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3456C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1320" rIns="90000" bIns="-3132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C91A1EF3-90EB-4F92-A0C2-C5198B5AB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680" y="4953240"/>
            <a:ext cx="704520" cy="704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7D6"/>
          </a:solidFill>
          <a:ln xmlns:a="http://schemas.openxmlformats.org/drawingml/2006/main" w="0">
            <a:solidFill>
              <a:srgbClr val="22C7D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A3AF645A-49AB-43BF-9C85-8041070E7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440" y="876240"/>
            <a:ext cx="1428480" cy="1428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EA6B"/>
          </a:solidFill>
          <a:ln xmlns:a="http://schemas.openxmlformats.org/drawingml/2006/main" w="9360">
            <a:solidFill>
              <a:srgbClr val="F6F9D4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FE43D950-08EC-4D07-B28E-B1F0DA05D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45560"/>
            <a:ext cx="632520" cy="645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2800" b="1" u="none">
                <a:solidFill>
                  <a:srgbClr val="22C7D6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2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16468442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4FE74D80-DDF2-48B0-A031-46B123F43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324000"/>
            <a:ext cx="495252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50" b="1" u="none">
                <a:solidFill>
                  <a:srgbClr val="2F6BFF"/>
                </a:solidFill>
                <a:latin typeface="Noto Sans CJK SC"/>
                <a:ea typeface="Noto Sans CJK SC"/>
                <a:cs typeface="Noto Sans CJK SC"/>
              </a:rPr>
              <a:t>04 / SYSTEM ARCHITECTURE</a:t>
            </a:r>
            <a:endParaRPr sz="10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D6390F7A-4FA7-4611-B5D5-422E08E79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647640"/>
            <a:ext cx="10667520" cy="57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3000" b="1" u="none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模型聚合与原型聚合两条闭环，共同驱动 </a:t>
            </a:r>
            <a:r>
              <a:rPr sz="3000" b="1" u="none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FedPKDA</a:t>
            </a:r>
            <a:endParaRPr sz="30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F1ED8D90-51C2-447B-8481-42A609589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1295280"/>
            <a:ext cx="10972440" cy="9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4EE"/>
          </a:solidFill>
          <a:ln xmlns:a="http://schemas.openxmlformats.org/drawingml/2006/main" w="0">
            <a:solidFill>
              <a:srgbClr val="DDE4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8160" rIns="90000" bIns="-3816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004F2491-85EF-4271-9B72-C0C67280F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1285920"/>
            <a:ext cx="894960" cy="280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7D6"/>
          </a:solidFill>
          <a:ln xmlns:a="http://schemas.openxmlformats.org/drawingml/2006/main" w="0">
            <a:solidFill>
              <a:srgbClr val="22C7D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24840" rIns="90000" bIns="-2484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26233B67-4804-4160-9823-DE0CBB2DC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40" y="324000"/>
            <a:ext cx="47592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</a:pPr>
            <a:r>
              <a:rPr sz="1050" b="1" u="none">
                <a:solidFill>
                  <a:srgbClr val="7B879B"/>
                </a:solidFill>
                <a:latin typeface="Noto Sans CJK SC"/>
                <a:ea typeface="Noto Sans CJK SC"/>
                <a:cs typeface="Noto Sans CJK SC"/>
              </a:rPr>
              <a:t>13</a:t>
            </a:r>
            <a:endParaRPr sz="10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6AF6A393-1244-4751-81DE-A1265F26F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1619280"/>
            <a:ext cx="10972440" cy="116172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360">
            <a:solidFill>
              <a:srgbClr val="DDE4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97932F6E-2F78-4C4A-AE56-0DC6C3564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3143160"/>
            <a:ext cx="10972440" cy="133308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360">
            <a:solidFill>
              <a:srgbClr val="DDE4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C1949117-585C-490C-868C-869737EEE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4876920"/>
            <a:ext cx="10972440" cy="125712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360">
            <a:solidFill>
              <a:srgbClr val="DDE4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AFF5B37B-A7A2-4C2F-B61D-D192B7733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2080" y="2181240"/>
            <a:ext cx="856800" cy="171000"/>
          </a:xfrm>
          <a:prstGeom xmlns:a="http://schemas.openxmlformats.org/drawingml/2006/main" prst="rightArrow">
            <a:avLst>
              <a:gd name="adj1" fmla="val 50000"/>
              <a:gd name="adj2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2F6BFF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0680" rIns="90000" bIns="4068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347275CD-9EAA-4C54-A6E6-756676FE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181240"/>
            <a:ext cx="856800" cy="171000"/>
          </a:xfrm>
          <a:prstGeom xmlns:a="http://schemas.openxmlformats.org/drawingml/2006/main" prst="rightArrow">
            <a:avLst>
              <a:gd name="adj1" fmla="val 50000"/>
              <a:gd name="adj2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2F6BFF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0680" rIns="90000" bIns="4068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88BF5805-62D2-4429-9A3F-589A47A7B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5960" y="3781440"/>
            <a:ext cx="228240" cy="151920"/>
          </a:xfrm>
          <a:prstGeom xmlns:a="http://schemas.openxmlformats.org/drawingml/2006/main" prst="rightArrow">
            <a:avLst>
              <a:gd name="adj1" fmla="val 50000"/>
              <a:gd name="adj2" fmla="val 50000"/>
            </a:avLst>
          </a:prstGeom>
          <a:solidFill xmlns:a="http://schemas.openxmlformats.org/drawingml/2006/main">
            <a:srgbClr val="24B787"/>
          </a:solidFill>
          <a:ln xmlns:a="http://schemas.openxmlformats.org/drawingml/2006/main" w="0">
            <a:solidFill>
              <a:srgbClr val="24B78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31320" rIns="90000" bIns="3132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4911AE9F-043C-4B90-92B4-8174370B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440" y="3781440"/>
            <a:ext cx="228240" cy="151920"/>
          </a:xfrm>
          <a:prstGeom xmlns:a="http://schemas.openxmlformats.org/drawingml/2006/main" prst="rightArrow">
            <a:avLst>
              <a:gd name="adj1" fmla="val 50000"/>
              <a:gd name="adj2" fmla="val 50000"/>
            </a:avLst>
          </a:prstGeom>
          <a:solidFill xmlns:a="http://schemas.openxmlformats.org/drawingml/2006/main">
            <a:srgbClr val="24B787"/>
          </a:solidFill>
          <a:ln xmlns:a="http://schemas.openxmlformats.org/drawingml/2006/main" w="0">
            <a:solidFill>
              <a:srgbClr val="24B78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31320" rIns="90000" bIns="3132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5D3D5917-23F3-4B76-A323-3DAFEFC7D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20" y="3781440"/>
            <a:ext cx="228240" cy="151920"/>
          </a:xfrm>
          <a:prstGeom xmlns:a="http://schemas.openxmlformats.org/drawingml/2006/main" prst="rightArrow">
            <a:avLst>
              <a:gd name="adj1" fmla="val 50000"/>
              <a:gd name="adj2" fmla="val 50000"/>
            </a:avLst>
          </a:prstGeom>
          <a:solidFill xmlns:a="http://schemas.openxmlformats.org/drawingml/2006/main">
            <a:srgbClr val="22C7D6"/>
          </a:solidFill>
          <a:ln xmlns:a="http://schemas.openxmlformats.org/drawingml/2006/main" w="0">
            <a:solidFill>
              <a:srgbClr val="22C7D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31320" rIns="90000" bIns="3132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BD89F88E-5C7A-4109-9F92-3C53A5D1C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781440"/>
            <a:ext cx="228240" cy="151920"/>
          </a:xfrm>
          <a:prstGeom xmlns:a="http://schemas.openxmlformats.org/drawingml/2006/main" prst="rightArrow">
            <a:avLst>
              <a:gd name="adj1" fmla="val 50000"/>
              <a:gd name="adj2" fmla="val 50000"/>
            </a:avLst>
          </a:prstGeom>
          <a:solidFill xmlns:a="http://schemas.openxmlformats.org/drawingml/2006/main">
            <a:srgbClr val="22C7D6"/>
          </a:solidFill>
          <a:ln xmlns:a="http://schemas.openxmlformats.org/drawingml/2006/main" w="0">
            <a:solidFill>
              <a:srgbClr val="22C7D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31320" rIns="90000" bIns="3132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EBDB2F4E-17CB-47FE-999E-31CD53E20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160" y="5524560"/>
            <a:ext cx="323640" cy="151920"/>
          </a:xfrm>
          <a:prstGeom xmlns:a="http://schemas.openxmlformats.org/drawingml/2006/main" prst="rightArrow">
            <a:avLst>
              <a:gd name="adj1" fmla="val 50000"/>
              <a:gd name="adj2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2F6BFF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31320" rIns="90000" bIns="3132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7F8078F2-073D-4FF5-9546-E41C55DC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480" y="5524560"/>
            <a:ext cx="323640" cy="151920"/>
          </a:xfrm>
          <a:prstGeom xmlns:a="http://schemas.openxmlformats.org/drawingml/2006/main" prst="rightArrow">
            <a:avLst>
              <a:gd name="adj1" fmla="val 50000"/>
              <a:gd name="adj2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2F6BFF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31320" rIns="90000" bIns="3132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9C2E3EEB-3CEF-467E-B2EC-B85851AA3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440" y="5524560"/>
            <a:ext cx="323640" cy="151920"/>
          </a:xfrm>
          <a:prstGeom xmlns:a="http://schemas.openxmlformats.org/drawingml/2006/main" prst="rightArrow">
            <a:avLst>
              <a:gd name="adj1" fmla="val 50000"/>
              <a:gd name="adj2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2F6BFF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31320" rIns="90000" bIns="3132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D6B8DBB6-C438-4334-8B1D-FBB3C4EE9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080" y="1714680"/>
            <a:ext cx="209520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350" b="1" u="none">
                <a:solidFill>
                  <a:srgbClr val="2F6BFF"/>
                </a:solidFill>
                <a:latin typeface="Noto Sans CJK SC"/>
                <a:ea typeface="Noto Sans CJK SC"/>
                <a:cs typeface="Noto Sans CJK SC"/>
              </a:rPr>
              <a:t>模型聚合引擎</a:t>
            </a:r>
            <a:endParaRPr sz="13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CA88FC18-4C3F-4289-A9FB-2E37EB6EC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840" y="2038320"/>
            <a:ext cx="2571480" cy="59004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11520">
            <a:solidFill>
              <a:srgbClr val="2F6BFF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6320" tIns="38160" rIns="76320" bIns="3816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</a:pPr>
            <a:r>
              <a:rPr sz="1350" b="1" u="none">
                <a:solidFill>
                  <a:srgbClr val="2F6BFF"/>
                </a:solidFill>
                <a:latin typeface="Noto Sans CJK SC"/>
                <a:ea typeface="Noto Sans CJK SC"/>
                <a:cs typeface="Noto Sans CJK SC"/>
              </a:rPr>
              <a:t>收集本地模型参数</a:t>
            </a:r>
            <a:endParaRPr sz="13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ECF29ADB-76CA-43D3-9B89-37A30F0A2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840" y="2038320"/>
            <a:ext cx="2571480" cy="59004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11520">
            <a:solidFill>
              <a:srgbClr val="2F6BFF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6320" tIns="38160" rIns="76320" bIns="3816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</a:pPr>
            <a:r>
              <a:rPr sz="1350" b="1" u="none">
                <a:solidFill>
                  <a:srgbClr val="2F6BFF"/>
                </a:solidFill>
                <a:latin typeface="Noto Sans CJK SC"/>
                <a:ea typeface="Noto Sans CJK SC"/>
                <a:cs typeface="Noto Sans CJK SC"/>
              </a:rPr>
              <a:t>Fisher </a:t>
            </a:r>
            <a:r>
              <a:rPr sz="1350" b="1" u="none">
                <a:solidFill>
                  <a:srgbClr val="2F6BFF"/>
                </a:solidFill>
                <a:latin typeface="Noto Sans CJK SC"/>
                <a:ea typeface="Noto Sans CJK SC"/>
                <a:cs typeface="Noto Sans CJK SC"/>
              </a:rPr>
              <a:t>信息矩阵加权</a:t>
            </a:r>
            <a:endParaRPr sz="13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7E10D7F6-B312-4ADE-85A9-D5447729D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560" y="2038320"/>
            <a:ext cx="2571480" cy="59004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11520">
            <a:solidFill>
              <a:srgbClr val="2F6BFF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6320" tIns="38160" rIns="76320" bIns="3816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</a:pPr>
            <a:r>
              <a:rPr sz="1350" b="1" u="none">
                <a:solidFill>
                  <a:srgbClr val="2F6BFF"/>
                </a:solidFill>
                <a:latin typeface="Noto Sans CJK SC"/>
                <a:ea typeface="Noto Sans CJK SC"/>
                <a:cs typeface="Noto Sans CJK SC"/>
              </a:rPr>
              <a:t>生成全局模型</a:t>
            </a:r>
            <a:endParaRPr sz="13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549DB4FF-3171-436A-9674-6818DA63E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680" y="2857680"/>
            <a:ext cx="552420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</a:pPr>
            <a:r>
              <a:rPr sz="1200" b="1" u="none">
                <a:solidFill>
                  <a:srgbClr val="2F6BFF"/>
                </a:solidFill>
                <a:latin typeface="Noto Sans CJK SC"/>
                <a:ea typeface="Noto Sans CJK SC"/>
                <a:cs typeface="Noto Sans CJK SC"/>
              </a:rPr>
              <a:t>↑ 上行：本地模型参数                 ↓ 下行：全局模型</a:t>
            </a:r>
            <a:endParaRPr sz="12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7704649B-BBB7-43D7-AF73-702E538DD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080" y="3238560"/>
            <a:ext cx="171432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350" b="1" u="none">
                <a:solidFill>
                  <a:srgbClr val="24B787"/>
                </a:solidFill>
                <a:latin typeface="Noto Sans CJK SC"/>
                <a:ea typeface="Noto Sans CJK SC"/>
                <a:cs typeface="Noto Sans CJK SC"/>
              </a:rPr>
              <a:t>客户端 </a:t>
            </a:r>
            <a:r>
              <a:rPr sz="1350" b="1" u="none">
                <a:solidFill>
                  <a:srgbClr val="24B787"/>
                </a:solidFill>
                <a:latin typeface="Noto Sans CJK SC"/>
                <a:ea typeface="Noto Sans CJK SC"/>
                <a:cs typeface="Noto Sans CJK SC"/>
              </a:rPr>
              <a:t>A</a:t>
            </a:r>
            <a:endParaRPr sz="13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64CA04E7-B804-465A-81D5-B10580929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160" y="3581280"/>
            <a:ext cx="1809360" cy="68544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1520">
            <a:solidFill>
              <a:srgbClr val="F59E0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6320" tIns="38160" rIns="76320" bIns="3816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</a:pPr>
            <a:r>
              <a:rPr sz="1350" b="1" u="none">
                <a:solidFill>
                  <a:srgbClr val="92400E"/>
                </a:solidFill>
                <a:latin typeface="Noto Sans CJK SC"/>
                <a:ea typeface="Noto Sans CJK SC"/>
                <a:cs typeface="Noto Sans CJK SC"/>
              </a:rPr>
              <a:t>本地数据</a:t>
            </a:r>
            <a:endParaRPr sz="13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59CAA520-D7BC-4726-9AF4-04A1596B9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640" y="3581280"/>
            <a:ext cx="1809360" cy="68544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520">
            <a:solidFill>
              <a:srgbClr val="DDE4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6320" tIns="38160" rIns="76320" bIns="3816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</a:pPr>
            <a:r>
              <a:rPr sz="1350" b="1" u="none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特征提取</a:t>
            </a:r>
            <a:endParaRPr sz="13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4B2EED5D-18A0-42C9-84A3-0446417AD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20" y="3581280"/>
            <a:ext cx="1809360" cy="68544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DF8EF"/>
          </a:solidFill>
          <a:ln xmlns:a="http://schemas.openxmlformats.org/drawingml/2006/main" w="11520">
            <a:solidFill>
              <a:srgbClr val="24B78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6320" tIns="38160" rIns="76320" bIns="3816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</a:pPr>
            <a:r>
              <a:rPr sz="1350" b="1" u="none">
                <a:solidFill>
                  <a:srgbClr val="08745A"/>
                </a:solidFill>
                <a:latin typeface="Noto Sans CJK SC"/>
                <a:ea typeface="Noto Sans CJK SC"/>
                <a:cs typeface="Noto Sans CJK SC"/>
              </a:rPr>
              <a:t>本地初始原型</a:t>
            </a:r>
            <a:endParaRPr sz="13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707491FD-5CC6-40CB-BA8C-B9D11D0A1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581280"/>
            <a:ext cx="1809360" cy="68544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5FAFC"/>
          </a:solidFill>
          <a:ln xmlns:a="http://schemas.openxmlformats.org/drawingml/2006/main" w="11520">
            <a:solidFill>
              <a:srgbClr val="22C7D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6320" tIns="38160" rIns="76320" bIns="3816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</a:pPr>
            <a:r>
              <a:rPr sz="1350" b="1" u="none">
                <a:solidFill>
                  <a:srgbClr val="087E8C"/>
                </a:solidFill>
                <a:latin typeface="Noto Sans CJK SC"/>
                <a:ea typeface="Noto Sans CJK SC"/>
                <a:cs typeface="Noto Sans CJK SC"/>
              </a:rPr>
              <a:t>裁剪 </a:t>
            </a:r>
            <a:r>
              <a:rPr sz="1350" b="1" u="none">
                <a:solidFill>
                  <a:srgbClr val="087E8C"/>
                </a:solidFill>
                <a:latin typeface="Noto Sans CJK SC"/>
                <a:ea typeface="Noto Sans CJK SC"/>
                <a:cs typeface="Noto Sans CJK SC"/>
              </a:rPr>
              <a:t>+ </a:t>
            </a:r>
            <a:r>
              <a:rPr sz="1350" b="1" u="none">
                <a:solidFill>
                  <a:srgbClr val="087E8C"/>
                </a:solidFill>
                <a:latin typeface="Noto Sans CJK SC"/>
                <a:ea typeface="Noto Sans CJK SC"/>
                <a:cs typeface="Noto Sans CJK SC"/>
              </a:rPr>
              <a:t>加噪</a:t>
            </a:r>
            <a:endParaRPr sz="13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EB367007-09E4-4B3B-8D7E-C399E4EEC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80" y="3581280"/>
            <a:ext cx="1809360" cy="68544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DF8EF"/>
          </a:solidFill>
          <a:ln xmlns:a="http://schemas.openxmlformats.org/drawingml/2006/main" w="11520">
            <a:solidFill>
              <a:srgbClr val="24B78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6320" tIns="38160" rIns="76320" bIns="3816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</a:pPr>
            <a:r>
              <a:rPr sz="1350" b="1" u="none">
                <a:solidFill>
                  <a:srgbClr val="08745A"/>
                </a:solidFill>
                <a:latin typeface="Noto Sans CJK SC"/>
                <a:ea typeface="Noto Sans CJK SC"/>
                <a:cs typeface="Noto Sans CJK SC"/>
              </a:rPr>
              <a:t>本地原型</a:t>
            </a:r>
            <a:endParaRPr sz="13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F352E173-A1A9-452A-8316-D9B6DF635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80" y="4552920"/>
            <a:ext cx="581004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</a:pPr>
            <a:r>
              <a:rPr sz="1200" b="1" u="none">
                <a:solidFill>
                  <a:srgbClr val="24B787"/>
                </a:solidFill>
                <a:latin typeface="Noto Sans CJK SC"/>
                <a:ea typeface="Noto Sans CJK SC"/>
                <a:cs typeface="Noto Sans CJK SC"/>
              </a:rPr>
              <a:t>↓ 上行：本地带噪类原型                 ↑ 下行：全局原型</a:t>
            </a:r>
            <a:endParaRPr sz="12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E1AE0C88-0AF4-4B3D-BF59-FFCBFB549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080" y="4971960"/>
            <a:ext cx="209520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350" b="1" u="none">
                <a:solidFill>
                  <a:srgbClr val="2F6BFF"/>
                </a:solidFill>
                <a:latin typeface="Noto Sans CJK SC"/>
                <a:ea typeface="Noto Sans CJK SC"/>
                <a:cs typeface="Noto Sans CJK SC"/>
              </a:rPr>
              <a:t>原型聚合引擎</a:t>
            </a:r>
            <a:endParaRPr sz="13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D5BDAE56-3DE9-4EE5-AD33-C9A0FBFC9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280" y="5315040"/>
            <a:ext cx="2323800" cy="6282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11520">
            <a:solidFill>
              <a:srgbClr val="2F6BFF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6320" tIns="38160" rIns="76320" bIns="3816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</a:pPr>
            <a:r>
              <a:rPr sz="1280" b="1" u="none">
                <a:solidFill>
                  <a:srgbClr val="2F6BFF"/>
                </a:solidFill>
                <a:latin typeface="Noto Sans CJK SC"/>
                <a:ea typeface="Noto Sans CJK SC"/>
                <a:cs typeface="Noto Sans CJK SC"/>
              </a:rPr>
              <a:t>接收带噪原型</a:t>
            </a:r>
            <a:endParaRPr sz="128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2AB78BB4-B19B-4165-8F2E-375614EFB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240" y="5315040"/>
            <a:ext cx="2323800" cy="6282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11520">
            <a:solidFill>
              <a:srgbClr val="2F6BFF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6320" tIns="38160" rIns="76320" bIns="3816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</a:pPr>
            <a:r>
              <a:rPr sz="1280" b="1" u="none">
                <a:solidFill>
                  <a:srgbClr val="2F6BFF"/>
                </a:solidFill>
                <a:latin typeface="Noto Sans CJK SC"/>
                <a:ea typeface="Noto Sans CJK SC"/>
                <a:cs typeface="Noto Sans CJK SC"/>
              </a:rPr>
              <a:t>K-Means </a:t>
            </a:r>
            <a:r>
              <a:rPr sz="1280" b="1" u="none">
                <a:solidFill>
                  <a:srgbClr val="2F6BFF"/>
                </a:solidFill>
                <a:latin typeface="Noto Sans CJK SC"/>
                <a:ea typeface="Noto Sans CJK SC"/>
                <a:cs typeface="Noto Sans CJK SC"/>
              </a:rPr>
              <a:t>聚类</a:t>
            </a:r>
            <a:endParaRPr sz="128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551566D1-C15B-4679-996F-A9A856161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315040"/>
            <a:ext cx="2323800" cy="6282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11520">
            <a:solidFill>
              <a:srgbClr val="2F6BFF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6320" tIns="38160" rIns="76320" bIns="3816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</a:pPr>
            <a:r>
              <a:rPr sz="1200" b="1" u="none">
                <a:solidFill>
                  <a:srgbClr val="2F6BFF"/>
                </a:solidFill>
                <a:latin typeface="Noto Sans CJK SC"/>
                <a:ea typeface="Noto Sans CJK SC"/>
                <a:cs typeface="Noto Sans CJK SC"/>
              </a:rPr>
              <a:t>马氏距离加权</a:t>
            </a:r>
            <a:endParaRPr sz="12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  <a:p xmlns:a="http://schemas.openxmlformats.org/drawingml/2006/main">
            <a:pPr algn="ctr">
              <a:lnSpc>
                <a:spcPct val="112000"/>
              </a:lnSpc>
              <a:buNone/>
            </a:pPr>
            <a:r>
              <a:rPr sz="1200" b="1" u="none">
                <a:solidFill>
                  <a:srgbClr val="2F6BFF"/>
                </a:solidFill>
                <a:latin typeface="Noto Sans CJK SC"/>
                <a:ea typeface="Noto Sans CJK SC"/>
                <a:cs typeface="Noto Sans CJK SC"/>
              </a:rPr>
              <a:t>异常节点自动降权</a:t>
            </a:r>
            <a:endParaRPr sz="12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60313E86-F251-4338-A23F-42DA3D95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160" y="5315040"/>
            <a:ext cx="2323800" cy="6282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DDF8EF"/>
          </a:solidFill>
          <a:ln xmlns:a="http://schemas.openxmlformats.org/drawingml/2006/main" w="11520">
            <a:solidFill>
              <a:srgbClr val="24B78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6320" tIns="38160" rIns="76320" bIns="3816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</a:pPr>
            <a:r>
              <a:rPr sz="1280" b="1" u="none">
                <a:solidFill>
                  <a:srgbClr val="08745A"/>
                </a:solidFill>
                <a:latin typeface="Noto Sans CJK SC"/>
                <a:ea typeface="Noto Sans CJK SC"/>
                <a:cs typeface="Noto Sans CJK SC"/>
              </a:rPr>
              <a:t>生成全局原型</a:t>
            </a:r>
            <a:endParaRPr sz="128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AC18F739-D16F-461A-BB03-019092EE9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6534000"/>
            <a:ext cx="6667200" cy="17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820" b="0" u="none">
                <a:solidFill>
                  <a:srgbClr val="7B879B"/>
                </a:solidFill>
                <a:latin typeface="Noto Sans CJK SC"/>
                <a:ea typeface="Noto Sans CJK SC"/>
                <a:cs typeface="Noto Sans CJK SC"/>
              </a:rPr>
              <a:t>FedPKDA · RoboCup 2026</a:t>
            </a:r>
            <a:endParaRPr sz="82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64697591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2F7B31EE-12AA-4AB1-9942-7A0DB68C9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324000"/>
            <a:ext cx="495252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50" b="1" u="none">
                <a:solidFill>
                  <a:srgbClr val="2F6BFF"/>
                </a:solidFill>
                <a:latin typeface="Noto Sans CJK SC"/>
                <a:ea typeface="Noto Sans CJK SC"/>
                <a:cs typeface="Noto Sans CJK SC"/>
              </a:rPr>
              <a:t>04 / POWER DESIGN</a:t>
            </a:r>
            <a:endParaRPr sz="10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861D90AF-6E3C-481D-8FA2-742AFA939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647640"/>
            <a:ext cx="10667520" cy="57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3230" b="1" u="none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协调员看全局但摸不到数据，机构看本地并保留执行权</a:t>
            </a:r>
            <a:endParaRPr sz="323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7CB30C42-C863-4A87-AE4F-AEDCCB60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1295280"/>
            <a:ext cx="10972440" cy="9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4EE"/>
          </a:solidFill>
          <a:ln xmlns:a="http://schemas.openxmlformats.org/drawingml/2006/main" w="0">
            <a:solidFill>
              <a:srgbClr val="DDE4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8160" rIns="90000" bIns="-3816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C608A374-BF41-46D6-97D3-3094FD898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1285920"/>
            <a:ext cx="894960" cy="280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7D6"/>
          </a:solidFill>
          <a:ln xmlns:a="http://schemas.openxmlformats.org/drawingml/2006/main" w="0">
            <a:solidFill>
              <a:srgbClr val="22C7D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24840" rIns="90000" bIns="-2484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A12D3CB8-1670-402F-8450-AA4C1FCBE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40" y="324000"/>
            <a:ext cx="47592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</a:pPr>
            <a:r>
              <a:rPr sz="1050" b="1" u="none">
                <a:solidFill>
                  <a:srgbClr val="7B879B"/>
                </a:solidFill>
                <a:latin typeface="Noto Sans CJK SC"/>
                <a:ea typeface="Noto Sans CJK SC"/>
                <a:cs typeface="Noto Sans CJK SC"/>
              </a:rPr>
              <a:t>14</a:t>
            </a:r>
            <a:endParaRPr sz="10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11F1ADA2-B3A3-421F-B966-62FF07D3D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1619280"/>
            <a:ext cx="3142800" cy="323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950" b="1" u="none">
                <a:solidFill>
                  <a:srgbClr val="2F6BFF"/>
                </a:solidFill>
                <a:latin typeface="Noto Sans CJK SC"/>
                <a:ea typeface="Noto Sans CJK SC"/>
                <a:cs typeface="Noto Sans CJK SC"/>
              </a:rPr>
              <a:t>联盟协调员</a:t>
            </a:r>
            <a:endParaRPr sz="19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968CB759-0BC9-4711-8DE5-BDD0AF382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1981080"/>
            <a:ext cx="4381200" cy="285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280" b="0" u="none">
                <a:solidFill>
                  <a:srgbClr val="516078"/>
                </a:solidFill>
                <a:latin typeface="Noto Sans CJK SC"/>
                <a:ea typeface="Noto Sans CJK SC"/>
                <a:cs typeface="Noto Sans CJK SC"/>
              </a:rPr>
              <a:t>全局态势 </a:t>
            </a:r>
            <a:r>
              <a:rPr sz="1280" b="0" u="none">
                <a:solidFill>
                  <a:srgbClr val="516078"/>
                </a:solidFill>
                <a:latin typeface="Noto Sans CJK SC"/>
                <a:ea typeface="Noto Sans CJK SC"/>
                <a:cs typeface="Noto Sans CJK SC"/>
              </a:rPr>
              <a:t>/ </a:t>
            </a:r>
            <a:r>
              <a:rPr sz="1280" b="0" u="none">
                <a:solidFill>
                  <a:srgbClr val="516078"/>
                </a:solidFill>
                <a:latin typeface="Noto Sans CJK SC"/>
                <a:ea typeface="Noto Sans CJK SC"/>
                <a:cs typeface="Noto Sans CJK SC"/>
              </a:rPr>
              <a:t>脱敏事件 </a:t>
            </a:r>
            <a:r>
              <a:rPr sz="1280" b="0" u="none">
                <a:solidFill>
                  <a:srgbClr val="516078"/>
                </a:solidFill>
                <a:latin typeface="Noto Sans CJK SC"/>
                <a:ea typeface="Noto Sans CJK SC"/>
                <a:cs typeface="Noto Sans CJK SC"/>
              </a:rPr>
              <a:t>/ </a:t>
            </a:r>
            <a:r>
              <a:rPr sz="1280" b="0" u="none">
                <a:solidFill>
                  <a:srgbClr val="516078"/>
                </a:solidFill>
                <a:latin typeface="Noto Sans CJK SC"/>
                <a:ea typeface="Noto Sans CJK SC"/>
                <a:cs typeface="Noto Sans CJK SC"/>
              </a:rPr>
              <a:t>建议隔离</a:t>
            </a:r>
            <a:endParaRPr sz="128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EEDD6047-901F-4838-BECB-99FAC8FFD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600" y="2324160"/>
            <a:ext cx="4971600" cy="2838240"/>
          </a:xfrm>
          <a:prstGeom xmlns:a="http://schemas.openxmlformats.org/drawingml/2006/main" prst="roundRect">
            <a:avLst>
              <a:gd name="adj" fmla="val 40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360">
            <a:solidFill>
              <a:srgbClr val="DDE4EE"/>
            </a:solidFill>
          </a:ln>
          <a:effectLst xmlns:a="http://schemas.openxmlformats.org/drawingml/2006/main">
            <a:outerShdw blurRad="19080" dist="9360" dir="5400000" rotWithShape="0">
              <a:srgbClr val="000000">
                <a:alpha val="6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23EBE399-B0BD-422E-BDF5-9724B53A9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2392200"/>
            <a:ext cx="4857480" cy="2701800"/>
          </a:xfrm>
          <a:prstGeom xmlns:a="http://schemas.openxmlformats.org/drawingml/2006/main" prst="roundRect">
            <a:avLst>
              <a:gd name="adj" fmla="val 2797"/>
            </a:avLst>
          </a:prstGeom>
          <a:blipFill xmlns:a="http://schemas.openxmlformats.org/drawingml/2006/main" rotWithShape="0">
            <a:blip xmlns:r="http://schemas.openxmlformats.org/officeDocument/2006/relationships" r:embed="R3023fab4f3b74a7e"/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855D8F6C-3BCD-45AF-A559-FADA9ECB9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5315040"/>
            <a:ext cx="48574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</a:pPr>
            <a:r>
              <a:rPr sz="1500" b="1" u="none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看得到聚合态势，拿不到原始数据与攻击详情</a:t>
            </a:r>
            <a:endParaRPr sz="15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FAA535B8-26C0-4692-BB88-07C0FF040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800" y="1619280"/>
            <a:ext cx="3142800" cy="323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950" b="1" u="none">
                <a:solidFill>
                  <a:srgbClr val="24B787"/>
                </a:solidFill>
                <a:latin typeface="Noto Sans CJK SC"/>
                <a:ea typeface="Noto Sans CJK SC"/>
                <a:cs typeface="Noto Sans CJK SC"/>
              </a:rPr>
              <a:t>机构运营员</a:t>
            </a:r>
            <a:endParaRPr sz="19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ABA3178B-16A7-40D6-9C3C-8ECE86172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800" y="1981080"/>
            <a:ext cx="4381200" cy="285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280" b="0" u="none">
                <a:solidFill>
                  <a:srgbClr val="516078"/>
                </a:solidFill>
                <a:latin typeface="Noto Sans CJK SC"/>
                <a:ea typeface="Noto Sans CJK SC"/>
                <a:cs typeface="Noto Sans CJK SC"/>
              </a:rPr>
              <a:t>本地节点 </a:t>
            </a:r>
            <a:r>
              <a:rPr sz="1280" b="0" u="none">
                <a:solidFill>
                  <a:srgbClr val="516078"/>
                </a:solidFill>
                <a:latin typeface="Noto Sans CJK SC"/>
                <a:ea typeface="Noto Sans CJK SC"/>
                <a:cs typeface="Noto Sans CJK SC"/>
              </a:rPr>
              <a:t>/ </a:t>
            </a:r>
            <a:r>
              <a:rPr sz="1280" b="0" u="none">
                <a:solidFill>
                  <a:srgbClr val="516078"/>
                </a:solidFill>
                <a:latin typeface="Noto Sans CJK SC"/>
                <a:ea typeface="Noto Sans CJK SC"/>
                <a:cs typeface="Noto Sans CJK SC"/>
              </a:rPr>
              <a:t>隐私预算 </a:t>
            </a:r>
            <a:r>
              <a:rPr sz="1280" b="0" u="none">
                <a:solidFill>
                  <a:srgbClr val="516078"/>
                </a:solidFill>
                <a:latin typeface="Noto Sans CJK SC"/>
                <a:ea typeface="Noto Sans CJK SC"/>
                <a:cs typeface="Noto Sans CJK SC"/>
              </a:rPr>
              <a:t>/ </a:t>
            </a:r>
            <a:r>
              <a:rPr sz="1280" b="0" u="none">
                <a:solidFill>
                  <a:srgbClr val="516078"/>
                </a:solidFill>
                <a:latin typeface="Noto Sans CJK SC"/>
                <a:ea typeface="Noto Sans CJK SC"/>
                <a:cs typeface="Noto Sans CJK SC"/>
              </a:rPr>
              <a:t>隔离与恢复</a:t>
            </a:r>
            <a:endParaRPr sz="128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64A8B0B4-7926-498B-BB1B-445A0AE75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60" y="2324160"/>
            <a:ext cx="4971600" cy="2838240"/>
          </a:xfrm>
          <a:prstGeom xmlns:a="http://schemas.openxmlformats.org/drawingml/2006/main" prst="roundRect">
            <a:avLst>
              <a:gd name="adj" fmla="val 40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360">
            <a:solidFill>
              <a:srgbClr val="DDE4EE"/>
            </a:solidFill>
          </a:ln>
          <a:effectLst xmlns:a="http://schemas.openxmlformats.org/drawingml/2006/main">
            <a:outerShdw blurRad="19080" dist="9360" dir="5400000" rotWithShape="0">
              <a:srgbClr val="000000">
                <a:alpha val="6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1C71DEC3-9CDE-4BB5-A7E2-3719C0DB8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800" y="2381400"/>
            <a:ext cx="4857480" cy="2723760"/>
          </a:xfrm>
          <a:prstGeom xmlns:a="http://schemas.openxmlformats.org/drawingml/2006/main" prst="roundRect">
            <a:avLst>
              <a:gd name="adj" fmla="val 2797"/>
            </a:avLst>
          </a:prstGeom>
          <a:blipFill xmlns:a="http://schemas.openxmlformats.org/drawingml/2006/main" rotWithShape="0">
            <a:blip xmlns:r="http://schemas.openxmlformats.org/officeDocument/2006/relationships" r:embed="Rcde8877183694b8d"/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4D688C43-E9EF-4F63-814A-CC01A2C25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800" y="5315040"/>
            <a:ext cx="48574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</a:pPr>
            <a:r>
              <a:rPr sz="1500" b="1" u="none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管得住自己，碰不到其他机构；隔离执行权在本地</a:t>
            </a:r>
            <a:endParaRPr sz="15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95C28277-BF7B-4FAE-AB6F-59A87040A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20" y="2533680"/>
            <a:ext cx="799920" cy="22856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530"/>
          </a:solidFill>
          <a:ln xmlns:a="http://schemas.openxmlformats.org/drawingml/2006/main" w="9360">
            <a:solidFill>
              <a:srgbClr val="0B153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8452E3BE-EEFD-466D-BCE0-91EE27AE3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400" y="3048120"/>
            <a:ext cx="571320" cy="1257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rPr sz="1650" b="1" u="none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建议</a:t>
            </a:r>
            <a:endParaRPr sz="16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rPr sz="1650" b="1" u="none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≠</a:t>
            </a:r>
            <a:endParaRPr sz="16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rPr sz="1650" b="1" u="none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执行</a:t>
            </a:r>
            <a:endParaRPr sz="16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1071E063-4A65-4D2A-8C7B-EC2A26F14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5981760"/>
            <a:ext cx="10972440" cy="9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4EE"/>
          </a:solidFill>
          <a:ln xmlns:a="http://schemas.openxmlformats.org/drawingml/2006/main" w="0">
            <a:solidFill>
              <a:srgbClr val="DDE4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8160" rIns="90000" bIns="-3816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7ACBBFC4-3EF5-4203-AA96-2F809D3C6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080" y="6172200"/>
            <a:ext cx="2666520" cy="285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</a:pPr>
            <a:r>
              <a:rPr sz="1580" b="1" u="none">
                <a:solidFill>
                  <a:srgbClr val="2F6BFF"/>
                </a:solidFill>
                <a:latin typeface="Noto Sans CJK SC"/>
                <a:ea typeface="Noto Sans CJK SC"/>
                <a:cs typeface="Noto Sans CJK SC"/>
              </a:rPr>
              <a:t>平台演示 </a:t>
            </a:r>
            <a:r>
              <a:rPr sz="1580" b="1" u="none">
                <a:solidFill>
                  <a:srgbClr val="2F6BFF"/>
                </a:solidFill>
                <a:latin typeface="Noto Sans CJK SC"/>
                <a:ea typeface="Noto Sans CJK SC"/>
                <a:cs typeface="Noto Sans CJK SC"/>
              </a:rPr>
              <a:t>· 7 </a:t>
            </a:r>
            <a:r>
              <a:rPr sz="1580" b="1" u="none">
                <a:solidFill>
                  <a:srgbClr val="2F6BFF"/>
                </a:solidFill>
                <a:latin typeface="Noto Sans CJK SC"/>
                <a:ea typeface="Noto Sans CJK SC"/>
                <a:cs typeface="Noto Sans CJK SC"/>
              </a:rPr>
              <a:t>页原型</a:t>
            </a:r>
            <a:endParaRPr sz="158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71F992CC-02E4-4A33-9FAE-56CCD8D37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040" y="6172200"/>
            <a:ext cx="2190240" cy="285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</a:pPr>
            <a:r>
              <a:rPr sz="1650" b="1" u="none">
                <a:solidFill>
                  <a:srgbClr val="22C7D6"/>
                </a:solidFill>
                <a:latin typeface="Noto Sans CJK SC"/>
                <a:ea typeface="Noto Sans CJK SC"/>
                <a:cs typeface="Noto Sans CJK SC"/>
              </a:rPr>
              <a:t>21 </a:t>
            </a:r>
            <a:r>
              <a:rPr sz="1650" b="1" u="none">
                <a:solidFill>
                  <a:srgbClr val="22C7D6"/>
                </a:solidFill>
                <a:latin typeface="Noto Sans CJK SC"/>
                <a:ea typeface="Noto Sans CJK SC"/>
                <a:cs typeface="Noto Sans CJK SC"/>
              </a:rPr>
              <a:t>个 </a:t>
            </a:r>
            <a:r>
              <a:rPr sz="1650" b="1" u="none">
                <a:solidFill>
                  <a:srgbClr val="22C7D6"/>
                </a:solidFill>
                <a:latin typeface="Noto Sans CJK SC"/>
                <a:ea typeface="Noto Sans CJK SC"/>
                <a:cs typeface="Noto Sans CJK SC"/>
              </a:rPr>
              <a:t>REST </a:t>
            </a:r>
            <a:r>
              <a:rPr sz="1650" b="1" u="none">
                <a:solidFill>
                  <a:srgbClr val="22C7D6"/>
                </a:solidFill>
                <a:latin typeface="Noto Sans CJK SC"/>
                <a:ea typeface="Noto Sans CJK SC"/>
                <a:cs typeface="Noto Sans CJK SC"/>
              </a:rPr>
              <a:t>接口</a:t>
            </a:r>
            <a:endParaRPr sz="16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AE148DDD-3C78-4FE6-8121-648F47982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120" y="6172200"/>
            <a:ext cx="2476080" cy="285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</a:pPr>
            <a:r>
              <a:rPr sz="1650" b="1" u="none">
                <a:solidFill>
                  <a:srgbClr val="24B787"/>
                </a:solidFill>
                <a:latin typeface="Noto Sans CJK SC"/>
                <a:ea typeface="Noto Sans CJK SC"/>
                <a:cs typeface="Noto Sans CJK SC"/>
              </a:rPr>
              <a:t>控制面 </a:t>
            </a:r>
            <a:r>
              <a:rPr sz="1650" b="1" u="none">
                <a:solidFill>
                  <a:srgbClr val="24B787"/>
                </a:solidFill>
                <a:latin typeface="Noto Sans CJK SC"/>
                <a:ea typeface="Noto Sans CJK SC"/>
                <a:cs typeface="Noto Sans CJK SC"/>
              </a:rPr>
              <a:t>/ </a:t>
            </a:r>
            <a:r>
              <a:rPr sz="1650" b="1" u="none">
                <a:solidFill>
                  <a:srgbClr val="24B787"/>
                </a:solidFill>
                <a:latin typeface="Noto Sans CJK SC"/>
                <a:ea typeface="Noto Sans CJK SC"/>
                <a:cs typeface="Noto Sans CJK SC"/>
              </a:rPr>
              <a:t>数据面分离</a:t>
            </a:r>
            <a:endParaRPr sz="16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0359FDF7-1181-4D81-BD41-F878C329C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6534000"/>
            <a:ext cx="6667200" cy="17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820" b="0" u="none">
                <a:solidFill>
                  <a:srgbClr val="7B879B"/>
                </a:solidFill>
                <a:latin typeface="Noto Sans CJK SC"/>
                <a:ea typeface="Noto Sans CJK SC"/>
                <a:cs typeface="Noto Sans CJK SC"/>
              </a:rPr>
              <a:t>FedPKDA · RoboCup 2026</a:t>
            </a:r>
            <a:endParaRPr sz="82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120651387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0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36DBCC1A-1BD4-449A-B2CD-AF17849A12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200400" y="2286000"/>
            <a:ext cx="61722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l">
              <a:lnSpc>
                <a:spcPct val="90000"/>
              </a:lnSpc>
              <a:buNone/>
            </a:pPr>
            <a:r>
              <a:rPr sz="6600" b="1" u="none">
                <a:solidFill>
                  <a:schemeClr val="dk1"/>
                </a:solidFill>
                <a:latin typeface="Calibri Light"/>
                <a:ea typeface="Calibri Light"/>
                <a:cs typeface="Calibri Light"/>
              </a:rPr>
              <a:t>应用与总结</a:t>
            </a:r>
            <a:endParaRPr sz="6600" b="0" u="none">
              <a:solidFill>
                <a:schemeClr val="dk1"/>
              </a:solidFill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BDDB6933-2C95-41DA-9B17-D80D33C74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080" y="1352880"/>
            <a:ext cx="1104480" cy="37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7D6"/>
          </a:solidFill>
          <a:ln xmlns:a="http://schemas.openxmlformats.org/drawingml/2006/main" w="0">
            <a:solidFill>
              <a:srgbClr val="22C7D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18000" rIns="90000" bIns="-18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43D6CE91-F5CC-4FA9-85E4-39B0485E9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840" y="5143680"/>
            <a:ext cx="2476080" cy="187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3456C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1320" rIns="90000" bIns="-3132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C46FEFD3-79BC-4E1B-9063-E7F87E5D3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680" y="4953240"/>
            <a:ext cx="704520" cy="704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7D6"/>
          </a:solidFill>
          <a:ln xmlns:a="http://schemas.openxmlformats.org/drawingml/2006/main" w="0">
            <a:solidFill>
              <a:srgbClr val="22C7D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C344A10E-0CFD-4920-B3FC-52B71E8E9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440" y="876240"/>
            <a:ext cx="1428480" cy="1428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EA6B"/>
          </a:solidFill>
          <a:ln xmlns:a="http://schemas.openxmlformats.org/drawingml/2006/main" w="9360">
            <a:solidFill>
              <a:srgbClr val="F6F9D4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6EF82D40-3836-4B9B-8BA4-271B2F80E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632520" cy="84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2800" b="1" u="none">
                <a:solidFill>
                  <a:srgbClr val="F59E0B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 sz="2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87250810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AD8E43F6-0569-4C99-B162-43363A72D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324000"/>
            <a:ext cx="495252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50" b="1" u="none">
                <a:solidFill>
                  <a:srgbClr val="2F6BFF"/>
                </a:solidFill>
                <a:latin typeface="Noto Sans CJK SC"/>
                <a:ea typeface="Noto Sans CJK SC"/>
                <a:cs typeface="Noto Sans CJK SC"/>
              </a:rPr>
              <a:t>05 / MARKET FIT</a:t>
            </a:r>
            <a:endParaRPr sz="10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0D961DFA-5067-4A62-8E13-3176A6D74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647640"/>
            <a:ext cx="10667520" cy="57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 fontScale="92500" lnSpcReduction="999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3230" b="1" u="none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现有方案交换的是可滥用信息，</a:t>
            </a:r>
            <a:r>
              <a:rPr sz="3230" b="1" u="none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FedPKDA </a:t>
            </a:r>
            <a:r>
              <a:rPr sz="3230" b="1" u="none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交换不可逆知识</a:t>
            </a:r>
            <a:endParaRPr sz="323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838516F9-A983-4779-95E0-7B8EADF9F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1295280"/>
            <a:ext cx="10972440" cy="9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4EE"/>
          </a:solidFill>
          <a:ln xmlns:a="http://schemas.openxmlformats.org/drawingml/2006/main" w="0">
            <a:solidFill>
              <a:srgbClr val="DDE4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8160" rIns="90000" bIns="-3816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E1CAB12D-B6E0-4719-BA32-BB1432EDD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1285920"/>
            <a:ext cx="894960" cy="280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24840" rIns="90000" bIns="-2484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11B68934-3ED6-4B76-BE5C-86C958B78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40" y="324000"/>
            <a:ext cx="47592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</a:pPr>
            <a:r>
              <a:rPr sz="1050" b="1" u="none">
                <a:solidFill>
                  <a:srgbClr val="7B879B"/>
                </a:solidFill>
                <a:latin typeface="Noto Sans CJK SC"/>
                <a:ea typeface="Noto Sans CJK SC"/>
                <a:cs typeface="Noto Sans CJK SC"/>
              </a:rPr>
              <a:t>15</a:t>
            </a:r>
            <a:endParaRPr sz="10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1DC2C71F-FA0F-4731-BE21-2DE8503B1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1562040"/>
            <a:ext cx="10477080" cy="41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500" b="0" u="none">
                <a:solidFill>
                  <a:srgbClr val="516078"/>
                </a:solidFill>
                <a:latin typeface="Noto Sans CJK SC"/>
                <a:ea typeface="Noto Sans CJK SC"/>
                <a:cs typeface="Noto Sans CJK SC"/>
              </a:rPr>
              <a:t>静态 </a:t>
            </a:r>
            <a:r>
              <a:rPr sz="1500" b="0" u="none">
                <a:solidFill>
                  <a:srgbClr val="516078"/>
                </a:solidFill>
                <a:latin typeface="Noto Sans CJK SC"/>
                <a:ea typeface="Noto Sans CJK SC"/>
                <a:cs typeface="Noto Sans CJK SC"/>
              </a:rPr>
              <a:t>IOC </a:t>
            </a:r>
            <a:r>
              <a:rPr sz="1500" b="0" u="none">
                <a:solidFill>
                  <a:srgbClr val="516078"/>
                </a:solidFill>
                <a:latin typeface="Noto Sans CJK SC"/>
                <a:ea typeface="Noto Sans CJK SC"/>
                <a:cs typeface="Noto Sans CJK SC"/>
              </a:rPr>
              <a:t>通常仅 </a:t>
            </a:r>
            <a:r>
              <a:rPr sz="1500" b="0" u="none">
                <a:solidFill>
                  <a:srgbClr val="516078"/>
                </a:solidFill>
                <a:latin typeface="Noto Sans CJK SC"/>
                <a:ea typeface="Noto Sans CJK SC"/>
                <a:cs typeface="Noto Sans CJK SC"/>
              </a:rPr>
              <a:t>24-48h </a:t>
            </a:r>
            <a:r>
              <a:rPr sz="1500" b="0" u="none">
                <a:solidFill>
                  <a:srgbClr val="516078"/>
                </a:solidFill>
                <a:latin typeface="Noto Sans CJK SC"/>
                <a:ea typeface="Noto Sans CJK SC"/>
                <a:cs typeface="Noto Sans CJK SC"/>
              </a:rPr>
              <a:t>有效；原始日志又受合规与商业机密限制，协作长期卡在数据孤岛。</a:t>
            </a:r>
            <a:endParaRPr sz="15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42" name="">
            <a:extLst xmlns:a="http://schemas.openxmlformats.org/drawingml/2006/main">
              <a:ext uri="{FF2B5EF4-FFF2-40B4-BE49-F238E27FC236}">
                <a16:creationId xmlns:a16="http://schemas.microsoft.com/office/drawing/2014/main" id="{F70E675C-CC15-4344-8785-4B9EEF536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80" y="2190600"/>
            <a:ext cx="2247480" cy="60912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8EFF0"/>
          </a:solidFill>
          <a:ln xmlns:a="http://schemas.openxmlformats.org/drawingml/2006/main" w="9360">
            <a:solidFill>
              <a:srgbClr val="DDE4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73613E49-7623-4862-AC53-1EC05E222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680" y="2352600"/>
            <a:ext cx="2057040" cy="285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</a:pPr>
            <a:r>
              <a:rPr sz="1500" b="1" u="none">
                <a:solidFill>
                  <a:srgbClr val="E75255"/>
                </a:solidFill>
                <a:latin typeface="Noto Sans CJK SC"/>
                <a:ea typeface="Noto Sans CJK SC"/>
                <a:cs typeface="Noto Sans CJK SC"/>
              </a:rPr>
              <a:t>传统 </a:t>
            </a:r>
            <a:r>
              <a:rPr sz="1500" b="1" u="none">
                <a:solidFill>
                  <a:srgbClr val="E75255"/>
                </a:solidFill>
                <a:latin typeface="Noto Sans CJK SC"/>
                <a:ea typeface="Noto Sans CJK SC"/>
                <a:cs typeface="Noto Sans CJK SC"/>
              </a:rPr>
              <a:t>ISAC / MISP</a:t>
            </a:r>
            <a:endParaRPr sz="15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F6CF284E-9926-44E8-B813-A4F870F01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560" y="2190600"/>
            <a:ext cx="2247480" cy="60912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F5F8"/>
          </a:solidFill>
          <a:ln xmlns:a="http://schemas.openxmlformats.org/drawingml/2006/main" w="9360">
            <a:solidFill>
              <a:srgbClr val="DDE4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45" name="">
            <a:extLst xmlns:a="http://schemas.openxmlformats.org/drawingml/2006/main">
              <a:ext uri="{FF2B5EF4-FFF2-40B4-BE49-F238E27FC236}">
                <a16:creationId xmlns:a16="http://schemas.microsoft.com/office/drawing/2014/main" id="{9FDD1A5F-F6B7-435E-A54A-091C4D08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60" y="2352600"/>
            <a:ext cx="2057040" cy="285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</a:pPr>
            <a:r>
              <a:rPr sz="1500" b="1" u="none">
                <a:solidFill>
                  <a:srgbClr val="516078"/>
                </a:solidFill>
                <a:latin typeface="Noto Sans CJK SC"/>
                <a:ea typeface="Noto Sans CJK SC"/>
                <a:cs typeface="Noto Sans CJK SC"/>
              </a:rPr>
              <a:t>联邦学习平台</a:t>
            </a:r>
            <a:endParaRPr sz="15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DC9277D1-69BD-4628-A9E0-26DB0BBFD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200" y="2190600"/>
            <a:ext cx="2247480" cy="60912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F5F8"/>
          </a:solidFill>
          <a:ln xmlns:a="http://schemas.openxmlformats.org/drawingml/2006/main" w="9360">
            <a:solidFill>
              <a:srgbClr val="DDE4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750AEEB5-7FAC-433C-A7B7-91E04301A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240" y="2352600"/>
            <a:ext cx="2057040" cy="285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</a:pPr>
            <a:r>
              <a:rPr sz="1500" b="1" u="none">
                <a:solidFill>
                  <a:srgbClr val="516078"/>
                </a:solidFill>
                <a:latin typeface="Noto Sans CJK SC"/>
                <a:ea typeface="Noto Sans CJK SC"/>
                <a:cs typeface="Noto Sans CJK SC"/>
              </a:rPr>
              <a:t>商用 </a:t>
            </a:r>
            <a:r>
              <a:rPr sz="1500" b="1" u="none">
                <a:solidFill>
                  <a:srgbClr val="516078"/>
                </a:solidFill>
                <a:latin typeface="Noto Sans CJK SC"/>
                <a:ea typeface="Noto Sans CJK SC"/>
                <a:cs typeface="Noto Sans CJK SC"/>
              </a:rPr>
              <a:t>SOC</a:t>
            </a:r>
            <a:endParaRPr sz="15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48" name="">
            <a:extLst xmlns:a="http://schemas.openxmlformats.org/drawingml/2006/main">
              <a:ext uri="{FF2B5EF4-FFF2-40B4-BE49-F238E27FC236}">
                <a16:creationId xmlns:a16="http://schemas.microsoft.com/office/drawing/2014/main" id="{6536F732-0DB1-45DF-8201-B26432D44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80" y="2190600"/>
            <a:ext cx="2247480" cy="60912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360">
            <a:solidFill>
              <a:srgbClr val="2F6BFF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9EF9DF96-2473-4CE1-8D9E-BE414B697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880" y="2352600"/>
            <a:ext cx="2057040" cy="285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</a:pPr>
            <a:r>
              <a:rPr sz="1500" b="1" u="none">
                <a:solidFill>
                  <a:srgbClr val="2F6BFF"/>
                </a:solidFill>
                <a:latin typeface="Noto Sans CJK SC"/>
                <a:ea typeface="Noto Sans CJK SC"/>
                <a:cs typeface="Noto Sans CJK SC"/>
              </a:rPr>
              <a:t>FedPKDA</a:t>
            </a:r>
            <a:endParaRPr sz="15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E2E78C5A-AF7C-451E-BA0E-7EE1E2AF0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3143160"/>
            <a:ext cx="875880" cy="323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</a:pPr>
            <a:r>
              <a:rPr sz="1280" b="1" u="none">
                <a:solidFill>
                  <a:srgbClr val="7B879B"/>
                </a:solidFill>
                <a:latin typeface="Noto Sans CJK SC"/>
                <a:ea typeface="Noto Sans CJK SC"/>
                <a:cs typeface="Noto Sans CJK SC"/>
              </a:rPr>
              <a:t>共享内容</a:t>
            </a:r>
            <a:endParaRPr sz="128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4531FC62-1F57-4B59-BCB2-84E768551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440" y="2971800"/>
            <a:ext cx="2171520" cy="59004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360">
            <a:solidFill>
              <a:srgbClr val="DDE4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356AFE14-6B72-442E-8275-E1347F3A5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400" y="3114720"/>
            <a:ext cx="2018880" cy="323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</a:pPr>
            <a:r>
              <a:rPr sz="1350" b="0" u="none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明文</a:t>
            </a:r>
            <a:r>
              <a:rPr sz="1350" b="0" u="none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/</a:t>
            </a:r>
            <a:r>
              <a:rPr sz="1350" b="0" u="none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脱敏 </a:t>
            </a:r>
            <a:r>
              <a:rPr sz="1350" b="0" u="none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IOC</a:t>
            </a:r>
            <a:endParaRPr sz="13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BE6B0D6E-F082-4861-8A73-1E998F70C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20" y="2971800"/>
            <a:ext cx="2171520" cy="59004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360">
            <a:solidFill>
              <a:srgbClr val="DDE4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54" name="">
            <a:extLst xmlns:a="http://schemas.openxmlformats.org/drawingml/2006/main">
              <a:ext uri="{FF2B5EF4-FFF2-40B4-BE49-F238E27FC236}">
                <a16:creationId xmlns:a16="http://schemas.microsoft.com/office/drawing/2014/main" id="{F488E2C5-75C2-4F80-8D4E-069E74066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2040" y="3114720"/>
            <a:ext cx="2018880" cy="323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</a:pPr>
            <a:r>
              <a:rPr sz="1350" b="0" u="none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梯度</a:t>
            </a:r>
            <a:r>
              <a:rPr sz="1350" b="0" u="none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/</a:t>
            </a:r>
            <a:r>
              <a:rPr sz="1350" b="0" u="none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参数</a:t>
            </a:r>
            <a:endParaRPr sz="13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49427A0D-FC5C-4ED9-9024-1E4F7FB2C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000" y="2971800"/>
            <a:ext cx="2171520" cy="59004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360">
            <a:solidFill>
              <a:srgbClr val="DDE4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664045AF-6FAE-4D8D-B6C7-44954CEF1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20" y="3114720"/>
            <a:ext cx="2018880" cy="323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</a:pPr>
            <a:r>
              <a:rPr sz="1350" b="0" u="none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日志</a:t>
            </a:r>
            <a:r>
              <a:rPr sz="1350" b="0" u="none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/</a:t>
            </a:r>
            <a:r>
              <a:rPr sz="1350" b="0" u="none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遥测</a:t>
            </a:r>
            <a:endParaRPr sz="13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57" name="">
            <a:extLst xmlns:a="http://schemas.openxmlformats.org/drawingml/2006/main">
              <a:ext uri="{FF2B5EF4-FFF2-40B4-BE49-F238E27FC236}">
                <a16:creationId xmlns:a16="http://schemas.microsoft.com/office/drawing/2014/main" id="{6357B84A-16AA-4FA5-9E6B-E39C9423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640" y="2971800"/>
            <a:ext cx="2171520" cy="59004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7FAFF"/>
          </a:solidFill>
          <a:ln xmlns:a="http://schemas.openxmlformats.org/drawingml/2006/main" w="9360">
            <a:solidFill>
              <a:srgbClr val="C9D8FF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814C04D6-F963-4C37-A291-942E3ACE6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600" y="3114720"/>
            <a:ext cx="2018880" cy="323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</a:pPr>
            <a:r>
              <a:rPr sz="1350" b="1" u="none">
                <a:solidFill>
                  <a:srgbClr val="2F6BFF"/>
                </a:solidFill>
                <a:latin typeface="Noto Sans CJK SC"/>
                <a:ea typeface="Noto Sans CJK SC"/>
                <a:cs typeface="Noto Sans CJK SC"/>
              </a:rPr>
              <a:t>带噪类原型</a:t>
            </a:r>
            <a:endParaRPr sz="13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C5444BD1-D112-4079-AF1B-3F534C7A4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3867120"/>
            <a:ext cx="875880" cy="323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</a:pPr>
            <a:r>
              <a:rPr sz="1280" b="1" u="none">
                <a:solidFill>
                  <a:srgbClr val="7B879B"/>
                </a:solidFill>
                <a:latin typeface="Noto Sans CJK SC"/>
                <a:ea typeface="Noto Sans CJK SC"/>
                <a:cs typeface="Noto Sans CJK SC"/>
              </a:rPr>
              <a:t>隐私风险</a:t>
            </a:r>
            <a:endParaRPr sz="128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60" name="">
            <a:extLst xmlns:a="http://schemas.openxmlformats.org/drawingml/2006/main">
              <a:ext uri="{FF2B5EF4-FFF2-40B4-BE49-F238E27FC236}">
                <a16:creationId xmlns:a16="http://schemas.microsoft.com/office/drawing/2014/main" id="{00479B47-BEFC-430C-9E35-0B41961BD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440" y="3695760"/>
            <a:ext cx="2171520" cy="59004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360">
            <a:solidFill>
              <a:srgbClr val="DDE4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0A5B4C1D-F6E4-447D-90D3-6CE990B88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400" y="3838680"/>
            <a:ext cx="2018880" cy="323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</a:pPr>
            <a:r>
              <a:rPr sz="1350" b="0" u="none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人工脱敏遗漏</a:t>
            </a:r>
            <a:endParaRPr sz="13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2142EF0C-E27C-4939-8B1D-C47E97E34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20" y="3695760"/>
            <a:ext cx="2171520" cy="59004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360">
            <a:solidFill>
              <a:srgbClr val="DDE4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63" name="">
            <a:extLst xmlns:a="http://schemas.openxmlformats.org/drawingml/2006/main">
              <a:ext uri="{FF2B5EF4-FFF2-40B4-BE49-F238E27FC236}">
                <a16:creationId xmlns:a16="http://schemas.microsoft.com/office/drawing/2014/main" id="{80A230A3-F49A-4A8F-B946-F3F288D8E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2040" y="3838680"/>
            <a:ext cx="2018880" cy="323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</a:pPr>
            <a:r>
              <a:rPr sz="1350" b="0" u="none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可被梯度还原</a:t>
            </a:r>
            <a:endParaRPr sz="13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B4A6D6DE-5E83-4E2B-B15B-3A5F93A54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000" y="3695760"/>
            <a:ext cx="2171520" cy="59004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360">
            <a:solidFill>
              <a:srgbClr val="DDE4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2EE0AEC8-7682-4410-8588-0AE0C22C6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20" y="3838680"/>
            <a:ext cx="2018880" cy="323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</a:pPr>
            <a:r>
              <a:rPr sz="1350" b="0" u="none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集中托管</a:t>
            </a:r>
            <a:endParaRPr sz="13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66" name="">
            <a:extLst xmlns:a="http://schemas.openxmlformats.org/drawingml/2006/main">
              <a:ext uri="{FF2B5EF4-FFF2-40B4-BE49-F238E27FC236}">
                <a16:creationId xmlns:a16="http://schemas.microsoft.com/office/drawing/2014/main" id="{AB8CE059-BB46-442B-B085-C9EACDB77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640" y="3695760"/>
            <a:ext cx="2171520" cy="59004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7FAFF"/>
          </a:solidFill>
          <a:ln xmlns:a="http://schemas.openxmlformats.org/drawingml/2006/main" w="9360">
            <a:solidFill>
              <a:srgbClr val="C9D8FF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67" name="">
            <a:extLst xmlns:a="http://schemas.openxmlformats.org/drawingml/2006/main">
              <a:ext uri="{FF2B5EF4-FFF2-40B4-BE49-F238E27FC236}">
                <a16:creationId xmlns:a16="http://schemas.microsoft.com/office/drawing/2014/main" id="{9B00EB63-43DD-48D7-A68C-5C1A796A6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600" y="3838680"/>
            <a:ext cx="2018880" cy="323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</a:pPr>
            <a:r>
              <a:rPr sz="1350" b="1" u="none">
                <a:solidFill>
                  <a:srgbClr val="2F6BFF"/>
                </a:solidFill>
                <a:latin typeface="Noto Sans CJK SC"/>
                <a:ea typeface="Noto Sans CJK SC"/>
                <a:cs typeface="Noto Sans CJK SC"/>
              </a:rPr>
              <a:t>数据不出域</a:t>
            </a:r>
            <a:endParaRPr sz="13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8A33319B-9B23-4AC1-AD2A-192D5526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4591080"/>
            <a:ext cx="875880" cy="323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</a:pPr>
            <a:r>
              <a:rPr sz="1280" b="1" u="none">
                <a:solidFill>
                  <a:srgbClr val="7B879B"/>
                </a:solidFill>
                <a:latin typeface="Noto Sans CJK SC"/>
                <a:ea typeface="Noto Sans CJK SC"/>
                <a:cs typeface="Noto Sans CJK SC"/>
              </a:rPr>
              <a:t>异构适配</a:t>
            </a:r>
            <a:endParaRPr sz="128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69" name="">
            <a:extLst xmlns:a="http://schemas.openxmlformats.org/drawingml/2006/main">
              <a:ext uri="{FF2B5EF4-FFF2-40B4-BE49-F238E27FC236}">
                <a16:creationId xmlns:a16="http://schemas.microsoft.com/office/drawing/2014/main" id="{EB16AA33-0118-43B6-805A-E76596D36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440" y="4419720"/>
            <a:ext cx="2171520" cy="59004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360">
            <a:solidFill>
              <a:srgbClr val="DDE4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A595E44A-3294-4C2E-9C36-F6F7EA2E1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400" y="4562640"/>
            <a:ext cx="2018880" cy="323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</a:pPr>
            <a:r>
              <a:rPr sz="1350" b="0" u="none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统一格式</a:t>
            </a:r>
            <a:endParaRPr sz="13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98CDFA20-E30D-4877-ACFE-555A66D4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20" y="4419720"/>
            <a:ext cx="2171520" cy="59004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360">
            <a:solidFill>
              <a:srgbClr val="DDE4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72" name="">
            <a:extLst xmlns:a="http://schemas.openxmlformats.org/drawingml/2006/main">
              <a:ext uri="{FF2B5EF4-FFF2-40B4-BE49-F238E27FC236}">
                <a16:creationId xmlns:a16="http://schemas.microsoft.com/office/drawing/2014/main" id="{FD7F6D07-1040-4080-92C6-EE62314B0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2040" y="4562640"/>
            <a:ext cx="2018880" cy="323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</a:pPr>
            <a:r>
              <a:rPr sz="1350" b="0" u="none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结构要求一致</a:t>
            </a:r>
            <a:endParaRPr sz="13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7151D3A0-782D-4717-A6BB-381A6685F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000" y="4419720"/>
            <a:ext cx="2171520" cy="59004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360">
            <a:solidFill>
              <a:srgbClr val="DDE4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851BA0D7-2820-4CE8-8406-8EF530541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20" y="4562640"/>
            <a:ext cx="2018880" cy="323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</a:pPr>
            <a:r>
              <a:rPr sz="1350" b="0" u="none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绑定厂商</a:t>
            </a:r>
            <a:endParaRPr sz="13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75" name="">
            <a:extLst xmlns:a="http://schemas.openxmlformats.org/drawingml/2006/main">
              <a:ext uri="{FF2B5EF4-FFF2-40B4-BE49-F238E27FC236}">
                <a16:creationId xmlns:a16="http://schemas.microsoft.com/office/drawing/2014/main" id="{AB5B5462-F2F4-4BE4-8321-5EBFFBE0E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640" y="4419720"/>
            <a:ext cx="2171520" cy="59004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7FAFF"/>
          </a:solidFill>
          <a:ln xmlns:a="http://schemas.openxmlformats.org/drawingml/2006/main" w="9360">
            <a:solidFill>
              <a:srgbClr val="C9D8FF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30D4E938-7667-417E-9152-01A37C85A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600" y="4562640"/>
            <a:ext cx="2018880" cy="323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</a:pPr>
            <a:r>
              <a:rPr sz="1350" b="1" u="none">
                <a:solidFill>
                  <a:srgbClr val="2F6BFF"/>
                </a:solidFill>
                <a:latin typeface="Noto Sans CJK SC"/>
                <a:ea typeface="Noto Sans CJK SC"/>
                <a:cs typeface="Noto Sans CJK SC"/>
              </a:rPr>
              <a:t>支持异构协作</a:t>
            </a:r>
            <a:endParaRPr sz="13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992E239B-3209-44E9-879F-D1F3CE0E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5315040"/>
            <a:ext cx="875880" cy="323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</a:pPr>
            <a:r>
              <a:rPr sz="1280" b="1" u="none">
                <a:solidFill>
                  <a:srgbClr val="7B879B"/>
                </a:solidFill>
                <a:latin typeface="Noto Sans CJK SC"/>
                <a:ea typeface="Noto Sans CJK SC"/>
                <a:cs typeface="Noto Sans CJK SC"/>
              </a:rPr>
              <a:t>信任基础</a:t>
            </a:r>
            <a:endParaRPr sz="128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78" name="">
            <a:extLst xmlns:a="http://schemas.openxmlformats.org/drawingml/2006/main">
              <a:ext uri="{FF2B5EF4-FFF2-40B4-BE49-F238E27FC236}">
                <a16:creationId xmlns:a16="http://schemas.microsoft.com/office/drawing/2014/main" id="{0DAE169F-6CB2-4237-A7E0-31ABA7AE8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440" y="5143680"/>
            <a:ext cx="2171520" cy="59004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360">
            <a:solidFill>
              <a:srgbClr val="DDE4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B1E7050A-4DAB-4E78-B5B7-B8EE0A12C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400" y="5286240"/>
            <a:ext cx="2018880" cy="323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</a:pPr>
            <a:r>
              <a:rPr sz="1350" b="0" u="none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协议与身份</a:t>
            </a:r>
            <a:endParaRPr sz="13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69C84AAC-570C-4412-9106-089166250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20" y="5143680"/>
            <a:ext cx="2171520" cy="59004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360">
            <a:solidFill>
              <a:srgbClr val="DDE4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81" name="">
            <a:extLst xmlns:a="http://schemas.openxmlformats.org/drawingml/2006/main">
              <a:ext uri="{FF2B5EF4-FFF2-40B4-BE49-F238E27FC236}">
                <a16:creationId xmlns:a16="http://schemas.microsoft.com/office/drawing/2014/main" id="{D1DA49DC-EE4A-4728-A6FE-B6A5A96CE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2040" y="5286240"/>
            <a:ext cx="2018880" cy="323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</a:pPr>
            <a:r>
              <a:rPr sz="1350" b="0" u="none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默认信任服务端</a:t>
            </a:r>
            <a:endParaRPr sz="13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84F51EBF-6F72-4E3E-B7AB-1F5769B91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000" y="5143680"/>
            <a:ext cx="2171520" cy="59004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360">
            <a:solidFill>
              <a:srgbClr val="DDE4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83" name="">
            <a:extLst xmlns:a="http://schemas.openxmlformats.org/drawingml/2006/main">
              <a:ext uri="{FF2B5EF4-FFF2-40B4-BE49-F238E27FC236}">
                <a16:creationId xmlns:a16="http://schemas.microsoft.com/office/drawing/2014/main" id="{D1A0BC04-19E7-4CB3-94B6-1FD6C91A8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20" y="5286240"/>
            <a:ext cx="2018880" cy="323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</a:pPr>
            <a:r>
              <a:rPr sz="1350" b="0" u="none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供应商信誉</a:t>
            </a:r>
            <a:endParaRPr sz="13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84" name="">
            <a:extLst xmlns:a="http://schemas.openxmlformats.org/drawingml/2006/main">
              <a:ext uri="{FF2B5EF4-FFF2-40B4-BE49-F238E27FC236}">
                <a16:creationId xmlns:a16="http://schemas.microsoft.com/office/drawing/2014/main" id="{EAE9150C-8F6C-4359-8EDD-89C35EF81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640" y="5143680"/>
            <a:ext cx="2171520" cy="59004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7FAFF"/>
          </a:solidFill>
          <a:ln xmlns:a="http://schemas.openxmlformats.org/drawingml/2006/main" w="9360">
            <a:solidFill>
              <a:srgbClr val="C9D8FF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F98B05A7-BBAC-4201-9B21-2B391E1B2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600" y="5286240"/>
            <a:ext cx="2018880" cy="323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</a:pPr>
            <a:r>
              <a:rPr sz="1350" b="1" u="none">
                <a:solidFill>
                  <a:srgbClr val="2F6BFF"/>
                </a:solidFill>
                <a:latin typeface="Noto Sans CJK SC"/>
                <a:ea typeface="Noto Sans CJK SC"/>
                <a:cs typeface="Noto Sans CJK SC"/>
              </a:rPr>
              <a:t>算法不可逆</a:t>
            </a:r>
            <a:endParaRPr sz="13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82D81B5B-C135-4E52-A4F5-4798665CB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6000840"/>
            <a:ext cx="10972440" cy="38052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B1530"/>
          </a:solidFill>
          <a:ln xmlns:a="http://schemas.openxmlformats.org/drawingml/2006/main" w="9360">
            <a:solidFill>
              <a:srgbClr val="0B153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87" name="">
            <a:extLst xmlns:a="http://schemas.openxmlformats.org/drawingml/2006/main">
              <a:ext uri="{FF2B5EF4-FFF2-40B4-BE49-F238E27FC236}">
                <a16:creationId xmlns:a16="http://schemas.microsoft.com/office/drawing/2014/main" id="{BE5C9222-C17C-48C4-BECD-EA3625433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280" y="6086520"/>
            <a:ext cx="1059156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</a:pPr>
            <a:r>
              <a:rPr sz="1350" b="1" u="none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合规价值：原始网络流量不出机构域，降低分类分级、跨机构流转与出境风险</a:t>
            </a:r>
            <a:endParaRPr sz="13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C4A50900-F483-4F3F-A8D9-8DEC65AC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6534000"/>
            <a:ext cx="6667200" cy="17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820" b="0" u="none">
                <a:solidFill>
                  <a:srgbClr val="7B879B"/>
                </a:solidFill>
                <a:latin typeface="Noto Sans CJK SC"/>
                <a:ea typeface="Noto Sans CJK SC"/>
                <a:cs typeface="Noto Sans CJK SC"/>
              </a:rPr>
              <a:t>FedPKDA · RoboCup 2026</a:t>
            </a:r>
            <a:endParaRPr sz="82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151976487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8FC8FB34-A766-497B-A0C0-B26302F57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324000"/>
            <a:ext cx="495252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50" b="1" u="none">
                <a:solidFill>
                  <a:srgbClr val="2F6BFF"/>
                </a:solidFill>
                <a:latin typeface="Noto Sans CJK SC"/>
                <a:ea typeface="Noto Sans CJK SC"/>
                <a:cs typeface="Noto Sans CJK SC"/>
              </a:rPr>
              <a:t>05 / APPLICATION</a:t>
            </a:r>
            <a:endParaRPr sz="10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90" name="">
            <a:extLst xmlns:a="http://schemas.openxmlformats.org/drawingml/2006/main">
              <a:ext uri="{FF2B5EF4-FFF2-40B4-BE49-F238E27FC236}">
                <a16:creationId xmlns:a16="http://schemas.microsoft.com/office/drawing/2014/main" id="{71A5AE39-A987-4825-A71A-904C377D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647640"/>
            <a:ext cx="10667520" cy="57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3230" b="1" u="none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别人被攻击过的知识可以共享，但攻击经历仍留在本地</a:t>
            </a:r>
            <a:endParaRPr sz="323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91" name="">
            <a:extLst xmlns:a="http://schemas.openxmlformats.org/drawingml/2006/main">
              <a:ext uri="{FF2B5EF4-FFF2-40B4-BE49-F238E27FC236}">
                <a16:creationId xmlns:a16="http://schemas.microsoft.com/office/drawing/2014/main" id="{2F840E06-8949-43BD-B575-0618EC572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1295280"/>
            <a:ext cx="10972440" cy="9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4EE"/>
          </a:solidFill>
          <a:ln xmlns:a="http://schemas.openxmlformats.org/drawingml/2006/main" w="0">
            <a:solidFill>
              <a:srgbClr val="DDE4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8160" rIns="90000" bIns="-3816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92" name="">
            <a:extLst xmlns:a="http://schemas.openxmlformats.org/drawingml/2006/main">
              <a:ext uri="{FF2B5EF4-FFF2-40B4-BE49-F238E27FC236}">
                <a16:creationId xmlns:a16="http://schemas.microsoft.com/office/drawing/2014/main" id="{4725CF1C-5176-4796-BE7D-DC4917A7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1285920"/>
            <a:ext cx="894960" cy="280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B787"/>
          </a:solidFill>
          <a:ln xmlns:a="http://schemas.openxmlformats.org/drawingml/2006/main" w="0">
            <a:solidFill>
              <a:srgbClr val="24B78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24840" rIns="90000" bIns="-2484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93" name="">
            <a:extLst xmlns:a="http://schemas.openxmlformats.org/drawingml/2006/main">
              <a:ext uri="{FF2B5EF4-FFF2-40B4-BE49-F238E27FC236}">
                <a16:creationId xmlns:a16="http://schemas.microsoft.com/office/drawing/2014/main" id="{37B9F81E-FBD0-4A07-AA81-14D3BCE36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40" y="324000"/>
            <a:ext cx="47592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</a:pPr>
            <a:r>
              <a:rPr sz="1050" b="1" u="none">
                <a:solidFill>
                  <a:srgbClr val="7B879B"/>
                </a:solidFill>
                <a:latin typeface="Noto Sans CJK SC"/>
                <a:ea typeface="Noto Sans CJK SC"/>
                <a:cs typeface="Noto Sans CJK SC"/>
              </a:rPr>
              <a:t>16</a:t>
            </a:r>
            <a:endParaRPr sz="10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94" name="">
            <a:extLst xmlns:a="http://schemas.openxmlformats.org/drawingml/2006/main">
              <a:ext uri="{FF2B5EF4-FFF2-40B4-BE49-F238E27FC236}">
                <a16:creationId xmlns:a16="http://schemas.microsoft.com/office/drawing/2014/main" id="{1E3A6F4B-7129-4DB2-BEDD-071C8B524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1619280"/>
            <a:ext cx="5352840" cy="3733560"/>
          </a:xfrm>
          <a:prstGeom xmlns:a="http://schemas.openxmlformats.org/drawingml/2006/main" prst="roundRect">
            <a:avLst>
              <a:gd name="adj" fmla="val 3061"/>
            </a:avLst>
          </a:prstGeom>
          <a:solidFill xmlns:a="http://schemas.openxmlformats.org/drawingml/2006/main">
            <a:srgbClr val="0B1530"/>
          </a:solidFill>
          <a:ln xmlns:a="http://schemas.openxmlformats.org/drawingml/2006/main" w="9360">
            <a:solidFill>
              <a:srgbClr val="0B1530"/>
            </a:solidFill>
          </a:ln>
          <a:effectLst xmlns:a="http://schemas.openxmlformats.org/drawingml/2006/main">
            <a:outerShdw blurRad="57240" dist="19080" dir="5400000" rotWithShape="0">
              <a:srgbClr val="000000">
                <a:alpha val="10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95" name="">
            <a:extLst xmlns:a="http://schemas.openxmlformats.org/drawingml/2006/main">
              <a:ext uri="{FF2B5EF4-FFF2-40B4-BE49-F238E27FC236}">
                <a16:creationId xmlns:a16="http://schemas.microsoft.com/office/drawing/2014/main" id="{8F1AF354-93B4-4C81-BAFA-3D8CAE68B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120" y="1771560"/>
            <a:ext cx="5047920" cy="3428640"/>
          </a:xfrm>
          <a:prstGeom xmlns:a="http://schemas.openxmlformats.org/drawingml/2006/main" prst="roundRect">
            <a:avLst>
              <a:gd name="adj" fmla="val 2222"/>
            </a:avLst>
          </a:prstGeom>
          <a:blipFill xmlns:a="http://schemas.openxmlformats.org/drawingml/2006/main" rotWithShape="0">
            <a:blip xmlns:r="http://schemas.openxmlformats.org/officeDocument/2006/relationships" r:embed="R4b1f2bd94e1041cb"/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96" name="">
            <a:extLst xmlns:a="http://schemas.openxmlformats.org/drawingml/2006/main">
              <a:ext uri="{FF2B5EF4-FFF2-40B4-BE49-F238E27FC236}">
                <a16:creationId xmlns:a16="http://schemas.microsoft.com/office/drawing/2014/main" id="{4DC8A7D5-7456-4D0C-AAE3-FFD71889A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160" y="1733400"/>
            <a:ext cx="4000320" cy="39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2100" b="1" u="none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多行业机构联盟</a:t>
            </a:r>
            <a:endParaRPr sz="21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97" name="">
            <a:extLst xmlns:a="http://schemas.openxmlformats.org/drawingml/2006/main">
              <a:ext uri="{FF2B5EF4-FFF2-40B4-BE49-F238E27FC236}">
                <a16:creationId xmlns:a16="http://schemas.microsoft.com/office/drawing/2014/main" id="{FF6238FE-573D-4363-8E49-BAFEA023D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160" y="2305080"/>
            <a:ext cx="1238040" cy="3805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360">
            <a:solidFill>
              <a:srgbClr val="EAF0FF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6320" tIns="0" rIns="7632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350" b="1" u="none">
                <a:solidFill>
                  <a:srgbClr val="2F6BFF"/>
                </a:solidFill>
                <a:latin typeface="Noto Sans CJK SC"/>
                <a:ea typeface="Noto Sans CJK SC"/>
                <a:cs typeface="Noto Sans CJK SC"/>
              </a:rPr>
              <a:t>金融</a:t>
            </a:r>
            <a:endParaRPr sz="13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98" name="">
            <a:extLst xmlns:a="http://schemas.openxmlformats.org/drawingml/2006/main">
              <a:ext uri="{FF2B5EF4-FFF2-40B4-BE49-F238E27FC236}">
                <a16:creationId xmlns:a16="http://schemas.microsoft.com/office/drawing/2014/main" id="{523B76EA-AD91-4E59-B101-F9D83E3F9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400" y="2305080"/>
            <a:ext cx="1238040" cy="3805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360">
            <a:solidFill>
              <a:srgbClr val="EAF0FF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6320" tIns="0" rIns="7632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350" b="1" u="none">
                <a:solidFill>
                  <a:srgbClr val="22C7D6"/>
                </a:solidFill>
                <a:latin typeface="Noto Sans CJK SC"/>
                <a:ea typeface="Noto Sans CJK SC"/>
                <a:cs typeface="Noto Sans CJK SC"/>
              </a:rPr>
              <a:t>政务</a:t>
            </a:r>
            <a:endParaRPr sz="13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99" name="">
            <a:extLst xmlns:a="http://schemas.openxmlformats.org/drawingml/2006/main">
              <a:ext uri="{FF2B5EF4-FFF2-40B4-BE49-F238E27FC236}">
                <a16:creationId xmlns:a16="http://schemas.microsoft.com/office/drawing/2014/main" id="{0A87B8A6-535F-4FB7-BCF6-5584D0DB4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160" y="2857680"/>
            <a:ext cx="1238040" cy="3805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360">
            <a:solidFill>
              <a:srgbClr val="FFF4D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6320" tIns="0" rIns="7632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350" b="1" u="none">
                <a:solidFill>
                  <a:srgbClr val="F59E0B"/>
                </a:solidFill>
                <a:latin typeface="Noto Sans CJK SC"/>
                <a:ea typeface="Noto Sans CJK SC"/>
                <a:cs typeface="Noto Sans CJK SC"/>
              </a:rPr>
              <a:t>能源</a:t>
            </a:r>
            <a:endParaRPr sz="13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00" name="">
            <a:extLst xmlns:a="http://schemas.openxmlformats.org/drawingml/2006/main">
              <a:ext uri="{FF2B5EF4-FFF2-40B4-BE49-F238E27FC236}">
                <a16:creationId xmlns:a16="http://schemas.microsoft.com/office/drawing/2014/main" id="{C8F13183-1FB1-4598-B929-F91091CF6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400" y="2857680"/>
            <a:ext cx="1238040" cy="3805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8EF"/>
          </a:solidFill>
          <a:ln xmlns:a="http://schemas.openxmlformats.org/drawingml/2006/main" w="9360">
            <a:solidFill>
              <a:srgbClr val="DDF8EF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6320" tIns="0" rIns="7632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350" b="1" u="none">
                <a:solidFill>
                  <a:srgbClr val="24B787"/>
                </a:solidFill>
                <a:latin typeface="Noto Sans CJK SC"/>
                <a:ea typeface="Noto Sans CJK SC"/>
                <a:cs typeface="Noto Sans CJK SC"/>
              </a:rPr>
              <a:t>通信</a:t>
            </a:r>
            <a:endParaRPr sz="13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E7EEC5EA-069D-478D-949B-87BCBF22E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160" y="3486240"/>
            <a:ext cx="4495320" cy="9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4EE"/>
          </a:solidFill>
          <a:ln xmlns:a="http://schemas.openxmlformats.org/drawingml/2006/main" w="0">
            <a:solidFill>
              <a:srgbClr val="DDE4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8160" rIns="90000" bIns="-3816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02" name="">
            <a:extLst xmlns:a="http://schemas.openxmlformats.org/drawingml/2006/main">
              <a:ext uri="{FF2B5EF4-FFF2-40B4-BE49-F238E27FC236}">
                <a16:creationId xmlns:a16="http://schemas.microsoft.com/office/drawing/2014/main" id="{7270A546-4B24-4EE7-BBB2-6C776268E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160" y="3733920"/>
            <a:ext cx="4476240" cy="990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 fontScale="85000" lnSpcReduction="9999"/>
          </a:bodyPr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</a:pPr>
            <a:r>
              <a:rPr sz="2020" b="1" u="none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“别人被打过的东西，你的模型能学会防御；</a:t>
            </a:r>
            <a:endParaRPr sz="202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  <a:p xmlns:a="http://schemas.openxmlformats.org/drawingml/2006/main">
            <a:pPr>
              <a:lnSpc>
                <a:spcPct val="135000"/>
              </a:lnSpc>
              <a:buNone/>
            </a:pPr>
            <a:r>
              <a:rPr sz="2020" b="1" u="none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但别人不会知道你被打过。”</a:t>
            </a:r>
            <a:endParaRPr sz="202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03" name="">
            <a:extLst xmlns:a="http://schemas.openxmlformats.org/drawingml/2006/main">
              <a:ext uri="{FF2B5EF4-FFF2-40B4-BE49-F238E27FC236}">
                <a16:creationId xmlns:a16="http://schemas.microsoft.com/office/drawing/2014/main" id="{55F06CE2-472A-40E5-8494-556F944AD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160" y="4952880"/>
            <a:ext cx="4571640" cy="39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 lnSpcReduction="999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350" b="0" u="none">
                <a:solidFill>
                  <a:srgbClr val="516078"/>
                </a:solidFill>
                <a:latin typeface="Noto Sans CJK SC"/>
                <a:ea typeface="Noto Sans CJK SC"/>
                <a:cs typeface="Noto Sans CJK SC"/>
              </a:rPr>
              <a:t>标准 </a:t>
            </a:r>
            <a:r>
              <a:rPr sz="1350" b="0" u="none">
                <a:solidFill>
                  <a:srgbClr val="516078"/>
                </a:solidFill>
                <a:latin typeface="Noto Sans CJK SC"/>
                <a:ea typeface="Noto Sans CJK SC"/>
                <a:cs typeface="Noto Sans CJK SC"/>
              </a:rPr>
              <a:t>PyTorch </a:t>
            </a:r>
            <a:r>
              <a:rPr sz="1350" b="0" u="none">
                <a:solidFill>
                  <a:srgbClr val="516078"/>
                </a:solidFill>
                <a:latin typeface="Noto Sans CJK SC"/>
                <a:ea typeface="Noto Sans CJK SC"/>
                <a:cs typeface="Noto Sans CJK SC"/>
              </a:rPr>
              <a:t>栈 </a:t>
            </a:r>
            <a:r>
              <a:rPr sz="1350" b="0" u="none">
                <a:solidFill>
                  <a:srgbClr val="516078"/>
                </a:solidFill>
                <a:latin typeface="Noto Sans CJK SC"/>
                <a:ea typeface="Noto Sans CJK SC"/>
                <a:cs typeface="Noto Sans CJK SC"/>
              </a:rPr>
              <a:t>· </a:t>
            </a:r>
            <a:r>
              <a:rPr sz="1350" b="0" u="none">
                <a:solidFill>
                  <a:srgbClr val="516078"/>
                </a:solidFill>
                <a:latin typeface="Noto Sans CJK SC"/>
                <a:ea typeface="Noto Sans CJK SC"/>
                <a:cs typeface="Noto Sans CJK SC"/>
              </a:rPr>
              <a:t>无专用硬件 </a:t>
            </a:r>
            <a:r>
              <a:rPr sz="1350" b="0" u="none">
                <a:solidFill>
                  <a:srgbClr val="516078"/>
                </a:solidFill>
                <a:latin typeface="Noto Sans CJK SC"/>
                <a:ea typeface="Noto Sans CJK SC"/>
                <a:cs typeface="Noto Sans CJK SC"/>
              </a:rPr>
              <a:t>· </a:t>
            </a:r>
            <a:r>
              <a:rPr sz="1350" b="0" u="none">
                <a:solidFill>
                  <a:srgbClr val="516078"/>
                </a:solidFill>
                <a:latin typeface="Noto Sans CJK SC"/>
                <a:ea typeface="Noto Sans CJK SC"/>
                <a:cs typeface="Noto Sans CJK SC"/>
              </a:rPr>
              <a:t>原型通信量低于梯度传输</a:t>
            </a:r>
            <a:endParaRPr sz="13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04" name="">
            <a:extLst xmlns:a="http://schemas.openxmlformats.org/drawingml/2006/main">
              <a:ext uri="{FF2B5EF4-FFF2-40B4-BE49-F238E27FC236}">
                <a16:creationId xmlns:a16="http://schemas.microsoft.com/office/drawing/2014/main" id="{6B4CDA43-A69A-4C99-8DC1-A186E10CE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5676840"/>
            <a:ext cx="5257440" cy="60912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DDF8EF"/>
          </a:solidFill>
          <a:ln xmlns:a="http://schemas.openxmlformats.org/drawingml/2006/main" w="9360">
            <a:solidFill>
              <a:srgbClr val="BDE7D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05" name="">
            <a:extLst xmlns:a="http://schemas.openxmlformats.org/drawingml/2006/main">
              <a:ext uri="{FF2B5EF4-FFF2-40B4-BE49-F238E27FC236}">
                <a16:creationId xmlns:a16="http://schemas.microsoft.com/office/drawing/2014/main" id="{28D59345-A7ED-4C4A-9C0F-7C00D7AA2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280" y="5848200"/>
            <a:ext cx="487656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</a:pPr>
            <a:r>
              <a:rPr sz="1350" b="1" u="none">
                <a:solidFill>
                  <a:srgbClr val="24B787"/>
                </a:solidFill>
                <a:latin typeface="Noto Sans CJK SC"/>
                <a:ea typeface="Noto Sans CJK SC"/>
                <a:cs typeface="Noto Sans CJK SC"/>
              </a:rPr>
              <a:t>适合：多机构 </a:t>
            </a:r>
            <a:r>
              <a:rPr sz="1350" b="1" u="none">
                <a:solidFill>
                  <a:srgbClr val="24B787"/>
                </a:solidFill>
                <a:latin typeface="Noto Sans CJK SC"/>
                <a:ea typeface="Noto Sans CJK SC"/>
                <a:cs typeface="Noto Sans CJK SC"/>
              </a:rPr>
              <a:t>/ </a:t>
            </a:r>
            <a:r>
              <a:rPr sz="1350" b="1" u="none">
                <a:solidFill>
                  <a:srgbClr val="24B787"/>
                </a:solidFill>
                <a:latin typeface="Noto Sans CJK SC"/>
                <a:ea typeface="Noto Sans CJK SC"/>
                <a:cs typeface="Noto Sans CJK SC"/>
              </a:rPr>
              <a:t>强隐私 </a:t>
            </a:r>
            <a:r>
              <a:rPr sz="1350" b="1" u="none">
                <a:solidFill>
                  <a:srgbClr val="24B787"/>
                </a:solidFill>
                <a:latin typeface="Noto Sans CJK SC"/>
                <a:ea typeface="Noto Sans CJK SC"/>
                <a:cs typeface="Noto Sans CJK SC"/>
              </a:rPr>
              <a:t>/ </a:t>
            </a:r>
            <a:r>
              <a:rPr sz="1350" b="1" u="none">
                <a:solidFill>
                  <a:srgbClr val="24B787"/>
                </a:solidFill>
                <a:latin typeface="Noto Sans CJK SC"/>
                <a:ea typeface="Noto Sans CJK SC"/>
                <a:cs typeface="Noto Sans CJK SC"/>
              </a:rPr>
              <a:t>数据异构 </a:t>
            </a:r>
            <a:r>
              <a:rPr sz="1350" b="1" u="none">
                <a:solidFill>
                  <a:srgbClr val="24B787"/>
                </a:solidFill>
                <a:latin typeface="Noto Sans CJK SC"/>
                <a:ea typeface="Noto Sans CJK SC"/>
                <a:cs typeface="Noto Sans CJK SC"/>
              </a:rPr>
              <a:t>/ </a:t>
            </a:r>
            <a:r>
              <a:rPr sz="1350" b="1" u="none">
                <a:solidFill>
                  <a:srgbClr val="24B787"/>
                </a:solidFill>
                <a:latin typeface="Noto Sans CJK SC"/>
                <a:ea typeface="Noto Sans CJK SC"/>
                <a:cs typeface="Noto Sans CJK SC"/>
              </a:rPr>
              <a:t>节点稀疏参与</a:t>
            </a:r>
            <a:endParaRPr sz="13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06" name="">
            <a:extLst xmlns:a="http://schemas.openxmlformats.org/drawingml/2006/main">
              <a:ext uri="{FF2B5EF4-FFF2-40B4-BE49-F238E27FC236}">
                <a16:creationId xmlns:a16="http://schemas.microsoft.com/office/drawing/2014/main" id="{6AB88617-FA6F-48D0-9A18-A4A3BD0AF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80" y="5676840"/>
            <a:ext cx="5257440" cy="60912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3F5F8"/>
          </a:solidFill>
          <a:ln xmlns:a="http://schemas.openxmlformats.org/drawingml/2006/main" w="9360">
            <a:solidFill>
              <a:srgbClr val="DDE4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07" name="">
            <a:extLst xmlns:a="http://schemas.openxmlformats.org/drawingml/2006/main">
              <a:ext uri="{FF2B5EF4-FFF2-40B4-BE49-F238E27FC236}">
                <a16:creationId xmlns:a16="http://schemas.microsoft.com/office/drawing/2014/main" id="{E0989118-8D69-4406-B572-EE852967F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280" y="5848200"/>
            <a:ext cx="487656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</a:pPr>
            <a:r>
              <a:rPr sz="1350" b="1" u="none">
                <a:solidFill>
                  <a:srgbClr val="516078"/>
                </a:solidFill>
                <a:latin typeface="Noto Sans CJK SC"/>
                <a:ea typeface="Noto Sans CJK SC"/>
                <a:cs typeface="Noto Sans CJK SC"/>
              </a:rPr>
              <a:t>不适合：单机构即可覆盖全部数据、无需跨域协作的场景</a:t>
            </a:r>
            <a:endParaRPr sz="13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08" name="">
            <a:extLst xmlns:a="http://schemas.openxmlformats.org/drawingml/2006/main">
              <a:ext uri="{FF2B5EF4-FFF2-40B4-BE49-F238E27FC236}">
                <a16:creationId xmlns:a16="http://schemas.microsoft.com/office/drawing/2014/main" id="{B0E334B8-9B8B-4A54-86C4-28BEB820A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6534000"/>
            <a:ext cx="6667200" cy="17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820" b="0" u="none">
                <a:solidFill>
                  <a:srgbClr val="7B879B"/>
                </a:solidFill>
                <a:latin typeface="Noto Sans CJK SC"/>
                <a:ea typeface="Noto Sans CJK SC"/>
                <a:cs typeface="Noto Sans CJK SC"/>
              </a:rPr>
              <a:t>FedPKDA · RoboCup 2026</a:t>
            </a:r>
            <a:endParaRPr sz="82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171870542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" name="">
            <a:extLst xmlns:a="http://schemas.openxmlformats.org/drawingml/2006/main">
              <a:ext uri="{FF2B5EF4-FFF2-40B4-BE49-F238E27FC236}">
                <a16:creationId xmlns:a16="http://schemas.microsoft.com/office/drawing/2014/main" id="{A41FEF5D-86A9-462F-A16C-59454F9E5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324000"/>
            <a:ext cx="495252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50" b="1" u="none">
                <a:solidFill>
                  <a:srgbClr val="2F6BFF"/>
                </a:solidFill>
                <a:latin typeface="Noto Sans CJK SC"/>
                <a:ea typeface="Noto Sans CJK SC"/>
                <a:cs typeface="Noto Sans CJK SC"/>
              </a:rPr>
              <a:t>06 / ACADEMIC OUTPUTS</a:t>
            </a:r>
            <a:endParaRPr sz="10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10" name="">
            <a:extLst xmlns:a="http://schemas.openxmlformats.org/drawingml/2006/main">
              <a:ext uri="{FF2B5EF4-FFF2-40B4-BE49-F238E27FC236}">
                <a16:creationId xmlns:a16="http://schemas.microsoft.com/office/drawing/2014/main" id="{AFDAE56F-444A-4A86-8A99-88E810814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647640"/>
            <a:ext cx="10667520" cy="57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3000" b="1" u="none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3 项软件著作权支撑安全能力与工程化落地</a:t>
            </a:r>
            <a:endParaRPr sz="323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11" name="">
            <a:extLst xmlns:a="http://schemas.openxmlformats.org/drawingml/2006/main">
              <a:ext uri="{FF2B5EF4-FFF2-40B4-BE49-F238E27FC236}">
                <a16:creationId xmlns:a16="http://schemas.microsoft.com/office/drawing/2014/main" id="{4ECDF286-2C1C-43CC-BB55-FA1ECA1D3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1295280"/>
            <a:ext cx="10972440" cy="9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4EE"/>
          </a:solidFill>
          <a:ln xmlns:a="http://schemas.openxmlformats.org/drawingml/2006/main" w="0">
            <a:solidFill>
              <a:srgbClr val="DDE4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8160" rIns="90000" bIns="-3816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12" name="">
            <a:extLst xmlns:a="http://schemas.openxmlformats.org/drawingml/2006/main">
              <a:ext uri="{FF2B5EF4-FFF2-40B4-BE49-F238E27FC236}">
                <a16:creationId xmlns:a16="http://schemas.microsoft.com/office/drawing/2014/main" id="{C5C5BA31-A7C9-4140-A529-DE68DE901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1285920"/>
            <a:ext cx="894960" cy="280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7D6"/>
          </a:solidFill>
          <a:ln xmlns:a="http://schemas.openxmlformats.org/drawingml/2006/main" w="0">
            <a:solidFill>
              <a:srgbClr val="22C7D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24840" rIns="90000" bIns="-2484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13" name="">
            <a:extLst xmlns:a="http://schemas.openxmlformats.org/drawingml/2006/main">
              <a:ext uri="{FF2B5EF4-FFF2-40B4-BE49-F238E27FC236}">
                <a16:creationId xmlns:a16="http://schemas.microsoft.com/office/drawing/2014/main" id="{58182669-914E-4D1D-AE91-948A707A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40" y="324000"/>
            <a:ext cx="47592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</a:pPr>
            <a:r>
              <a:rPr sz="1050" b="1" u="none">
                <a:solidFill>
                  <a:srgbClr val="7B879B"/>
                </a:solidFill>
                <a:latin typeface="Noto Sans CJK SC"/>
                <a:ea typeface="Noto Sans CJK SC"/>
                <a:cs typeface="Noto Sans CJK SC"/>
              </a:rPr>
              <a:t>19</a:t>
            </a:r>
            <a:endParaRPr sz="10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33" name="">
            <a:extLst xmlns:a="http://schemas.openxmlformats.org/drawingml/2006/main">
              <a:ext uri="{FF2B5EF4-FFF2-40B4-BE49-F238E27FC236}">
                <a16:creationId xmlns:a16="http://schemas.microsoft.com/office/drawing/2014/main" id="{05020ACD-75F9-486E-82DF-7D15E654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6534000"/>
            <a:ext cx="6667200" cy="17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820" b="0" u="none">
                <a:solidFill>
                  <a:srgbClr val="7B879B"/>
                </a:solidFill>
                <a:latin typeface="Noto Sans CJK SC"/>
                <a:ea typeface="Noto Sans CJK SC"/>
                <a:cs typeface="Noto Sans CJK SC"/>
              </a:rPr>
              <a:t>FedPKDA · RoboCup 2026</a:t>
            </a:r>
            <a:endParaRPr sz="82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34" name="">
            <a:extLst xmlns:a="http://schemas.openxmlformats.org/drawingml/2006/main">
              <a:ext uri="{FF2B5EF4-FFF2-40B4-BE49-F238E27FC236}">
                <a16:creationId xmlns:a16="http://schemas.microsoft.com/office/drawing/2014/main" id="{364798FD-347F-431B-95EB-F7DE405E2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3200400" cy="40767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E"/>
            </a:solidFill>
            <a:prstDash val="solid"/>
          </a:ln>
        </p:spPr>
      </p:sp>
      <p:sp>
        <p:nvSpPr>
          <p:cNvPr id="435" name="">
            <a:extLst xmlns:a="http://schemas.openxmlformats.org/drawingml/2006/main">
              <a:ext uri="{FF2B5EF4-FFF2-40B4-BE49-F238E27FC236}">
                <a16:creationId xmlns:a16="http://schemas.microsoft.com/office/drawing/2014/main" id="{397A0D29-3339-4B66-9C3C-F38D00321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2F6BFF"/>
            </a:solidFill>
            <a:prstDash val="solid"/>
          </a:ln>
        </p:spPr>
      </p:sp>
      <p:sp>
        <p:nvSpPr>
          <p:cNvPr id="436" name="">
            <a:extLst xmlns:a="http://schemas.openxmlformats.org/drawingml/2006/main">
              <a:ext uri="{FF2B5EF4-FFF2-40B4-BE49-F238E27FC236}">
                <a16:creationId xmlns:a16="http://schemas.microsoft.com/office/drawing/2014/main" id="{005F806E-D2D5-48A8-AA49-BD4369C83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800225"/>
            <a:ext cx="29146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EE"/>
            </a:solidFill>
            <a:prstDash val="solid"/>
          </a:ln>
        </p:spPr>
      </p:sp>
      <p:pic>
        <p:nvPicPr>
          <p:cNvPr id="4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1418015ba34c27"/>
          <a:srcRect xmlns:a="http://schemas.openxmlformats.org/drawingml/2006/main" l="3189" t="0" r="31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0100" y="1847850"/>
            <a:ext cx="2819400" cy="1333500"/>
          </a:xfrm>
          <a:prstGeom xmlns:a="http://schemas.openxmlformats.org/drawingml/2006/main" prst="roundRect">
            <a:avLst>
              <a:gd name="adj" fmla="val 5714"/>
            </a:avLst>
          </a:prstGeom>
        </p:spPr>
      </p:pic>
      <p:sp>
        <p:nvSpPr>
          <p:cNvPr id="438" name="">
            <a:extLst xmlns:a="http://schemas.openxmlformats.org/drawingml/2006/main">
              <a:ext uri="{FF2B5EF4-FFF2-40B4-BE49-F238E27FC236}">
                <a16:creationId xmlns:a16="http://schemas.microsoft.com/office/drawing/2014/main" id="{A7AC281E-0601-4D3A-97DB-5862345E8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1428750" cy="2762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EAF0F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6B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2F6BFF"/>
                </a:solidFill>
                <a:latin typeface="Noto Sans CJK SC"/>
                <a:ea typeface="Noto Sans CJK SC"/>
                <a:cs typeface="Noto Sans CJK SC"/>
              </a:rPr>
              <a:t>安全检测与防御</a:t>
            </a:r>
          </a:p>
        </p:txBody>
      </p:sp>
      <p:sp>
        <p:nvSpPr>
          <p:cNvPr id="439" name="">
            <a:extLst xmlns:a="http://schemas.openxmlformats.org/drawingml/2006/main">
              <a:ext uri="{FF2B5EF4-FFF2-40B4-BE49-F238E27FC236}">
                <a16:creationId xmlns:a16="http://schemas.microsoft.com/office/drawing/2014/main" id="{F031C734-2180-403D-99D7-9AF7F7DFE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29050"/>
            <a:ext cx="2781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1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基于蜜罐技术的 DDoS 攻击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25" b="1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检测与防御系统 V1.0</a:t>
            </a:r>
          </a:p>
        </p:txBody>
      </p:sp>
      <p:sp>
        <p:nvSpPr>
          <p:cNvPr id="440" name="">
            <a:extLst xmlns:a="http://schemas.openxmlformats.org/drawingml/2006/main">
              <a:ext uri="{FF2B5EF4-FFF2-40B4-BE49-F238E27FC236}">
                <a16:creationId xmlns:a16="http://schemas.microsoft.com/office/drawing/2014/main" id="{B6F90207-1FB1-4F63-9AAA-E6AE9F7D0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29150"/>
            <a:ext cx="2781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1607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516078"/>
                </a:solidFill>
                <a:latin typeface="Noto Sans CJK SC"/>
                <a:ea typeface="Noto Sans CJK SC"/>
                <a:cs typeface="Noto Sans CJK SC"/>
              </a:rPr>
              <a:t>登记号：2023SR0740988</a:t>
            </a:r>
          </a:p>
        </p:txBody>
      </p:sp>
      <p:sp>
        <p:nvSpPr>
          <p:cNvPr id="441" name="">
            <a:extLst xmlns:a="http://schemas.openxmlformats.org/drawingml/2006/main">
              <a:ext uri="{FF2B5EF4-FFF2-40B4-BE49-F238E27FC236}">
                <a16:creationId xmlns:a16="http://schemas.microsoft.com/office/drawing/2014/main" id="{7505A88C-463B-45E5-B4D7-9F5CECAAB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0"/>
            <a:ext cx="2781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0">
                <a:solidFill>
                  <a:srgbClr val="7B879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13" b="0">
                <a:solidFill>
                  <a:srgbClr val="7B879B"/>
                </a:solidFill>
                <a:latin typeface="Noto Sans CJK SC"/>
                <a:ea typeface="Noto Sans CJK SC"/>
                <a:cs typeface="Noto Sans CJK SC"/>
              </a:rPr>
              <a:t>证书信息核验 · 作者信息已匿名</a:t>
            </a:r>
          </a:p>
        </p:txBody>
      </p:sp>
      <p:sp>
        <p:nvSpPr>
          <p:cNvPr id="442" name="">
            <a:extLst xmlns:a="http://schemas.openxmlformats.org/drawingml/2006/main">
              <a:ext uri="{FF2B5EF4-FFF2-40B4-BE49-F238E27FC236}">
                <a16:creationId xmlns:a16="http://schemas.microsoft.com/office/drawing/2014/main" id="{1A1D95B1-80F4-4988-842A-B93A7D638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57350"/>
            <a:ext cx="3200400" cy="40767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E"/>
            </a:solidFill>
            <a:prstDash val="solid"/>
          </a:ln>
        </p:spPr>
      </p:sp>
      <p:sp>
        <p:nvSpPr>
          <p:cNvPr id="443" name="">
            <a:extLst xmlns:a="http://schemas.openxmlformats.org/drawingml/2006/main">
              <a:ext uri="{FF2B5EF4-FFF2-40B4-BE49-F238E27FC236}">
                <a16:creationId xmlns:a16="http://schemas.microsoft.com/office/drawing/2014/main" id="{9E3648DB-919F-45D6-9AF2-848D700ED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57350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B787"/>
          </a:solidFill>
          <a:ln xmlns:a="http://schemas.openxmlformats.org/drawingml/2006/main" w="0">
            <a:solidFill>
              <a:srgbClr val="24B787"/>
            </a:solidFill>
            <a:prstDash val="solid"/>
          </a:ln>
        </p:spPr>
      </p:sp>
      <p:sp>
        <p:nvSpPr>
          <p:cNvPr id="444" name="">
            <a:extLst xmlns:a="http://schemas.openxmlformats.org/drawingml/2006/main">
              <a:ext uri="{FF2B5EF4-FFF2-40B4-BE49-F238E27FC236}">
                <a16:creationId xmlns:a16="http://schemas.microsoft.com/office/drawing/2014/main" id="{D0BEE0AA-C2DE-4E86-A320-0A10B7905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800225"/>
            <a:ext cx="29146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EE"/>
            </a:solidFill>
            <a:prstDash val="solid"/>
          </a:ln>
        </p:spPr>
      </p:sp>
      <p:pic>
        <p:nvPicPr>
          <p:cNvPr id="4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738beed86a4c5c"/>
          <a:srcRect xmlns:a="http://schemas.openxmlformats.org/drawingml/2006/main" l="0" t="707" r="0" b="7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57700" y="1847850"/>
            <a:ext cx="2819400" cy="1333500"/>
          </a:xfrm>
          <a:prstGeom xmlns:a="http://schemas.openxmlformats.org/drawingml/2006/main" prst="roundRect">
            <a:avLst>
              <a:gd name="adj" fmla="val 5714"/>
            </a:avLst>
          </a:prstGeom>
        </p:spPr>
      </p:pic>
      <p:sp>
        <p:nvSpPr>
          <p:cNvPr id="446" name="">
            <a:extLst xmlns:a="http://schemas.openxmlformats.org/drawingml/2006/main">
              <a:ext uri="{FF2B5EF4-FFF2-40B4-BE49-F238E27FC236}">
                <a16:creationId xmlns:a16="http://schemas.microsoft.com/office/drawing/2014/main" id="{15E2AECC-681F-411D-856B-DCFEC5AA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90900"/>
            <a:ext cx="1428750" cy="2762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8EF"/>
          </a:solidFill>
          <a:ln xmlns:a="http://schemas.openxmlformats.org/drawingml/2006/main" w="9525">
            <a:solidFill>
              <a:srgbClr val="DDF8E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B78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24B787"/>
                </a:solidFill>
                <a:latin typeface="Noto Sans CJK SC"/>
                <a:ea typeface="Noto Sans CJK SC"/>
                <a:cs typeface="Noto Sans CJK SC"/>
              </a:rPr>
              <a:t>数据融合分析</a:t>
            </a:r>
          </a:p>
        </p:txBody>
      </p:sp>
      <p:sp>
        <p:nvSpPr>
          <p:cNvPr id="447" name="">
            <a:extLst xmlns:a="http://schemas.openxmlformats.org/drawingml/2006/main">
              <a:ext uri="{FF2B5EF4-FFF2-40B4-BE49-F238E27FC236}">
                <a16:creationId xmlns:a16="http://schemas.microsoft.com/office/drawing/2014/main" id="{DC84ACCC-AC55-42E1-ACFC-6A2597537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29050"/>
            <a:ext cx="2781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1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灵犀数据融合分析系统 V1.0</a:t>
            </a:r>
          </a:p>
        </p:txBody>
      </p:sp>
      <p:sp>
        <p:nvSpPr>
          <p:cNvPr id="448" name="">
            <a:extLst xmlns:a="http://schemas.openxmlformats.org/drawingml/2006/main">
              <a:ext uri="{FF2B5EF4-FFF2-40B4-BE49-F238E27FC236}">
                <a16:creationId xmlns:a16="http://schemas.microsoft.com/office/drawing/2014/main" id="{04F7B0E7-6798-4A37-BD0E-CCEA14430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629150"/>
            <a:ext cx="2781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1607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516078"/>
                </a:solidFill>
                <a:latin typeface="Noto Sans CJK SC"/>
                <a:ea typeface="Noto Sans CJK SC"/>
                <a:cs typeface="Noto Sans CJK SC"/>
              </a:rPr>
              <a:t>登记号：2026SR0121793</a:t>
            </a:r>
          </a:p>
        </p:txBody>
      </p:sp>
      <p:sp>
        <p:nvSpPr>
          <p:cNvPr id="449" name="">
            <a:extLst xmlns:a="http://schemas.openxmlformats.org/drawingml/2006/main">
              <a:ext uri="{FF2B5EF4-FFF2-40B4-BE49-F238E27FC236}">
                <a16:creationId xmlns:a16="http://schemas.microsoft.com/office/drawing/2014/main" id="{B7E90347-82E1-4FDB-9BF6-2215926EB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143500"/>
            <a:ext cx="2781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0">
                <a:solidFill>
                  <a:srgbClr val="7B879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13" b="0">
                <a:solidFill>
                  <a:srgbClr val="7B879B"/>
                </a:solidFill>
                <a:latin typeface="Noto Sans CJK SC"/>
                <a:ea typeface="Noto Sans CJK SC"/>
                <a:cs typeface="Noto Sans CJK SC"/>
              </a:rPr>
              <a:t>证书信息核验 · 作者信息已匿名</a:t>
            </a:r>
          </a:p>
        </p:txBody>
      </p:sp>
      <p:sp>
        <p:nvSpPr>
          <p:cNvPr id="450" name="">
            <a:extLst xmlns:a="http://schemas.openxmlformats.org/drawingml/2006/main">
              <a:ext uri="{FF2B5EF4-FFF2-40B4-BE49-F238E27FC236}">
                <a16:creationId xmlns:a16="http://schemas.microsoft.com/office/drawing/2014/main" id="{C03EB79A-8667-428D-BDCC-86B5D6C7E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57350"/>
            <a:ext cx="3200400" cy="40767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E"/>
            </a:solidFill>
            <a:prstDash val="solid"/>
          </a:ln>
        </p:spPr>
      </p:sp>
      <p:sp>
        <p:nvSpPr>
          <p:cNvPr id="451" name="">
            <a:extLst xmlns:a="http://schemas.openxmlformats.org/drawingml/2006/main">
              <a:ext uri="{FF2B5EF4-FFF2-40B4-BE49-F238E27FC236}">
                <a16:creationId xmlns:a16="http://schemas.microsoft.com/office/drawing/2014/main" id="{52F16F42-E031-41C8-8489-0CD51FC27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57350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7D6"/>
          </a:solidFill>
          <a:ln xmlns:a="http://schemas.openxmlformats.org/drawingml/2006/main" w="0">
            <a:solidFill>
              <a:srgbClr val="22C7D6"/>
            </a:solidFill>
            <a:prstDash val="solid"/>
          </a:ln>
        </p:spPr>
      </p:sp>
      <p:sp>
        <p:nvSpPr>
          <p:cNvPr id="452" name="">
            <a:extLst xmlns:a="http://schemas.openxmlformats.org/drawingml/2006/main">
              <a:ext uri="{FF2B5EF4-FFF2-40B4-BE49-F238E27FC236}">
                <a16:creationId xmlns:a16="http://schemas.microsoft.com/office/drawing/2014/main" id="{CB2551BA-4332-4C4F-9A9B-8F2BA0FD2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1800225"/>
            <a:ext cx="29146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3EE"/>
            </a:solidFill>
            <a:prstDash val="solid"/>
          </a:ln>
        </p:spPr>
      </p:sp>
      <p:pic>
        <p:nvPicPr>
          <p:cNvPr id="4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d4c867075242f8"/>
          <a:srcRect xmlns:a="http://schemas.openxmlformats.org/drawingml/2006/main" l="0" t="3310" r="0" b="33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15300" y="1847850"/>
            <a:ext cx="2819400" cy="1333500"/>
          </a:xfrm>
          <a:prstGeom xmlns:a="http://schemas.openxmlformats.org/drawingml/2006/main" prst="roundRect">
            <a:avLst>
              <a:gd name="adj" fmla="val 5714"/>
            </a:avLst>
          </a:prstGeom>
        </p:spPr>
      </p:pic>
      <p:sp>
        <p:nvSpPr>
          <p:cNvPr id="454" name="">
            <a:extLst xmlns:a="http://schemas.openxmlformats.org/drawingml/2006/main">
              <a:ext uri="{FF2B5EF4-FFF2-40B4-BE49-F238E27FC236}">
                <a16:creationId xmlns:a16="http://schemas.microsoft.com/office/drawing/2014/main" id="{F2DF4504-2DD2-4679-81BF-C31A15C5C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390900"/>
            <a:ext cx="1428750" cy="2762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FAFC"/>
          </a:solidFill>
          <a:ln xmlns:a="http://schemas.openxmlformats.org/drawingml/2006/main" w="9525">
            <a:solidFill>
              <a:srgbClr val="E5FAFC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2C7D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22C7D6"/>
                </a:solidFill>
                <a:latin typeface="Noto Sans CJK SC"/>
                <a:ea typeface="Noto Sans CJK SC"/>
                <a:cs typeface="Noto Sans CJK SC"/>
              </a:rPr>
              <a:t>安全合规管控</a:t>
            </a:r>
          </a:p>
        </p:txBody>
      </p:sp>
      <p:sp>
        <p:nvSpPr>
          <p:cNvPr id="455" name="">
            <a:extLst xmlns:a="http://schemas.openxmlformats.org/drawingml/2006/main">
              <a:ext uri="{FF2B5EF4-FFF2-40B4-BE49-F238E27FC236}">
                <a16:creationId xmlns:a16="http://schemas.microsoft.com/office/drawing/2014/main" id="{FDF50B99-76E6-49E2-9F2B-5A91E4383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829050"/>
            <a:ext cx="2781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1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跨境数据安全合规评估与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25" b="1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风险管控平台 V1.0</a:t>
            </a:r>
          </a:p>
        </p:txBody>
      </p:sp>
      <p:sp>
        <p:nvSpPr>
          <p:cNvPr id="456" name="">
            <a:extLst xmlns:a="http://schemas.openxmlformats.org/drawingml/2006/main">
              <a:ext uri="{FF2B5EF4-FFF2-40B4-BE49-F238E27FC236}">
                <a16:creationId xmlns:a16="http://schemas.microsoft.com/office/drawing/2014/main" id="{0A83CB75-FECC-41F3-9F12-1FF31123E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629150"/>
            <a:ext cx="2781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1607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516078"/>
                </a:solidFill>
                <a:latin typeface="Noto Sans CJK SC"/>
                <a:ea typeface="Noto Sans CJK SC"/>
                <a:cs typeface="Noto Sans CJK SC"/>
              </a:rPr>
              <a:t>登记号：2026SR0121773</a:t>
            </a:r>
          </a:p>
        </p:txBody>
      </p:sp>
      <p:sp>
        <p:nvSpPr>
          <p:cNvPr id="457" name="">
            <a:extLst xmlns:a="http://schemas.openxmlformats.org/drawingml/2006/main">
              <a:ext uri="{FF2B5EF4-FFF2-40B4-BE49-F238E27FC236}">
                <a16:creationId xmlns:a16="http://schemas.microsoft.com/office/drawing/2014/main" id="{03A2A10A-C78E-45FF-9C93-486EC1026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143500"/>
            <a:ext cx="2781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0">
                <a:solidFill>
                  <a:srgbClr val="7B879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13" b="0">
                <a:solidFill>
                  <a:srgbClr val="7B879B"/>
                </a:solidFill>
                <a:latin typeface="Noto Sans CJK SC"/>
                <a:ea typeface="Noto Sans CJK SC"/>
                <a:cs typeface="Noto Sans CJK SC"/>
              </a:rPr>
              <a:t>证书信息核验 · 作者信息已匿名</a:t>
            </a:r>
          </a:p>
        </p:txBody>
      </p:sp>
      <p:sp>
        <p:nvSpPr>
          <p:cNvPr id="458" name="">
            <a:extLst xmlns:a="http://schemas.openxmlformats.org/drawingml/2006/main">
              <a:ext uri="{FF2B5EF4-FFF2-40B4-BE49-F238E27FC236}">
                <a16:creationId xmlns:a16="http://schemas.microsoft.com/office/drawing/2014/main" id="{8CB148B4-7E75-4D65-9A59-36695FB3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51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0B153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0B1530"/>
                </a:solidFill>
                <a:latin typeface="Noto Sans CJK SC"/>
                <a:ea typeface="Noto Sans CJK SC"/>
                <a:cs typeface="Noto Sans CJK SC"/>
              </a:rPr>
              <a:t>从检测防御、数据分析到安全合规，形成可复用的软件资产矩阵</a:t>
            </a:r>
          </a:p>
        </p:txBody>
      </p:sp>
    </p:spTree>
    <p:extLst>
      <p:ext uri="{BB962C8B-B14F-4D97-AF65-F5344CB8AC3E}">
        <p14:creationId xmlns:p14="http://schemas.microsoft.com/office/powerpoint/2010/main" val="146842159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" name="">
            <a:extLst xmlns:a="http://schemas.openxmlformats.org/drawingml/2006/main">
              <a:ext uri="{FF2B5EF4-FFF2-40B4-BE49-F238E27FC236}">
                <a16:creationId xmlns:a16="http://schemas.microsoft.com/office/drawing/2014/main" id="{A41FEF5D-86A9-462F-A16C-59454F9E5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324000"/>
            <a:ext cx="495252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50" b="1" u="none">
                <a:solidFill>
                  <a:srgbClr val="2F6BFF"/>
                </a:solidFill>
                <a:latin typeface="Noto Sans CJK SC"/>
                <a:ea typeface="Noto Sans CJK SC"/>
                <a:cs typeface="Noto Sans CJK SC"/>
              </a:rPr>
              <a:t>06 / ACADEMIC OUTPUTS</a:t>
            </a:r>
            <a:endParaRPr sz="10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10" name="">
            <a:extLst xmlns:a="http://schemas.openxmlformats.org/drawingml/2006/main">
              <a:ext uri="{FF2B5EF4-FFF2-40B4-BE49-F238E27FC236}">
                <a16:creationId xmlns:a16="http://schemas.microsoft.com/office/drawing/2014/main" id="{AFDAE56F-444A-4A86-8A99-88E810814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647640"/>
            <a:ext cx="10667520" cy="57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3000" b="1" u="none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2 篇联邦入侵检测综述已录用，待发表</a:t>
            </a:r>
            <a:endParaRPr sz="323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11" name="">
            <a:extLst xmlns:a="http://schemas.openxmlformats.org/drawingml/2006/main">
              <a:ext uri="{FF2B5EF4-FFF2-40B4-BE49-F238E27FC236}">
                <a16:creationId xmlns:a16="http://schemas.microsoft.com/office/drawing/2014/main" id="{4ECDF286-2C1C-43CC-BB55-FA1ECA1D3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1295280"/>
            <a:ext cx="10972440" cy="9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4EE"/>
          </a:solidFill>
          <a:ln xmlns:a="http://schemas.openxmlformats.org/drawingml/2006/main" w="0">
            <a:solidFill>
              <a:srgbClr val="DDE4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8160" rIns="90000" bIns="-3816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12" name="">
            <a:extLst xmlns:a="http://schemas.openxmlformats.org/drawingml/2006/main">
              <a:ext uri="{FF2B5EF4-FFF2-40B4-BE49-F238E27FC236}">
                <a16:creationId xmlns:a16="http://schemas.microsoft.com/office/drawing/2014/main" id="{C5C5BA31-A7C9-4140-A529-DE68DE901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1285920"/>
            <a:ext cx="894960" cy="280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B787"/>
          </a:solidFill>
          <a:ln xmlns:a="http://schemas.openxmlformats.org/drawingml/2006/main" w="0">
            <a:solidFill>
              <a:srgbClr val="24B78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24840" rIns="90000" bIns="-2484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13" name="">
            <a:extLst xmlns:a="http://schemas.openxmlformats.org/drawingml/2006/main">
              <a:ext uri="{FF2B5EF4-FFF2-40B4-BE49-F238E27FC236}">
                <a16:creationId xmlns:a16="http://schemas.microsoft.com/office/drawing/2014/main" id="{58182669-914E-4D1D-AE91-948A707A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40" y="324000"/>
            <a:ext cx="47592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</a:pPr>
            <a:r>
              <a:rPr sz="1050" b="1" u="none">
                <a:solidFill>
                  <a:srgbClr val="7B879B"/>
                </a:solidFill>
                <a:latin typeface="Noto Sans CJK SC"/>
                <a:ea typeface="Noto Sans CJK SC"/>
                <a:cs typeface="Noto Sans CJK SC"/>
              </a:rPr>
              <a:t>20</a:t>
            </a:r>
            <a:endParaRPr sz="10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33" name="">
            <a:extLst xmlns:a="http://schemas.openxmlformats.org/drawingml/2006/main">
              <a:ext uri="{FF2B5EF4-FFF2-40B4-BE49-F238E27FC236}">
                <a16:creationId xmlns:a16="http://schemas.microsoft.com/office/drawing/2014/main" id="{05020ACD-75F9-486E-82DF-7D15E654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6534000"/>
            <a:ext cx="6667200" cy="17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820" b="0" u="none">
                <a:solidFill>
                  <a:srgbClr val="7B879B"/>
                </a:solidFill>
                <a:latin typeface="Noto Sans CJK SC"/>
                <a:ea typeface="Noto Sans CJK SC"/>
                <a:cs typeface="Noto Sans CJK SC"/>
              </a:rPr>
              <a:t>FedPKDA · RoboCup 2026</a:t>
            </a:r>
            <a:endParaRPr sz="82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34" name="">
            <a:extLst xmlns:a="http://schemas.openxmlformats.org/drawingml/2006/main">
              <a:ext uri="{FF2B5EF4-FFF2-40B4-BE49-F238E27FC236}">
                <a16:creationId xmlns:a16="http://schemas.microsoft.com/office/drawing/2014/main" id="{9B2CE858-AE22-4070-ABB9-1A7A11113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5334000" cy="4038600"/>
          </a:xfrm>
          <a:prstGeom xmlns:a="http://schemas.openxmlformats.org/drawingml/2006/main" prst="roundRect">
            <a:avLst>
              <a:gd name="adj" fmla="val 28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E"/>
            </a:solidFill>
            <a:prstDash val="solid"/>
          </a:ln>
        </p:spPr>
      </p:sp>
      <p:sp>
        <p:nvSpPr>
          <p:cNvPr id="435" name="">
            <a:extLst xmlns:a="http://schemas.openxmlformats.org/drawingml/2006/main">
              <a:ext uri="{FF2B5EF4-FFF2-40B4-BE49-F238E27FC236}">
                <a16:creationId xmlns:a16="http://schemas.microsoft.com/office/drawing/2014/main" id="{B7C0A652-CD96-4BDF-85F8-0FA146C93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533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2F6BFF"/>
            </a:solidFill>
            <a:prstDash val="solid"/>
          </a:ln>
        </p:spPr>
      </p:sp>
      <p:sp>
        <p:nvSpPr>
          <p:cNvPr id="436" name="">
            <a:extLst xmlns:a="http://schemas.openxmlformats.org/drawingml/2006/main">
              <a:ext uri="{FF2B5EF4-FFF2-40B4-BE49-F238E27FC236}">
                <a16:creationId xmlns:a16="http://schemas.microsoft.com/office/drawing/2014/main" id="{54911941-21BA-4341-9F2F-0ECCD3707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431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F6B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2F6BFF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437" name="">
            <a:extLst xmlns:a="http://schemas.openxmlformats.org/drawingml/2006/main">
              <a:ext uri="{FF2B5EF4-FFF2-40B4-BE49-F238E27FC236}">
                <a16:creationId xmlns:a16="http://schemas.microsoft.com/office/drawing/2014/main" id="{80134C6A-0ED0-4756-8976-09C805A63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43100"/>
            <a:ext cx="1581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EAF0F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6B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2F6BFF"/>
                </a:solidFill>
                <a:latin typeface="Noto Sans CJK SC"/>
                <a:ea typeface="Noto Sans CJK SC"/>
                <a:cs typeface="Noto Sans CJK SC"/>
              </a:rPr>
              <a:t>已录用 · 待发表</a:t>
            </a:r>
          </a:p>
        </p:txBody>
      </p:sp>
      <p:sp>
        <p:nvSpPr>
          <p:cNvPr id="438" name="">
            <a:extLst xmlns:a="http://schemas.openxmlformats.org/drawingml/2006/main">
              <a:ext uri="{FF2B5EF4-FFF2-40B4-BE49-F238E27FC236}">
                <a16:creationId xmlns:a16="http://schemas.microsoft.com/office/drawing/2014/main" id="{C4DCDC97-E88F-4F73-B2AB-9E135DD3B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390775"/>
            <a:ext cx="49720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pic>
        <p:nvPicPr>
          <p:cNvPr id="4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19870699b14e83"/>
          <a:srcRect xmlns:a="http://schemas.openxmlformats.org/drawingml/2006/main" l="0" t="8813" r="0" b="88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" y="2438400"/>
            <a:ext cx="4876800" cy="1123950"/>
          </a:xfrm>
          <a:prstGeom xmlns:a="http://schemas.openxmlformats.org/drawingml/2006/main" prst="roundRect">
            <a:avLst>
              <a:gd name="adj" fmla="val 6780"/>
            </a:avLst>
          </a:prstGeom>
        </p:spPr>
      </p:pic>
      <p:sp>
        <p:nvSpPr>
          <p:cNvPr id="440" name="">
            <a:extLst xmlns:a="http://schemas.openxmlformats.org/drawingml/2006/main">
              <a:ext uri="{FF2B5EF4-FFF2-40B4-BE49-F238E27FC236}">
                <a16:creationId xmlns:a16="http://schemas.microsoft.com/office/drawing/2014/main" id="{593FF2ED-5363-4D07-B07E-7CFE4BD46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90950"/>
            <a:ext cx="4876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97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1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A Survey on Network Intrusion Detection Based on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425" b="1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Federated Learning and Generative Adversarial Networks</a:t>
            </a:r>
          </a:p>
        </p:txBody>
      </p:sp>
      <p:sp>
        <p:nvSpPr>
          <p:cNvPr id="441" name="">
            <a:extLst xmlns:a="http://schemas.openxmlformats.org/drawingml/2006/main">
              <a:ext uri="{FF2B5EF4-FFF2-40B4-BE49-F238E27FC236}">
                <a16:creationId xmlns:a16="http://schemas.microsoft.com/office/drawing/2014/main" id="{C88F4A80-46E1-4319-A92B-ED48BE4BA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0"/>
            <a:ext cx="4876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163" b="0">
                <a:solidFill>
                  <a:srgbClr val="51607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63" b="0">
                <a:solidFill>
                  <a:srgbClr val="516078"/>
                </a:solidFill>
                <a:latin typeface="Noto Sans CJK SC"/>
                <a:ea typeface="Noto Sans CJK SC"/>
                <a:cs typeface="Noto Sans CJK SC"/>
              </a:rPr>
              <a:t>系统梳理联邦学习与生成对抗网络在网络入侵检测中的融合机制、分类框架与未来方向。</a:t>
            </a:r>
          </a:p>
        </p:txBody>
      </p:sp>
      <p:sp>
        <p:nvSpPr>
          <p:cNvPr id="442" name="">
            <a:extLst xmlns:a="http://schemas.openxmlformats.org/drawingml/2006/main">
              <a:ext uri="{FF2B5EF4-FFF2-40B4-BE49-F238E27FC236}">
                <a16:creationId xmlns:a16="http://schemas.microsoft.com/office/drawing/2014/main" id="{02841818-84F0-404C-BCED-535059289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95900"/>
            <a:ext cx="1790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F5F8"/>
          </a:solidFill>
          <a:ln xmlns:a="http://schemas.openxmlformats.org/drawingml/2006/main" w="9525">
            <a:solidFill>
              <a:srgbClr val="DDE4EE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B879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7B879B"/>
                </a:solidFill>
                <a:latin typeface="Noto Sans CJK SC"/>
                <a:ea typeface="Noto Sans CJK SC"/>
                <a:cs typeface="Noto Sans CJK SC"/>
              </a:rPr>
              <a:t>作者信息匿名化展示</a:t>
            </a:r>
          </a:p>
        </p:txBody>
      </p:sp>
      <p:sp>
        <p:nvSpPr>
          <p:cNvPr id="443" name="">
            <a:extLst xmlns:a="http://schemas.openxmlformats.org/drawingml/2006/main">
              <a:ext uri="{FF2B5EF4-FFF2-40B4-BE49-F238E27FC236}">
                <a16:creationId xmlns:a16="http://schemas.microsoft.com/office/drawing/2014/main" id="{875AF881-2D69-42ED-9D11-D802D8679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95450"/>
            <a:ext cx="5334000" cy="4038600"/>
          </a:xfrm>
          <a:prstGeom xmlns:a="http://schemas.openxmlformats.org/drawingml/2006/main" prst="roundRect">
            <a:avLst>
              <a:gd name="adj" fmla="val 28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E"/>
            </a:solidFill>
            <a:prstDash val="solid"/>
          </a:ln>
        </p:spPr>
      </p:sp>
      <p:sp>
        <p:nvSpPr>
          <p:cNvPr id="444" name="">
            <a:extLst xmlns:a="http://schemas.openxmlformats.org/drawingml/2006/main">
              <a:ext uri="{FF2B5EF4-FFF2-40B4-BE49-F238E27FC236}">
                <a16:creationId xmlns:a16="http://schemas.microsoft.com/office/drawing/2014/main" id="{8509F527-BC9C-4B82-9DB5-1545544F1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95450"/>
            <a:ext cx="533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B787"/>
          </a:solidFill>
          <a:ln xmlns:a="http://schemas.openxmlformats.org/drawingml/2006/main" w="0">
            <a:solidFill>
              <a:srgbClr val="24B787"/>
            </a:solidFill>
            <a:prstDash val="solid"/>
          </a:ln>
        </p:spPr>
      </p:sp>
      <p:sp>
        <p:nvSpPr>
          <p:cNvPr id="445" name="">
            <a:extLst xmlns:a="http://schemas.openxmlformats.org/drawingml/2006/main">
              <a:ext uri="{FF2B5EF4-FFF2-40B4-BE49-F238E27FC236}">
                <a16:creationId xmlns:a16="http://schemas.microsoft.com/office/drawing/2014/main" id="{1A43B5DD-A491-4274-ABA5-2EE3B76ED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431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4B78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24B787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446" name="">
            <a:extLst xmlns:a="http://schemas.openxmlformats.org/drawingml/2006/main">
              <a:ext uri="{FF2B5EF4-FFF2-40B4-BE49-F238E27FC236}">
                <a16:creationId xmlns:a16="http://schemas.microsoft.com/office/drawing/2014/main" id="{7AD24374-903D-4E32-AE97-68A30B270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943100"/>
            <a:ext cx="1581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8EF"/>
          </a:solidFill>
          <a:ln xmlns:a="http://schemas.openxmlformats.org/drawingml/2006/main" w="9525">
            <a:solidFill>
              <a:srgbClr val="DDF8E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4B78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24B787"/>
                </a:solidFill>
                <a:latin typeface="Noto Sans CJK SC"/>
                <a:ea typeface="Noto Sans CJK SC"/>
                <a:cs typeface="Noto Sans CJK SC"/>
              </a:rPr>
              <a:t>已录用 · 待发表</a:t>
            </a:r>
          </a:p>
        </p:txBody>
      </p:sp>
      <p:sp>
        <p:nvSpPr>
          <p:cNvPr id="447" name="">
            <a:extLst xmlns:a="http://schemas.openxmlformats.org/drawingml/2006/main">
              <a:ext uri="{FF2B5EF4-FFF2-40B4-BE49-F238E27FC236}">
                <a16:creationId xmlns:a16="http://schemas.microsoft.com/office/drawing/2014/main" id="{D4C852E2-4560-4BE4-8ED2-433C7C7A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390775"/>
            <a:ext cx="49720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pic>
        <p:nvPicPr>
          <p:cNvPr id="4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d064272074483a"/>
          <a:srcRect xmlns:a="http://schemas.openxmlformats.org/drawingml/2006/main" l="0" t="11634" r="0" b="116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0" y="2438400"/>
            <a:ext cx="4876800" cy="1123950"/>
          </a:xfrm>
          <a:prstGeom xmlns:a="http://schemas.openxmlformats.org/drawingml/2006/main" prst="roundRect">
            <a:avLst>
              <a:gd name="adj" fmla="val 6780"/>
            </a:avLst>
          </a:prstGeom>
        </p:spPr>
      </p:pic>
      <p:sp>
        <p:nvSpPr>
          <p:cNvPr id="449" name="">
            <a:extLst xmlns:a="http://schemas.openxmlformats.org/drawingml/2006/main">
              <a:ext uri="{FF2B5EF4-FFF2-40B4-BE49-F238E27FC236}">
                <a16:creationId xmlns:a16="http://schemas.microsoft.com/office/drawing/2014/main" id="{5DF219A7-2599-4879-9B7C-CE34A1E60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90950"/>
            <a:ext cx="4876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1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A Survey of Federated Intrusion Detection: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425" b="1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Methods, Attacks and Future Directions</a:t>
            </a:r>
          </a:p>
        </p:txBody>
      </p:sp>
      <p:sp>
        <p:nvSpPr>
          <p:cNvPr id="450" name="">
            <a:extLst xmlns:a="http://schemas.openxmlformats.org/drawingml/2006/main">
              <a:ext uri="{FF2B5EF4-FFF2-40B4-BE49-F238E27FC236}">
                <a16:creationId xmlns:a16="http://schemas.microsoft.com/office/drawing/2014/main" id="{9E790E0A-237E-40F0-9412-974BDDABD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72000"/>
            <a:ext cx="4876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163" b="0">
                <a:solidFill>
                  <a:srgbClr val="51607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63" b="0">
                <a:solidFill>
                  <a:srgbClr val="516078"/>
                </a:solidFill>
                <a:latin typeface="Noto Sans CJK SC"/>
                <a:ea typeface="Noto Sans CJK SC"/>
                <a:cs typeface="Noto Sans CJK SC"/>
              </a:rPr>
              <a:t>围绕联邦入侵检测的方法体系、攻击面、安全隐私权衡与未来研究方向展开系统综述。</a:t>
            </a:r>
          </a:p>
        </p:txBody>
      </p:sp>
      <p:sp>
        <p:nvSpPr>
          <p:cNvPr id="451" name="">
            <a:extLst xmlns:a="http://schemas.openxmlformats.org/drawingml/2006/main">
              <a:ext uri="{FF2B5EF4-FFF2-40B4-BE49-F238E27FC236}">
                <a16:creationId xmlns:a16="http://schemas.microsoft.com/office/drawing/2014/main" id="{CD3CD662-08B0-4210-956A-FCC8BCB9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295900"/>
            <a:ext cx="1790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F5F8"/>
          </a:solidFill>
          <a:ln xmlns:a="http://schemas.openxmlformats.org/drawingml/2006/main" w="9525">
            <a:solidFill>
              <a:srgbClr val="DDE4EE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B879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7B879B"/>
                </a:solidFill>
                <a:latin typeface="Noto Sans CJK SC"/>
                <a:ea typeface="Noto Sans CJK SC"/>
                <a:cs typeface="Noto Sans CJK SC"/>
              </a:rPr>
              <a:t>作者信息匿名化展示</a:t>
            </a:r>
          </a:p>
        </p:txBody>
      </p:sp>
      <p:sp>
        <p:nvSpPr>
          <p:cNvPr id="452" name="">
            <a:extLst xmlns:a="http://schemas.openxmlformats.org/drawingml/2006/main">
              <a:ext uri="{FF2B5EF4-FFF2-40B4-BE49-F238E27FC236}">
                <a16:creationId xmlns:a16="http://schemas.microsoft.com/office/drawing/2014/main" id="{66B6A626-3925-4E86-9DE9-F37EE03E0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0B153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0B1530"/>
                </a:solidFill>
                <a:latin typeface="Noto Sans CJK SC"/>
                <a:ea typeface="Noto Sans CJK SC"/>
                <a:cs typeface="Noto Sans CJK SC"/>
              </a:rPr>
              <a:t>两篇成果均已录用、尚未正式发表；本页不展示作者、单位、邮箱等身份信息</a:t>
            </a:r>
          </a:p>
        </p:txBody>
      </p:sp>
    </p:spTree>
    <p:extLst>
      <p:ext uri="{BB962C8B-B14F-4D97-AF65-F5344CB8AC3E}">
        <p14:creationId xmlns:p14="http://schemas.microsoft.com/office/powerpoint/2010/main" val="146842159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" name="">
            <a:extLst xmlns:a="http://schemas.openxmlformats.org/drawingml/2006/main">
              <a:ext uri="{FF2B5EF4-FFF2-40B4-BE49-F238E27FC236}">
                <a16:creationId xmlns:a16="http://schemas.microsoft.com/office/drawing/2014/main" id="{A41FEF5D-86A9-462F-A16C-59454F9E5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324000"/>
            <a:ext cx="495252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050" b="1" u="none">
                <a:solidFill>
                  <a:srgbClr val="2F6BFF"/>
                </a:solidFill>
                <a:latin typeface="Noto Sans CJK SC"/>
                <a:ea typeface="Noto Sans CJK SC"/>
                <a:cs typeface="Noto Sans CJK SC"/>
              </a:rPr>
              <a:t>06 / TAKEAWAY</a:t>
            </a:r>
            <a:endParaRPr sz="10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10" name="">
            <a:extLst xmlns:a="http://schemas.openxmlformats.org/drawingml/2006/main">
              <a:ext uri="{FF2B5EF4-FFF2-40B4-BE49-F238E27FC236}">
                <a16:creationId xmlns:a16="http://schemas.microsoft.com/office/drawing/2014/main" id="{AFDAE56F-444A-4A86-8A99-88E810814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647640"/>
            <a:ext cx="10667520" cy="57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2700" b="1" u="none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FedPKDA：学术成果、实验验证与系统落地形成完整证据链</a:t>
            </a:r>
            <a:endParaRPr sz="323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11" name="">
            <a:extLst xmlns:a="http://schemas.openxmlformats.org/drawingml/2006/main">
              <a:ext uri="{FF2B5EF4-FFF2-40B4-BE49-F238E27FC236}">
                <a16:creationId xmlns:a16="http://schemas.microsoft.com/office/drawing/2014/main" id="{4ECDF286-2C1C-43CC-BB55-FA1ECA1D3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1295280"/>
            <a:ext cx="10972440" cy="9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4EE"/>
          </a:solidFill>
          <a:ln xmlns:a="http://schemas.openxmlformats.org/drawingml/2006/main" w="0">
            <a:solidFill>
              <a:srgbClr val="DDE4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8160" rIns="90000" bIns="-3816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12" name="">
            <a:extLst xmlns:a="http://schemas.openxmlformats.org/drawingml/2006/main">
              <a:ext uri="{FF2B5EF4-FFF2-40B4-BE49-F238E27FC236}">
                <a16:creationId xmlns:a16="http://schemas.microsoft.com/office/drawing/2014/main" id="{C5C5BA31-A7C9-4140-A529-DE68DE901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1285920"/>
            <a:ext cx="894960" cy="280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2F6BFF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24840" rIns="90000" bIns="-2484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13" name="">
            <a:extLst xmlns:a="http://schemas.openxmlformats.org/drawingml/2006/main">
              <a:ext uri="{FF2B5EF4-FFF2-40B4-BE49-F238E27FC236}">
                <a16:creationId xmlns:a16="http://schemas.microsoft.com/office/drawing/2014/main" id="{58182669-914E-4D1D-AE91-948A707A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40" y="324000"/>
            <a:ext cx="47592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</a:pPr>
            <a:r>
              <a:rPr sz="1050" b="1" u="none">
                <a:solidFill>
                  <a:srgbClr val="7B879B"/>
                </a:solidFill>
                <a:latin typeface="Noto Sans CJK SC"/>
                <a:ea typeface="Noto Sans CJK SC"/>
                <a:cs typeface="Noto Sans CJK SC"/>
              </a:rPr>
              <a:t>21</a:t>
            </a:r>
            <a:endParaRPr sz="10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14" name="">
            <a:extLst xmlns:a="http://schemas.openxmlformats.org/drawingml/2006/main">
              <a:ext uri="{FF2B5EF4-FFF2-40B4-BE49-F238E27FC236}">
                <a16:creationId xmlns:a16="http://schemas.microsoft.com/office/drawing/2014/main" id="{6AED01EF-9B1A-4F49-B426-149DEF0E3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1809720"/>
            <a:ext cx="3200040" cy="276192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360">
            <a:solidFill>
              <a:srgbClr val="DDE4EE"/>
            </a:solidFill>
          </a:ln>
          <a:effectLst xmlns:a="http://schemas.openxmlformats.org/drawingml/2006/main">
            <a:outerShdw blurRad="19080" dist="9360" dir="5400000" rotWithShape="0">
              <a:srgbClr val="000000">
                <a:alpha val="6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15" name="">
            <a:extLst xmlns:a="http://schemas.openxmlformats.org/drawingml/2006/main">
              <a:ext uri="{FF2B5EF4-FFF2-40B4-BE49-F238E27FC236}">
                <a16:creationId xmlns:a16="http://schemas.microsoft.com/office/drawing/2014/main" id="{C2020667-A1B8-4537-BB1B-54FBF991D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1809720"/>
            <a:ext cx="3200040" cy="568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2F6BFF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680" rIns="90000" bIns="-468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16" name="">
            <a:extLst xmlns:a="http://schemas.openxmlformats.org/drawingml/2006/main">
              <a:ext uri="{FF2B5EF4-FFF2-40B4-BE49-F238E27FC236}">
                <a16:creationId xmlns:a16="http://schemas.microsoft.com/office/drawing/2014/main" id="{830237DD-074A-4545-8C57-6C695A136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240" y="2133720"/>
            <a:ext cx="114264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200" b="1" u="none">
                <a:solidFill>
                  <a:srgbClr val="2F6BFF"/>
                </a:solidFill>
                <a:latin typeface="Noto Sans CJK SC"/>
                <a:ea typeface="Noto Sans CJK SC"/>
                <a:cs typeface="Noto Sans CJK SC"/>
              </a:rPr>
              <a:t>学术成果</a:t>
            </a:r>
            <a:endParaRPr sz="12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17" name="">
            <a:extLst xmlns:a="http://schemas.openxmlformats.org/drawingml/2006/main">
              <a:ext uri="{FF2B5EF4-FFF2-40B4-BE49-F238E27FC236}">
                <a16:creationId xmlns:a16="http://schemas.microsoft.com/office/drawing/2014/main" id="{06EF95F5-86EF-4F9A-B797-A83CC10F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240" y="2571840"/>
            <a:ext cx="2666520" cy="49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2550" b="1" u="none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1 + 2 + 3</a:t>
            </a:r>
            <a:endParaRPr sz="25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18" name="">
            <a:extLst xmlns:a="http://schemas.openxmlformats.org/drawingml/2006/main">
              <a:ext uri="{FF2B5EF4-FFF2-40B4-BE49-F238E27FC236}">
                <a16:creationId xmlns:a16="http://schemas.microsoft.com/office/drawing/2014/main" id="{FD0FC742-D72D-4ABC-832B-522B77689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240" y="3333600"/>
            <a:ext cx="2666520" cy="780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8000"/>
              </a:lnSpc>
              <a:buNone/>
            </a:pPr>
            <a:r>
              <a:rPr sz="1275" b="0" u="none">
                <a:solidFill>
                  <a:srgbClr val="516078"/>
                </a:solidFill>
                <a:latin typeface="Noto Sans CJK SC"/>
                <a:ea typeface="Noto Sans CJK SC"/>
                <a:cs typeface="Noto Sans CJK SC"/>
              </a:rPr>
              <a:t>1 篇 AAAI 2026 正式发表</a:t>
            </a:r>
            <a:endParaRPr sz="15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  <a:p xmlns:a="http://schemas.openxmlformats.org/drawingml/2006/main">
            <a:pPr>
              <a:lnSpc>
                <a:spcPct val="128000"/>
              </a:lnSpc>
              <a:buNone/>
            </a:pPr>
            <a:r>
              <a:rPr sz="1275" b="0" u="none">
                <a:solidFill>
                  <a:srgbClr val="516078"/>
                </a:solidFill>
                <a:latin typeface="Noto Sans CJK SC"/>
                <a:ea typeface="Noto Sans CJK SC"/>
                <a:cs typeface="Noto Sans CJK SC"/>
              </a:rPr>
              <a:t>2 篇已录用待发表｜3 项软件著作权</a:t>
            </a:r>
            <a:endParaRPr sz="15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19" name="">
            <a:extLst xmlns:a="http://schemas.openxmlformats.org/drawingml/2006/main">
              <a:ext uri="{FF2B5EF4-FFF2-40B4-BE49-F238E27FC236}">
                <a16:creationId xmlns:a16="http://schemas.microsoft.com/office/drawing/2014/main" id="{52ADA056-BE23-47F6-9359-199D75EFD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080" y="1809720"/>
            <a:ext cx="3200040" cy="276192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360">
            <a:solidFill>
              <a:srgbClr val="DDE4EE"/>
            </a:solidFill>
          </a:ln>
          <a:effectLst xmlns:a="http://schemas.openxmlformats.org/drawingml/2006/main">
            <a:outerShdw blurRad="19080" dist="9360" dir="5400000" rotWithShape="0">
              <a:srgbClr val="000000">
                <a:alpha val="6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20" name="">
            <a:extLst xmlns:a="http://schemas.openxmlformats.org/drawingml/2006/main">
              <a:ext uri="{FF2B5EF4-FFF2-40B4-BE49-F238E27FC236}">
                <a16:creationId xmlns:a16="http://schemas.microsoft.com/office/drawing/2014/main" id="{0733B90C-3B19-4B99-9B4C-E0D77DA02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080" y="1809720"/>
            <a:ext cx="3200040" cy="568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B787"/>
          </a:solidFill>
          <a:ln xmlns:a="http://schemas.openxmlformats.org/drawingml/2006/main" w="0">
            <a:solidFill>
              <a:srgbClr val="24B78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680" rIns="90000" bIns="-468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21" name="">
            <a:extLst xmlns:a="http://schemas.openxmlformats.org/drawingml/2006/main">
              <a:ext uri="{FF2B5EF4-FFF2-40B4-BE49-F238E27FC236}">
                <a16:creationId xmlns:a16="http://schemas.microsoft.com/office/drawing/2014/main" id="{9C37AE3F-FA59-4BA6-8B41-1445FE9DC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840" y="2133720"/>
            <a:ext cx="114264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200" b="1" u="none">
                <a:solidFill>
                  <a:srgbClr val="24B787"/>
                </a:solidFill>
                <a:latin typeface="Noto Sans CJK SC"/>
                <a:ea typeface="Noto Sans CJK SC"/>
                <a:cs typeface="Noto Sans CJK SC"/>
              </a:rPr>
              <a:t>性能验证</a:t>
            </a:r>
            <a:endParaRPr sz="12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22" name="">
            <a:extLst xmlns:a="http://schemas.openxmlformats.org/drawingml/2006/main">
              <a:ext uri="{FF2B5EF4-FFF2-40B4-BE49-F238E27FC236}">
                <a16:creationId xmlns:a16="http://schemas.microsoft.com/office/drawing/2014/main" id="{E3443537-E4E2-489B-AEBB-E9D0F446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840" y="2571840"/>
            <a:ext cx="2666520" cy="49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 fontScale="100000" lnSpcReduction="999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2550" b="1" u="none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3 数据集 · 15 组</a:t>
            </a:r>
            <a:endParaRPr sz="25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23" name="">
            <a:extLst xmlns:a="http://schemas.openxmlformats.org/drawingml/2006/main">
              <a:ext uri="{FF2B5EF4-FFF2-40B4-BE49-F238E27FC236}">
                <a16:creationId xmlns:a16="http://schemas.microsoft.com/office/drawing/2014/main" id="{5B310912-F5C9-4E91-8ED6-4184471F4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840" y="3333600"/>
            <a:ext cx="2666520" cy="780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</a:pPr>
            <a:r>
              <a:rPr sz="1500" b="0" u="none">
                <a:solidFill>
                  <a:srgbClr val="516078"/>
                </a:solidFill>
                <a:latin typeface="Noto Sans CJK SC"/>
                <a:ea typeface="Noto Sans CJK SC"/>
                <a:cs typeface="Noto Sans CJK SC"/>
              </a:rPr>
              <a:t>异构场景 +6.50~17.42pp</a:t>
            </a:r>
            <a:endParaRPr sz="15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  <a:p xmlns:a="http://schemas.openxmlformats.org/drawingml/2006/main">
            <a:pPr>
              <a:lnSpc>
                <a:spcPct val="135000"/>
              </a:lnSpc>
              <a:buNone/>
            </a:pPr>
            <a:r>
              <a:rPr sz="1500" b="0" u="none">
                <a:solidFill>
                  <a:srgbClr val="516078"/>
                </a:solidFill>
                <a:latin typeface="Noto Sans CJK SC"/>
                <a:ea typeface="Noto Sans CJK SC"/>
                <a:cs typeface="Noto Sans CJK SC"/>
              </a:rPr>
              <a:t>NSL-KDD 稀疏参与稳定</a:t>
            </a:r>
            <a:endParaRPr sz="15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24" name="">
            <a:extLst xmlns:a="http://schemas.openxmlformats.org/drawingml/2006/main">
              <a:ext uri="{FF2B5EF4-FFF2-40B4-BE49-F238E27FC236}">
                <a16:creationId xmlns:a16="http://schemas.microsoft.com/office/drawing/2014/main" id="{22663874-6A81-4983-96B9-9C029DF3E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680" y="1809720"/>
            <a:ext cx="3200040" cy="276192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360">
            <a:solidFill>
              <a:srgbClr val="DDE4EE"/>
            </a:solidFill>
          </a:ln>
          <a:effectLst xmlns:a="http://schemas.openxmlformats.org/drawingml/2006/main">
            <a:outerShdw blurRad="19080" dist="9360" dir="5400000" rotWithShape="0">
              <a:srgbClr val="000000">
                <a:alpha val="6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25" name="">
            <a:extLst xmlns:a="http://schemas.openxmlformats.org/drawingml/2006/main">
              <a:ext uri="{FF2B5EF4-FFF2-40B4-BE49-F238E27FC236}">
                <a16:creationId xmlns:a16="http://schemas.microsoft.com/office/drawing/2014/main" id="{A84DC5F9-12A7-45AB-A5FA-441D1A1E9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680" y="1809720"/>
            <a:ext cx="3200040" cy="568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7D6"/>
          </a:solidFill>
          <a:ln xmlns:a="http://schemas.openxmlformats.org/drawingml/2006/main" w="0">
            <a:solidFill>
              <a:srgbClr val="22C7D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680" rIns="90000" bIns="-468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26" name="">
            <a:extLst xmlns:a="http://schemas.openxmlformats.org/drawingml/2006/main">
              <a:ext uri="{FF2B5EF4-FFF2-40B4-BE49-F238E27FC236}">
                <a16:creationId xmlns:a16="http://schemas.microsoft.com/office/drawing/2014/main" id="{D0AF4643-64D4-419B-8B33-9F579843E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440" y="2133720"/>
            <a:ext cx="114264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1200" b="1" u="none">
                <a:solidFill>
                  <a:srgbClr val="22C7D6"/>
                </a:solidFill>
                <a:latin typeface="Noto Sans CJK SC"/>
                <a:ea typeface="Noto Sans CJK SC"/>
                <a:cs typeface="Noto Sans CJK SC"/>
              </a:rPr>
              <a:t>系统落地</a:t>
            </a:r>
            <a:endParaRPr sz="12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27" name="">
            <a:extLst xmlns:a="http://schemas.openxmlformats.org/drawingml/2006/main">
              <a:ext uri="{FF2B5EF4-FFF2-40B4-BE49-F238E27FC236}">
                <a16:creationId xmlns:a16="http://schemas.microsoft.com/office/drawing/2014/main" id="{1FAEAC35-705B-4688-AFB5-CF2C0CD7C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440" y="2571840"/>
            <a:ext cx="2666520" cy="49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2550" b="1" u="none">
                <a:solidFill>
                  <a:srgbClr val="17213A"/>
                </a:solidFill>
                <a:latin typeface="Noto Sans CJK SC"/>
                <a:ea typeface="Noto Sans CJK SC"/>
                <a:cs typeface="Noto Sans CJK SC"/>
              </a:rPr>
              <a:t>7 页 · 21 接口</a:t>
            </a:r>
            <a:endParaRPr sz="25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28" name="">
            <a:extLst xmlns:a="http://schemas.openxmlformats.org/drawingml/2006/main">
              <a:ext uri="{FF2B5EF4-FFF2-40B4-BE49-F238E27FC236}">
                <a16:creationId xmlns:a16="http://schemas.microsoft.com/office/drawing/2014/main" id="{394C1E7C-3A4C-4683-9FCF-10EE55278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440" y="3333600"/>
            <a:ext cx="2666520" cy="780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</a:pPr>
            <a:r>
              <a:rPr sz="1500" b="0" u="none">
                <a:solidFill>
                  <a:srgbClr val="516078"/>
                </a:solidFill>
                <a:latin typeface="Noto Sans CJK SC"/>
                <a:ea typeface="Noto Sans CJK SC"/>
                <a:cs typeface="Noto Sans CJK SC"/>
              </a:rPr>
              <a:t>双角色分权架构</a:t>
            </a:r>
            <a:endParaRPr sz="15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  <a:p xmlns:a="http://schemas.openxmlformats.org/drawingml/2006/main">
            <a:pPr>
              <a:lnSpc>
                <a:spcPct val="135000"/>
              </a:lnSpc>
              <a:buNone/>
            </a:pPr>
            <a:r>
              <a:rPr sz="1500" b="0" u="none">
                <a:solidFill>
                  <a:srgbClr val="516078"/>
                </a:solidFill>
                <a:latin typeface="Noto Sans CJK SC"/>
                <a:ea typeface="Noto Sans CJK SC"/>
                <a:cs typeface="Noto Sans CJK SC"/>
              </a:rPr>
              <a:t>控制面与数据面分离</a:t>
            </a:r>
            <a:endParaRPr sz="15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29" name="">
            <a:extLst xmlns:a="http://schemas.openxmlformats.org/drawingml/2006/main">
              <a:ext uri="{FF2B5EF4-FFF2-40B4-BE49-F238E27FC236}">
                <a16:creationId xmlns:a16="http://schemas.microsoft.com/office/drawing/2014/main" id="{62E59666-4651-42A0-9DDB-850B83CEB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5010120"/>
            <a:ext cx="10515240" cy="99036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B1530"/>
          </a:solidFill>
          <a:ln xmlns:a="http://schemas.openxmlformats.org/drawingml/2006/main" w="9360">
            <a:solidFill>
              <a:srgbClr val="0B1530"/>
            </a:solidFill>
          </a:ln>
          <a:effectLst xmlns:a="http://schemas.openxmlformats.org/drawingml/2006/main">
            <a:outerShdw blurRad="57240" dist="19080" dir="5400000" rotWithShape="0">
              <a:srgbClr val="000000">
                <a:alpha val="10000"/>
              </a:srgb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30" name="">
            <a:extLst xmlns:a="http://schemas.openxmlformats.org/drawingml/2006/main">
              <a:ext uri="{FF2B5EF4-FFF2-40B4-BE49-F238E27FC236}">
                <a16:creationId xmlns:a16="http://schemas.microsoft.com/office/drawing/2014/main" id="{7BEE2A68-9A31-47D9-8361-3C5C06B1E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640"/>
            <a:ext cx="9905760" cy="55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</a:pPr>
            <a:r>
              <a:rPr sz="3150" b="1" u="none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数据不出域，知识可共享</a:t>
            </a:r>
            <a:endParaRPr sz="315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31" name="">
            <a:extLst xmlns:a="http://schemas.openxmlformats.org/drawingml/2006/main">
              <a:ext uri="{FF2B5EF4-FFF2-40B4-BE49-F238E27FC236}">
                <a16:creationId xmlns:a16="http://schemas.microsoft.com/office/drawing/2014/main" id="{76E03589-ABF9-4ACF-85E1-D1CA323A1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60" y="5010120"/>
            <a:ext cx="342720" cy="99036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2C7D6"/>
          </a:solidFill>
          <a:ln xmlns:a="http://schemas.openxmlformats.org/drawingml/2006/main" w="0">
            <a:solidFill>
              <a:srgbClr val="22C7D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32" name="">
            <a:extLst xmlns:a="http://schemas.openxmlformats.org/drawingml/2006/main">
              <a:ext uri="{FF2B5EF4-FFF2-40B4-BE49-F238E27FC236}">
                <a16:creationId xmlns:a16="http://schemas.microsoft.com/office/drawing/2014/main" id="{5912C43D-EE05-4035-8899-78AA7080E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6114960"/>
            <a:ext cx="1051524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</a:pPr>
            <a:r>
              <a:rPr sz="1500" b="1" u="none">
                <a:solidFill>
                  <a:srgbClr val="2F6BFF"/>
                </a:solidFill>
                <a:latin typeface="Noto Sans CJK SC"/>
                <a:ea typeface="Noto Sans CJK SC"/>
                <a:cs typeface="Noto Sans CJK SC"/>
              </a:rPr>
              <a:t>让信任从身份承诺，变成技术事实。</a:t>
            </a:r>
            <a:endParaRPr sz="15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33" name="">
            <a:extLst xmlns:a="http://schemas.openxmlformats.org/drawingml/2006/main">
              <a:ext uri="{FF2B5EF4-FFF2-40B4-BE49-F238E27FC236}">
                <a16:creationId xmlns:a16="http://schemas.microsoft.com/office/drawing/2014/main" id="{05020ACD-75F9-486E-82DF-7D15E654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6534000"/>
            <a:ext cx="6667200" cy="17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820" b="0" u="none">
                <a:solidFill>
                  <a:srgbClr val="7B879B"/>
                </a:solidFill>
                <a:latin typeface="Noto Sans CJK SC"/>
                <a:ea typeface="Noto Sans CJK SC"/>
                <a:cs typeface="Noto Sans CJK SC"/>
              </a:rPr>
              <a:t>FedPKDA · RoboCup 2026</a:t>
            </a:r>
            <a:endParaRPr sz="82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146842159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B15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d21a7ca4774bf7"/>
          <a:srcRect xmlns:a="http://schemas.openxmlformats.org/drawingml/2006/main" l="29901" t="0" r="29901" b="0"/>
          <a:stretch xmlns:a="http://schemas.openxmlformats.org/drawingml/2006/main"/>
        </p:blipFill>
        <p:spPr>
          <a:xfrm xmlns:a="http://schemas.openxmlformats.org/drawingml/2006/main">
            <a:off x="7238880" y="0"/>
            <a:ext cx="4952520" cy="68576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435" name="">
            <a:extLst xmlns:a="http://schemas.openxmlformats.org/drawingml/2006/main">
              <a:ext uri="{FF2B5EF4-FFF2-40B4-BE49-F238E27FC236}">
                <a16:creationId xmlns:a16="http://schemas.microsoft.com/office/drawing/2014/main" id="{FA45BD6E-15E8-4F53-8AB7-68036C06B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120" y="0"/>
            <a:ext cx="1523520" cy="6857640"/>
          </a:xfrm>
          <a:prstGeom xmlns:a="http://schemas.openxmlformats.org/drawingml/2006/main" prst="roundRect">
            <a:avLst>
              <a:gd name="adj" fmla="val 7500"/>
            </a:avLst>
          </a:prstGeom>
          <a:gradFill xmlns:a="http://schemas.openxmlformats.org/drawingml/2006/main" rotWithShape="0">
            <a:gsLst>
              <a:gs pos="0">
                <a:srgbClr val="0B1530"/>
              </a:gs>
              <a:gs pos="100000">
                <a:srgbClr val="0B1530">
                  <a:alpha val="0"/>
                </a:srgbClr>
              </a:gs>
            </a:gsLst>
            <a:lin ang="5400000"/>
          </a:gra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36" name="">
            <a:extLst xmlns:a="http://schemas.openxmlformats.org/drawingml/2006/main">
              <a:ext uri="{FF2B5EF4-FFF2-40B4-BE49-F238E27FC236}">
                <a16:creationId xmlns:a16="http://schemas.microsoft.com/office/drawing/2014/main" id="{0FE713E0-2809-401A-A5C5-919D7EE95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240"/>
            <a:ext cx="4952520" cy="799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 lnSpcReduction="999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5250" b="1" u="none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谢谢</a:t>
            </a:r>
            <a:endParaRPr sz="5250" b="0" u="none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37" name="">
            <a:extLst xmlns:a="http://schemas.openxmlformats.org/drawingml/2006/main">
              <a:ext uri="{FF2B5EF4-FFF2-40B4-BE49-F238E27FC236}">
                <a16:creationId xmlns:a16="http://schemas.microsoft.com/office/drawing/2014/main" id="{5625CDE6-6DDB-464B-B22F-4A30083BF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800"/>
            <a:ext cx="3047760" cy="514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</a:pPr>
            <a:r>
              <a:rPr sz="2550" b="1" u="none">
                <a:solidFill>
                  <a:srgbClr val="22C7D6"/>
                </a:solidFill>
                <a:latin typeface="Noto Sans CJK SC"/>
                <a:ea typeface="Noto Sans CJK SC"/>
                <a:cs typeface="Noto Sans CJK SC"/>
              </a:rPr>
              <a:t>Q &amp; A</a:t>
            </a:r>
            <a:endParaRPr sz="2550" b="0" u="none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38" name="">
            <a:extLst xmlns:a="http://schemas.openxmlformats.org/drawingml/2006/main">
              <a:ext uri="{FF2B5EF4-FFF2-40B4-BE49-F238E27FC236}">
                <a16:creationId xmlns:a16="http://schemas.microsoft.com/office/drawing/2014/main" id="{873DE267-6826-4A59-8E78-C8F6C6AD6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280"/>
            <a:ext cx="1199880" cy="37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2F6BFF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18000" rIns="90000" bIns="-18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39" name="">
            <a:extLst xmlns:a="http://schemas.openxmlformats.org/drawingml/2006/main">
              <a:ext uri="{FF2B5EF4-FFF2-40B4-BE49-F238E27FC236}">
                <a16:creationId xmlns:a16="http://schemas.microsoft.com/office/drawing/2014/main" id="{7898A49D-74FB-42DF-BD1F-375C85251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240"/>
            <a:ext cx="4952520" cy="1009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1" u="none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让信任从身份承诺，</a:t>
            </a:r>
            <a:endParaRPr sz="2400" b="0" u="none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1" u="none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变成技术事实。</a:t>
            </a:r>
            <a:endParaRPr sz="2400" b="0" u="none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40" name="">
            <a:extLst xmlns:a="http://schemas.openxmlformats.org/drawingml/2006/main">
              <a:ext uri="{FF2B5EF4-FFF2-40B4-BE49-F238E27FC236}">
                <a16:creationId xmlns:a16="http://schemas.microsoft.com/office/drawing/2014/main" id="{0955BBA8-904C-426E-B6D0-0917CE46B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5333760" cy="64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</a:pPr>
            <a:r>
              <a:rPr sz="1350" b="0" u="none">
                <a:solidFill>
                  <a:srgbClr val="9FB0CF"/>
                </a:solidFill>
                <a:latin typeface="Noto Sans CJK SC"/>
                <a:ea typeface="Noto Sans CJK SC"/>
                <a:cs typeface="Noto Sans CJK SC"/>
              </a:rPr>
              <a:t>作品：</a:t>
            </a:r>
            <a:r>
              <a:rPr sz="1350" b="0" u="none">
                <a:solidFill>
                  <a:srgbClr val="9FB0CF"/>
                </a:solidFill>
                <a:latin typeface="Noto Sans CJK SC"/>
                <a:ea typeface="Noto Sans CJK SC"/>
                <a:cs typeface="Noto Sans CJK SC"/>
              </a:rPr>
              <a:t>FedPKDA </a:t>
            </a:r>
            <a:r>
              <a:rPr sz="1350" b="0" u="none">
                <a:solidFill>
                  <a:srgbClr val="9FB0CF"/>
                </a:solidFill>
                <a:latin typeface="Noto Sans CJK SC"/>
                <a:ea typeface="Noto Sans CJK SC"/>
                <a:cs typeface="Noto Sans CJK SC"/>
              </a:rPr>
              <a:t>联邦入侵检测协作平台</a:t>
            </a:r>
            <a:endParaRPr sz="1350" b="0" u="none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  <a:p xmlns:a="http://schemas.openxmlformats.org/drawingml/2006/main">
            <a:pPr>
              <a:lnSpc>
                <a:spcPct val="135000"/>
              </a:lnSpc>
              <a:buNone/>
            </a:pPr>
            <a:r>
              <a:rPr sz="1350" b="0" u="none">
                <a:solidFill>
                  <a:srgbClr val="9FB0CF"/>
                </a:solidFill>
                <a:latin typeface="Noto Sans CJK SC"/>
                <a:ea typeface="Noto Sans CJK SC"/>
                <a:cs typeface="Noto Sans CJK SC"/>
              </a:rPr>
              <a:t>队伍：</a:t>
            </a:r>
            <a:r>
              <a:rPr sz="1350" b="0" u="none">
                <a:solidFill>
                  <a:srgbClr val="9FB0CF"/>
                </a:solidFill>
                <a:latin typeface="Noto Sans CJK SC"/>
                <a:ea typeface="Noto Sans CJK SC"/>
                <a:cs typeface="Noto Sans CJK SC"/>
              </a:rPr>
              <a:t>__________    </a:t>
            </a:r>
            <a:r>
              <a:rPr sz="1350" b="0" u="none">
                <a:solidFill>
                  <a:srgbClr val="9FB0CF"/>
                </a:solidFill>
                <a:latin typeface="Noto Sans CJK SC"/>
                <a:ea typeface="Noto Sans CJK SC"/>
                <a:cs typeface="Noto Sans CJK SC"/>
              </a:rPr>
              <a:t>学校：</a:t>
            </a:r>
            <a:r>
              <a:rPr sz="1350" b="0" u="none">
                <a:solidFill>
                  <a:srgbClr val="9FB0CF"/>
                </a:solidFill>
                <a:latin typeface="Noto Sans CJK SC"/>
                <a:ea typeface="Noto Sans CJK SC"/>
                <a:cs typeface="Noto Sans CJK SC"/>
              </a:rPr>
              <a:t>__________</a:t>
            </a:r>
            <a:endParaRPr sz="1350" b="0" u="none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10841556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ChatGP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2026-08-12T05:48:22.1830000Z</dcterms:created>
  <dcterms:modified xsi:type="dcterms:W3CDTF">2026-08-12T05:48:22.1840000Z</dcterms:modified>
</coreProperties>
</file>