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φ(t)</c:v>
                </c:pt>
              </c:strCache>
            </c:strRef>
          </c:tx>
          <c:spPr>
            <a:solidFill>
              <a:srgbClr val="2F6BFF"/>
            </a:solidFill>
            <a:ln w="38160">
              <a:solidFill>
                <a:srgbClr val="2F6BFF"/>
              </a:solidFill>
              <a:round/>
            </a:ln>
          </c:spPr>
          <c:marker>
            <c:symbol val="none"/>
          </c:marker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DejaVu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3816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1"/>
                <c:pt idx="0">
                  <c:v>0.03</c:v>
                </c:pt>
                <c:pt idx="1">
                  <c:v>0.05</c:v>
                </c:pt>
                <c:pt idx="2">
                  <c:v>0.09</c:v>
                </c:pt>
                <c:pt idx="3">
                  <c:v>0.16</c:v>
                </c:pt>
                <c:pt idx="4">
                  <c:v>0.29</c:v>
                </c:pt>
                <c:pt idx="5">
                  <c:v>0.5</c:v>
                </c:pt>
                <c:pt idx="6">
                  <c:v>0.71</c:v>
                </c:pt>
                <c:pt idx="7">
                  <c:v>0.84</c:v>
                </c:pt>
                <c:pt idx="8">
                  <c:v>0.91</c:v>
                </c:pt>
                <c:pt idx="9">
                  <c:v>0.95</c:v>
                </c:pt>
                <c:pt idx="10">
                  <c:v>0.97</c:v>
                </c:pt>
              </c:numCache>
            </c:numRef>
          </c:val>
          <c:smooth val="1"/>
        </c:ser>
        <c:hiLowLines>
          <c:spPr>
            <a:ln w="0">
              <a:noFill/>
            </a:ln>
          </c:spPr>
        </c:hiLowLines>
        <c:marker val="0"/>
        <c:axId val="73150857"/>
        <c:axId val="33080380"/>
      </c:lineChart>
      <c:catAx>
        <c:axId val="73150857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DejaVu Sans"/>
                  </a:defRPr>
                </a:pPr>
                <a:r>
                  <a:rPr sz="1125" b="1" u="none" strike="noStrike">
                    <a:solidFill>
                      <a:srgbClr val="516078"/>
                    </a:solidFill>
                    <a:uFillTx/>
                    <a:latin typeface="Calibri"/>
                    <a:ea typeface="Calibri"/>
                  </a:rPr>
                  <a:t>训练轮次 t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none"/>
        <c:minorTickMark val="none"/>
        <c:tickLblPos val="nextTo"/>
        <c:spPr>
          <a:ln w="9360">
            <a:solidFill>
              <a:srgbClr val="DDE4EE"/>
            </a:solidFill>
            <a:round/>
          </a:ln>
        </c:spPr>
        <c:txPr>
          <a:bodyPr/>
          <a:lstStyle/>
          <a:p>
            <a:pPr>
              <a:defRPr sz="975" b="0" u="none" strike="noStrike">
                <a:solidFill>
                  <a:srgbClr val="7B879B"/>
                </a:solidFill>
                <a:uFillTx/>
                <a:latin typeface="Calibri"/>
                <a:ea typeface="Calibri"/>
              </a:defRPr>
            </a:pPr>
          </a:p>
        </c:txPr>
        <c:crossAx val="33080380"/>
        <c:crosses val="autoZero"/>
        <c:auto val="1"/>
        <c:lblAlgn val="ctr"/>
        <c:lblOffset val="100"/>
        <c:noMultiLvlLbl val="0"/>
      </c:catAx>
      <c:valAx>
        <c:axId val="33080380"/>
        <c:scaling>
          <c:orientation val="minMax"/>
          <c:max val="1"/>
          <c:min val="0"/>
        </c:scaling>
        <c:delete val="0"/>
        <c:axPos val="l"/>
        <c:majorGridlines>
          <c:spPr>
            <a:ln w="9360">
              <a:solidFill>
                <a:srgbClr val="EDF1F6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DejaVu Sans"/>
                  </a:defRPr>
                </a:pPr>
                <a:r>
                  <a:rPr sz="1125" b="1" u="none" strike="noStrike">
                    <a:solidFill>
                      <a:srgbClr val="516078"/>
                    </a:solidFill>
                    <a:uFillTx/>
                    <a:latin typeface="Calibri"/>
                    <a:ea typeface="Calibri"/>
                  </a:rPr>
                  <a:t>全局权重 φ(t)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" sourceLinked="0"/>
        <c:majorTickMark val="none"/>
        <c:minorTickMark val="none"/>
        <c:tickLblPos val="nextTo"/>
        <c:spPr>
          <a:ln w="9360">
            <a:solidFill>
              <a:srgbClr val="DDE4EE"/>
            </a:solidFill>
            <a:round/>
          </a:ln>
        </c:spPr>
        <c:txPr>
          <a:bodyPr/>
          <a:lstStyle/>
          <a:p>
            <a:pPr>
              <a:defRPr sz="975" b="0" u="none" strike="noStrike">
                <a:solidFill>
                  <a:srgbClr val="7B879B"/>
                </a:solidFill>
                <a:uFillTx/>
                <a:latin typeface="Calibri"/>
                <a:ea typeface="Calibri"/>
              </a:defRPr>
            </a:pPr>
          </a:p>
        </c:txPr>
        <c:crossAx val="73150857"/>
        <c:crosses val="autoZero"/>
        <c:crossBetween val="between"/>
        <c:majorUnit val="0.2"/>
      </c:valAx>
      <c:spPr>
        <a:solidFill>
          <a:srgbClr val="FFFFFF"/>
        </a:solidFill>
        <a:ln w="9360">
          <a:solidFill>
            <a:srgbClr val="DDE4EE"/>
          </a:solidFill>
          <a:round/>
        </a:ln>
      </c:spPr>
    </c:plotArea>
    <c:plotVisOnly val="1"/>
    <c:dispBlanksAs val="zero"/>
  </c:chart>
  <c:spPr>
    <a:solidFill>
      <a:srgbClr val="FFFFFF"/>
    </a:solidFill>
    <a:ln w="0">
      <a:solidFill>
        <a:srgbClr val="FFFFFF"/>
      </a:solidFill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defRPr>
            </a:lvl1pPr>
          </a:lstStyle>
          <a:p>
            <a:pPr indent="0" algn="r">
              <a:buNone/>
            </a:pPr>
            <a:fld id="{76D8DAC7-8FD6-4130-A322-91B2438EFA9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DejaVu Serif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5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秒。只说作品定位：这是一个有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AAAI 2026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算法支撑、面向多机构网络安全协作的完整系统。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https://github.com/IridiumNan/FedPKDA-robocup/blob/plan/pending/ppt_plan.md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10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秒。目录只报五个部分：背景与问题、三大突破、实验验证、系统设计、应用与总结。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https://github.com/IridiumNan/FedPKDA-robocup/issues/6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30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秒。用这一页补齐背景：各机构只在本地训练，上传模型更新，由协调服务器聚合并广播全局模型。原始数据留在本地，但下一页会说明模型更新本身并不天然安全。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https://research.google/pubs/communication-efficient-learning-of-deep-networks-from-decentralized-data/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40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秒。左图只说明攻击会在哪里发生；右侧把两种成熟协作方式与具体局限放在同一页。结论是：现有方案解决了能否协作，却没有同时解决不可逆、异构稳定和最小信任。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https://proceedings.neurips.cc/paper/9617-deep-leakage-from-gradients.pdf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https://www.misp-project.org/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https://www.fsisac.com/about-us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https://github.com/IridiumNan/FedPKDA-robocup/issues/6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35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秒。上方只看攻击入口：梯度经过网络即可被截获并用于重建。下方看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FedPKDA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：客户端把类别特征变成原型，再裁剪、加噪；服务端只聚合带噪原型。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PSNR 6.9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来自论文攻击实验，本项目未重复该攻击实验。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https://proceedings.neurips.cc/paper/9617-deep-leakage-from-gradients.pdf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30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秒。聚类找密集中心，马氏距离考虑协方差，离群越远反距离权重越低；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Fisher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再量化模型贡献。隔离是理论机制，本项目尚未完成投毒对抗实验，不要说成实测结果。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30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φ(t)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严格单调递增：早期保护本地表示，后期吸收全局共识。强调阶段切换自动完成，不展开函数推导。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40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秒。先讲项目复现的两个大差距，再用论文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12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个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SOTA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基线结果做背书。务必说明每组为单次运行，误差带是客户端间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std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https://github.com/IridiumNan/FedPKDA-robocup/blob/plan/docs/report/experiment/report.md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https://github.com/IridiumNan/FedPKDA-robocup/blob/plan/docs/report/experiment/experiment_explanation.md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40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秒。主推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jr=0.1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FedAvg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94.09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跌到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53.39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，而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FedPKDA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维持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99.66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。稳定性只用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best→final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和最后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10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std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，不使用全曲线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std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https://github.com/IridiumNan/FedPKDA-robocup/blob/plan/docs/report/experiment/report.md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https://github.com/IridiumNan/FedPKDA-robocup/blob/plan/docs/report/experiment/experiment_explanation.md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45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秒。必须完整讲清两条闭环：上方模型参数由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Fisher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信息矩阵加权生成全局模型；下方带噪类原型经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K-Means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与马氏距离加权生成全局原型；客户端同时接收两类全局知识。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https://github.com/IridiumNan/FedPKDA-robocup/issues/6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40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秒。平台只是把算法能力可视化。协调员只有建议权，隔离执行权在机构侧；这是架构分权，不是前端按钮权限。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https://github.com/IridiumNan/FedPKDA-robocup/tree/plan/docs/api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25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秒。不给调研过程，只给结论：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ISAC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依赖人工脱敏，传统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FL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传梯度，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SOC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集中托管；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FedPKDA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传不可逆知识。合规表述用‘降低风险’，不要承诺自动满足全部法律义务。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https://www.fsisac.com/about-us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https://www.nist.gov/cyberframework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20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秒。落地对象是金融、政务、能源、通信等联盟。强调标准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PyTorch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技术栈与无专用硬件；如果被问成本，承认计算约为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FedAvg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10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倍，以隐私、通信和稳定性换算力。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20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秒。用三条证据链收束：有论文、有实测、有系统。最后落回‘数据不出域，知识可共享’。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https://github.com/IridiumNan/FedPKDA-robocup/blob/plan/docs/report/experiment/report.md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5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秒。停在本页进入问答。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https://github.com/IridiumNan/FedPKDA-robocup/blob/plan/docs/spec/project_description.md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</a:rPr>
              <a:t>- https://ojs.aaai.org/index.php/AAAI/article/view/40037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tIns="-44640" rIns="90000" bIns="-446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erif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6572160" y="533520"/>
            <a:ext cx="5009760" cy="5771880"/>
          </a:xfrm>
          <a:prstGeom prst="roundRect">
            <a:avLst>
              <a:gd name="adj" fmla="val 3042"/>
            </a:avLst>
          </a:prstGeom>
          <a:solidFill>
            <a:srgbClr val="EAF0FF"/>
          </a:solidFill>
          <a:ln w="9360">
            <a:solidFill>
              <a:srgbClr val="D5E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" name=""/>
          <p:cNvSpPr/>
          <p:nvPr/>
        </p:nvSpPr>
        <p:spPr>
          <a:xfrm>
            <a:off x="6800760" y="762120"/>
            <a:ext cx="4552560" cy="5314680"/>
          </a:xfrm>
          <a:prstGeom prst="roundRect">
            <a:avLst>
              <a:gd name="adj" fmla="val 251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6" name=""/>
          <p:cNvSpPr/>
          <p:nvPr/>
        </p:nvSpPr>
        <p:spPr>
          <a:xfrm>
            <a:off x="685800" y="723960"/>
            <a:ext cx="2476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ROBOCUP 2026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7" name=""/>
          <p:cNvSpPr/>
          <p:nvPr/>
        </p:nvSpPr>
        <p:spPr>
          <a:xfrm>
            <a:off x="685800" y="1581120"/>
            <a:ext cx="523836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 lnSpcReduction="9999"/>
          </a:bodyPr>
          <a:p>
            <a:pPr>
              <a:lnSpc>
                <a:spcPct val="108000"/>
              </a:lnSpc>
            </a:pPr>
            <a:r>
              <a:rPr lang="en-US" sz="5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FedPKDA</a:t>
            </a:r>
            <a:endParaRPr lang="en-US" sz="5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685800" y="2381400"/>
            <a:ext cx="53337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9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联邦入侵检测协作平台</a:t>
            </a:r>
            <a:endParaRPr lang="en-US" sz="29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685800" y="3219480"/>
            <a:ext cx="990360" cy="3780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85800" y="3581280"/>
            <a:ext cx="4952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2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数据不出域，知识可共享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685800" y="4229280"/>
            <a:ext cx="4952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AAAI 2026 </a:t>
            </a: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算法成果 </a:t>
            </a: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× </a:t>
            </a: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可运行协作系统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685800" y="5695920"/>
            <a:ext cx="47620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队伍：</a:t>
            </a:r>
            <a:r>
              <a:rPr lang="en-US" sz="12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__________    </a:t>
            </a:r>
            <a:r>
              <a:rPr lang="zh-CN" sz="12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成员：</a:t>
            </a:r>
            <a:r>
              <a:rPr lang="en-US" sz="12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__________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CONTENTS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目录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" name=""/>
          <p:cNvSpPr/>
          <p:nvPr/>
        </p:nvSpPr>
        <p:spPr>
          <a:xfrm>
            <a:off x="838080" y="1752480"/>
            <a:ext cx="685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87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01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" name=""/>
          <p:cNvSpPr/>
          <p:nvPr/>
        </p:nvSpPr>
        <p:spPr>
          <a:xfrm>
            <a:off x="1790640" y="1676520"/>
            <a:ext cx="6667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背景与问题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10001160" y="175248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3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04-05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" name=""/>
          <p:cNvSpPr/>
          <p:nvPr/>
        </p:nvSpPr>
        <p:spPr>
          <a:xfrm>
            <a:off x="1790640" y="2228760"/>
            <a:ext cx="935316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838080" y="2629080"/>
            <a:ext cx="685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87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02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" name=""/>
          <p:cNvSpPr/>
          <p:nvPr/>
        </p:nvSpPr>
        <p:spPr>
          <a:xfrm>
            <a:off x="1790640" y="2552760"/>
            <a:ext cx="6667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FedPKDA </a:t>
            </a:r>
            <a:r>
              <a:rPr lang="zh-CN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三大突破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10001160" y="262908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3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07-09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1790640" y="3105000"/>
            <a:ext cx="935316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838080" y="3505320"/>
            <a:ext cx="685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87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03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" name=""/>
          <p:cNvSpPr/>
          <p:nvPr/>
        </p:nvSpPr>
        <p:spPr>
          <a:xfrm>
            <a:off x="1790640" y="3429000"/>
            <a:ext cx="6667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实验验证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" name=""/>
          <p:cNvSpPr/>
          <p:nvPr/>
        </p:nvSpPr>
        <p:spPr>
          <a:xfrm>
            <a:off x="10001160" y="350532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3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11-12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" name=""/>
          <p:cNvSpPr/>
          <p:nvPr/>
        </p:nvSpPr>
        <p:spPr>
          <a:xfrm>
            <a:off x="1790640" y="3981600"/>
            <a:ext cx="935316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" name=""/>
          <p:cNvSpPr/>
          <p:nvPr/>
        </p:nvSpPr>
        <p:spPr>
          <a:xfrm>
            <a:off x="838080" y="4381560"/>
            <a:ext cx="685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87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04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" name=""/>
          <p:cNvSpPr/>
          <p:nvPr/>
        </p:nvSpPr>
        <p:spPr>
          <a:xfrm>
            <a:off x="1790640" y="4305240"/>
            <a:ext cx="6667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系统设计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10001160" y="438156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3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14-15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3" name=""/>
          <p:cNvSpPr/>
          <p:nvPr/>
        </p:nvSpPr>
        <p:spPr>
          <a:xfrm>
            <a:off x="1790640" y="4857840"/>
            <a:ext cx="935316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838080" y="5257800"/>
            <a:ext cx="685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870" b="1" u="none" strike="noStrike">
                <a:solidFill>
                  <a:srgbClr val="F59E0B"/>
                </a:solidFill>
                <a:effectLst/>
                <a:uFillTx/>
                <a:latin typeface="Noto Sans CJK SC"/>
                <a:ea typeface="Noto Sans CJK SC"/>
              </a:rPr>
              <a:t>05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1790640" y="5181480"/>
            <a:ext cx="6667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应用与总结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10001160" y="5257800"/>
            <a:ext cx="11426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3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17-19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7" name=""/>
          <p:cNvSpPr/>
          <p:nvPr/>
        </p:nvSpPr>
        <p:spPr>
          <a:xfrm>
            <a:off x="1790640" y="5734080"/>
            <a:ext cx="9353160" cy="9000"/>
          </a:xfrm>
          <a:prstGeom prst="roundRect">
            <a:avLst>
              <a:gd name="adj" fmla="val 50000"/>
            </a:avLst>
          </a:prstGeom>
          <a:solidFill>
            <a:srgbClr val="D5DDEA"/>
          </a:solidFill>
          <a:ln w="0">
            <a:solidFill>
              <a:srgbClr val="D5DDE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8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200400" y="2286000"/>
            <a:ext cx="61722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r>
              <a:rPr lang="zh-CN" sz="66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背景与挑战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"/>
          <p:cNvSpPr/>
          <p:nvPr/>
        </p:nvSpPr>
        <p:spPr>
          <a:xfrm>
            <a:off x="838080" y="1352880"/>
            <a:ext cx="1104480" cy="3780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51" name=""/>
          <p:cNvSpPr/>
          <p:nvPr/>
        </p:nvSpPr>
        <p:spPr>
          <a:xfrm>
            <a:off x="1104840" y="5143680"/>
            <a:ext cx="2476080" cy="18720"/>
          </a:xfrm>
          <a:prstGeom prst="roundRect">
            <a:avLst>
              <a:gd name="adj" fmla="val 50000"/>
            </a:avLst>
          </a:prstGeom>
          <a:solidFill>
            <a:srgbClr val="33456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1320" rIns="90000" bIns="-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52" name=""/>
          <p:cNvSpPr/>
          <p:nvPr/>
        </p:nvSpPr>
        <p:spPr>
          <a:xfrm>
            <a:off x="10363680" y="4953240"/>
            <a:ext cx="704520" cy="704520"/>
          </a:xfrm>
          <a:prstGeom prst="ellipse">
            <a:avLst/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9658440" y="876240"/>
            <a:ext cx="1428480" cy="1428480"/>
          </a:xfrm>
          <a:prstGeom prst="ellipse">
            <a:avLst/>
          </a:prstGeom>
          <a:solidFill>
            <a:srgbClr val="D4EA6B"/>
          </a:solidFill>
          <a:ln w="9360">
            <a:solidFill>
              <a:srgbClr val="F6F9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14400" y="887400"/>
            <a:ext cx="67500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en-US" sz="2800" b="1" u="none" strike="noStrike">
                <a:solidFill>
                  <a:srgbClr val="FF0000"/>
                </a:solidFill>
                <a:effectLst/>
                <a:uFillTx/>
                <a:latin typeface="DejaVu Sans"/>
              </a:rPr>
              <a:t>01</a:t>
            </a:r>
            <a:endParaRPr lang="en-US" sz="2800" b="1" u="none" strike="noStrike">
              <a:solidFill>
                <a:srgbClr val="FF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01 / BACKGROUND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56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0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联邦学习让数据留在本地，通过模型更新完成多方协作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57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58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59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609480" y="1886040"/>
            <a:ext cx="2571480" cy="1009440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1520">
            <a:solidFill>
              <a:srgbClr val="C9D8FF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4480" tIns="57240" rIns="114480" bIns="5724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金融机构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5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本地数据 </a:t>
            </a:r>
            <a:r>
              <a:rPr lang="en-US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· </a:t>
            </a: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本地训练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61" name=""/>
          <p:cNvSpPr/>
          <p:nvPr/>
        </p:nvSpPr>
        <p:spPr>
          <a:xfrm>
            <a:off x="609480" y="3257640"/>
            <a:ext cx="2571480" cy="1009440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1520">
            <a:solidFill>
              <a:srgbClr val="C9D8FF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4480" tIns="57240" rIns="114480" bIns="5724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医疗机构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5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本地数据 </a:t>
            </a:r>
            <a:r>
              <a:rPr lang="en-US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· </a:t>
            </a: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本地训练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62" name=""/>
          <p:cNvSpPr/>
          <p:nvPr/>
        </p:nvSpPr>
        <p:spPr>
          <a:xfrm>
            <a:off x="609480" y="4629240"/>
            <a:ext cx="2571480" cy="1009440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1520">
            <a:solidFill>
              <a:srgbClr val="C9D8FF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4480" tIns="57240" rIns="114480" bIns="5724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能源 </a:t>
            </a:r>
            <a:r>
              <a:rPr lang="en-US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工业机构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5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本地数据 </a:t>
            </a:r>
            <a:r>
              <a:rPr lang="en-US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· </a:t>
            </a: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本地训练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63" name=""/>
          <p:cNvSpPr/>
          <p:nvPr/>
        </p:nvSpPr>
        <p:spPr>
          <a:xfrm>
            <a:off x="4896000" y="2800440"/>
            <a:ext cx="2723760" cy="1580760"/>
          </a:xfrm>
          <a:prstGeom prst="roundRect">
            <a:avLst>
              <a:gd name="adj" fmla="val 7229"/>
            </a:avLst>
          </a:prstGeom>
          <a:solidFill>
            <a:srgbClr val="0B1530"/>
          </a:solidFill>
          <a:ln w="11520">
            <a:solidFill>
              <a:srgbClr val="0B1530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4480" tIns="57240" rIns="114480" bIns="5724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协调服务器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5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聚合模型更新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64" name=""/>
          <p:cNvSpPr/>
          <p:nvPr/>
        </p:nvSpPr>
        <p:spPr>
          <a:xfrm>
            <a:off x="8953560" y="2800440"/>
            <a:ext cx="2628720" cy="1580760"/>
          </a:xfrm>
          <a:prstGeom prst="roundRect">
            <a:avLst>
              <a:gd name="adj" fmla="val 7229"/>
            </a:avLst>
          </a:prstGeom>
          <a:solidFill>
            <a:srgbClr val="E5FAFC"/>
          </a:solidFill>
          <a:ln w="11520">
            <a:solidFill>
              <a:srgbClr val="22C7D6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4480" tIns="57240" rIns="114480" bIns="5724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8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全局模型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5000"/>
              </a:lnSpc>
            </a:pPr>
            <a:r>
              <a:rPr lang="zh-CN" sz="18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广播回各机构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cxnSp>
        <p:nvCxnSpPr>
          <p:cNvPr id="65" name=""/>
          <p:cNvCxnSpPr>
            <a:stCxn id="60" idx="3"/>
            <a:endCxn id="63" idx="1"/>
          </p:cNvCxnSpPr>
          <p:nvPr/>
        </p:nvCxnSpPr>
        <p:spPr>
          <a:xfrm>
            <a:off x="3180960" y="2390760"/>
            <a:ext cx="1715400" cy="120060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66" name=""/>
          <p:cNvCxnSpPr>
            <a:stCxn id="61" idx="3"/>
            <a:endCxn id="63" idx="1"/>
          </p:cNvCxnSpPr>
          <p:nvPr/>
        </p:nvCxnSpPr>
        <p:spPr>
          <a:xfrm flipV="1">
            <a:off x="3180960" y="3591000"/>
            <a:ext cx="1715400" cy="17172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67" name=""/>
          <p:cNvCxnSpPr>
            <a:stCxn id="62" idx="3"/>
            <a:endCxn id="63" idx="1"/>
          </p:cNvCxnSpPr>
          <p:nvPr/>
        </p:nvCxnSpPr>
        <p:spPr>
          <a:xfrm flipV="1">
            <a:off x="3180960" y="3591000"/>
            <a:ext cx="1715400" cy="154332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68" name=""/>
          <p:cNvCxnSpPr>
            <a:stCxn id="63" idx="3"/>
            <a:endCxn id="64" idx="1"/>
          </p:cNvCxnSpPr>
          <p:nvPr/>
        </p:nvCxnSpPr>
        <p:spPr>
          <a:xfrm>
            <a:off x="7619760" y="3591000"/>
            <a:ext cx="1334160" cy="360"/>
          </a:xfrm>
          <a:prstGeom prst="straightConnector1">
            <a:avLst/>
          </a:prstGeom>
          <a:ln w="23040">
            <a:solidFill>
              <a:srgbClr val="22C7D6"/>
            </a:solidFill>
            <a:round/>
            <a:tailEnd len="sm" type="triangle" w="sm"/>
          </a:ln>
        </p:spPr>
      </p:cxnSp>
      <p:sp>
        <p:nvSpPr>
          <p:cNvPr id="69" name=""/>
          <p:cNvSpPr/>
          <p:nvPr/>
        </p:nvSpPr>
        <p:spPr>
          <a:xfrm>
            <a:off x="3695760" y="2247840"/>
            <a:ext cx="2152440" cy="32364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9360">
            <a:solidFill>
              <a:srgbClr val="EAF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上传：梯度 </a:t>
            </a:r>
            <a:r>
              <a:rPr lang="en-US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模型参数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0" name=""/>
          <p:cNvSpPr/>
          <p:nvPr/>
        </p:nvSpPr>
        <p:spPr>
          <a:xfrm>
            <a:off x="5848200" y="4591080"/>
            <a:ext cx="837720" cy="30456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9360">
            <a:solidFill>
              <a:srgbClr val="EAF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聚合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1" name=""/>
          <p:cNvSpPr/>
          <p:nvPr/>
        </p:nvSpPr>
        <p:spPr>
          <a:xfrm>
            <a:off x="3905280" y="5238720"/>
            <a:ext cx="74671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>
              <a:lnSpc>
                <a:spcPct val="120000"/>
              </a:lnSpc>
            </a:pPr>
            <a:r>
              <a:rPr lang="zh-CN" sz="165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基本原则：原始数据不出机构域；参与方交换模型更新，而非直接交换样本。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2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01 / PROBLEM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4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9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成熟协作仍留下三处缺口：可逆泄露、中心信任、异构不稳</a:t>
            </a:r>
            <a:endParaRPr lang="en-US" sz="29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E75255"/>
          </a:solidFill>
          <a:ln w="0">
            <a:solidFill>
              <a:srgbClr val="E7525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77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8" name=""/>
          <p:cNvSpPr/>
          <p:nvPr/>
        </p:nvSpPr>
        <p:spPr>
          <a:xfrm>
            <a:off x="552600" y="1695600"/>
            <a:ext cx="4552560" cy="306684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9360">
            <a:solidFill>
              <a:srgbClr val="D8E2F0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79" name=""/>
          <p:cNvSpPr/>
          <p:nvPr/>
        </p:nvSpPr>
        <p:spPr>
          <a:xfrm>
            <a:off x="609480" y="1752480"/>
            <a:ext cx="4438440" cy="2952360"/>
          </a:xfrm>
          <a:prstGeom prst="roundRect">
            <a:avLst>
              <a:gd name="adj" fmla="val 3871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0" name=""/>
          <p:cNvSpPr/>
          <p:nvPr/>
        </p:nvSpPr>
        <p:spPr>
          <a:xfrm>
            <a:off x="666720" y="4819680"/>
            <a:ext cx="43239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本地梯度离开机构  →  传输中被截获  →  </a:t>
            </a:r>
            <a:r>
              <a:rPr lang="en-US" sz="128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DLG </a:t>
            </a:r>
            <a:r>
              <a:rPr lang="zh-CN" sz="128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恢复样本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1" name=""/>
          <p:cNvSpPr/>
          <p:nvPr/>
        </p:nvSpPr>
        <p:spPr>
          <a:xfrm>
            <a:off x="5429160" y="1752480"/>
            <a:ext cx="6152760" cy="1428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EFD59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2" name=""/>
          <p:cNvSpPr/>
          <p:nvPr/>
        </p:nvSpPr>
        <p:spPr>
          <a:xfrm>
            <a:off x="5676840" y="1943280"/>
            <a:ext cx="2952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800" b="1" u="none" strike="noStrike">
                <a:solidFill>
                  <a:srgbClr val="9A5B00"/>
                </a:solidFill>
                <a:effectLst/>
                <a:uFillTx/>
                <a:latin typeface="Noto Sans CJK SC"/>
                <a:ea typeface="Noto Sans CJK SC"/>
              </a:rPr>
              <a:t>威胁情报平台 </a:t>
            </a:r>
            <a:r>
              <a:rPr lang="en-US" sz="1800" b="1" u="none" strike="noStrike">
                <a:solidFill>
                  <a:srgbClr val="9A5B00"/>
                </a:solidFill>
                <a:effectLst/>
                <a:uFillTx/>
                <a:latin typeface="Noto Sans CJK SC"/>
                <a:ea typeface="Noto Sans CJK SC"/>
              </a:rPr>
              <a:t>/ ISAC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3" name=""/>
          <p:cNvSpPr/>
          <p:nvPr/>
        </p:nvSpPr>
        <p:spPr>
          <a:xfrm>
            <a:off x="5676840" y="2362320"/>
            <a:ext cx="5428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本地日志 → 人工脱敏 → </a:t>
            </a:r>
            <a:r>
              <a:rPr lang="en-US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IOC → </a:t>
            </a: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中心平台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4" name=""/>
          <p:cNvSpPr/>
          <p:nvPr/>
        </p:nvSpPr>
        <p:spPr>
          <a:xfrm>
            <a:off x="5676840" y="2781360"/>
            <a:ext cx="5428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局限：脱敏可能遗漏，静态 </a:t>
            </a:r>
            <a:r>
              <a:rPr lang="en-US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IOC </a:t>
            </a:r>
            <a:r>
              <a:rPr lang="zh-CN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的时效与格式受限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5" name=""/>
          <p:cNvSpPr/>
          <p:nvPr/>
        </p:nvSpPr>
        <p:spPr>
          <a:xfrm>
            <a:off x="5429160" y="3371760"/>
            <a:ext cx="6152760" cy="1428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360">
            <a:solidFill>
              <a:srgbClr val="C9D8FF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6" name=""/>
          <p:cNvSpPr/>
          <p:nvPr/>
        </p:nvSpPr>
        <p:spPr>
          <a:xfrm>
            <a:off x="5676840" y="3562200"/>
            <a:ext cx="24760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8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传统联邦学习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7" name=""/>
          <p:cNvSpPr/>
          <p:nvPr/>
        </p:nvSpPr>
        <p:spPr>
          <a:xfrm>
            <a:off x="5676840" y="3981600"/>
            <a:ext cx="5428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本地数据不出域 → 上传梯度 </a:t>
            </a:r>
            <a:r>
              <a:rPr lang="en-US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参数 → 中心聚合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8" name=""/>
          <p:cNvSpPr/>
          <p:nvPr/>
        </p:nvSpPr>
        <p:spPr>
          <a:xfrm>
            <a:off x="5676840" y="4400640"/>
            <a:ext cx="5428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局限：梯度可逆，中心方需被信任，异构数据易掉点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5429160"/>
            <a:ext cx="10972440" cy="742680"/>
          </a:xfrm>
          <a:prstGeom prst="roundRect">
            <a:avLst>
              <a:gd name="adj" fmla="val 10256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90" name=""/>
          <p:cNvSpPr/>
          <p:nvPr/>
        </p:nvSpPr>
        <p:spPr>
          <a:xfrm>
            <a:off x="838080" y="5610240"/>
            <a:ext cx="105152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现有方案能协作，却没有同时实现：不可逆知识传输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+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异构稳定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+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协调方最小信任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91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2057400" y="2108520"/>
            <a:ext cx="8686800" cy="21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r>
              <a:rPr lang="en-US" sz="6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FedPKDA</a:t>
            </a:r>
            <a:r>
              <a:rPr lang="en-US" sz="66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zh-CN" sz="66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三大突破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93" name=""/>
          <p:cNvSpPr/>
          <p:nvPr/>
        </p:nvSpPr>
        <p:spPr>
          <a:xfrm>
            <a:off x="838080" y="1352880"/>
            <a:ext cx="1104480" cy="3780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94" name=""/>
          <p:cNvSpPr/>
          <p:nvPr/>
        </p:nvSpPr>
        <p:spPr>
          <a:xfrm>
            <a:off x="1104840" y="5143680"/>
            <a:ext cx="2476080" cy="18720"/>
          </a:xfrm>
          <a:prstGeom prst="roundRect">
            <a:avLst>
              <a:gd name="adj" fmla="val 50000"/>
            </a:avLst>
          </a:prstGeom>
          <a:solidFill>
            <a:srgbClr val="33456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1320" rIns="90000" bIns="-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95" name=""/>
          <p:cNvSpPr/>
          <p:nvPr/>
        </p:nvSpPr>
        <p:spPr>
          <a:xfrm>
            <a:off x="10363680" y="4953240"/>
            <a:ext cx="704520" cy="704520"/>
          </a:xfrm>
          <a:prstGeom prst="ellipse">
            <a:avLst/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9658440" y="876240"/>
            <a:ext cx="1428480" cy="1428480"/>
          </a:xfrm>
          <a:prstGeom prst="ellipse">
            <a:avLst/>
          </a:prstGeom>
          <a:solidFill>
            <a:srgbClr val="D4EA6B"/>
          </a:solidFill>
          <a:ln w="9360">
            <a:solidFill>
              <a:srgbClr val="F6F9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914400" y="726480"/>
            <a:ext cx="632520" cy="6451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lnSpc>
                <a:spcPct val="108000"/>
              </a:lnSpc>
            </a:pPr>
            <a:r>
              <a:rPr lang="en-US" sz="28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02 / BREAKTHROUGH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99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传输带噪类原型，从源头切断梯度还原路径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0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1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02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3" name=""/>
          <p:cNvSpPr/>
          <p:nvPr/>
        </p:nvSpPr>
        <p:spPr>
          <a:xfrm>
            <a:off x="609480" y="1562040"/>
            <a:ext cx="1961640" cy="30456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9360">
            <a:solidFill>
              <a:srgbClr val="FD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13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传统链路 </a:t>
            </a:r>
            <a:r>
              <a:rPr lang="en-US" sz="113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· </a:t>
            </a:r>
            <a:r>
              <a:rPr lang="zh-CN" sz="113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梯度攻击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4" name=""/>
          <p:cNvSpPr/>
          <p:nvPr/>
        </p:nvSpPr>
        <p:spPr>
          <a:xfrm>
            <a:off x="609480" y="1981080"/>
            <a:ext cx="10972440" cy="1580760"/>
          </a:xfrm>
          <a:prstGeom prst="roundRect">
            <a:avLst>
              <a:gd name="adj" fmla="val 4819"/>
            </a:avLst>
          </a:prstGeom>
          <a:solidFill>
            <a:srgbClr val="FFF9F9"/>
          </a:solidFill>
          <a:ln w="9360">
            <a:solidFill>
              <a:srgbClr val="F0CCC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5" name=""/>
          <p:cNvSpPr/>
          <p:nvPr/>
        </p:nvSpPr>
        <p:spPr>
          <a:xfrm>
            <a:off x="838080" y="2324160"/>
            <a:ext cx="1333080" cy="571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6" name=""/>
          <p:cNvSpPr/>
          <p:nvPr/>
        </p:nvSpPr>
        <p:spPr>
          <a:xfrm>
            <a:off x="933480" y="24955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本地数据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7" name=""/>
          <p:cNvSpPr/>
          <p:nvPr/>
        </p:nvSpPr>
        <p:spPr>
          <a:xfrm>
            <a:off x="2571840" y="2324160"/>
            <a:ext cx="1333080" cy="571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8" name=""/>
          <p:cNvSpPr/>
          <p:nvPr/>
        </p:nvSpPr>
        <p:spPr>
          <a:xfrm>
            <a:off x="2666880" y="24955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本地训练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09" name=""/>
          <p:cNvSpPr/>
          <p:nvPr/>
        </p:nvSpPr>
        <p:spPr>
          <a:xfrm>
            <a:off x="4305240" y="2324160"/>
            <a:ext cx="1333080" cy="571320"/>
          </a:xfrm>
          <a:prstGeom prst="roundRect">
            <a:avLst>
              <a:gd name="adj" fmla="val 13333"/>
            </a:avLst>
          </a:prstGeom>
          <a:solidFill>
            <a:srgbClr val="FDE8E8"/>
          </a:solidFill>
          <a:ln w="9360">
            <a:solidFill>
              <a:srgbClr val="E752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10" name=""/>
          <p:cNvSpPr/>
          <p:nvPr/>
        </p:nvSpPr>
        <p:spPr>
          <a:xfrm>
            <a:off x="4400640" y="24955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上传梯度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11" name=""/>
          <p:cNvSpPr/>
          <p:nvPr/>
        </p:nvSpPr>
        <p:spPr>
          <a:xfrm>
            <a:off x="6039000" y="2324160"/>
            <a:ext cx="1333080" cy="571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12" name=""/>
          <p:cNvSpPr/>
          <p:nvPr/>
        </p:nvSpPr>
        <p:spPr>
          <a:xfrm>
            <a:off x="6134040" y="24955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网络链路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cxnSp>
        <p:nvCxnSpPr>
          <p:cNvPr id="113" name=""/>
          <p:cNvCxnSpPr>
            <a:stCxn id="105" idx="3"/>
            <a:endCxn id="107" idx="1"/>
          </p:cNvCxnSpPr>
          <p:nvPr/>
        </p:nvCxnSpPr>
        <p:spPr>
          <a:xfrm>
            <a:off x="2171160" y="2610000"/>
            <a:ext cx="401040" cy="360"/>
          </a:xfrm>
          <a:prstGeom prst="straightConnector1">
            <a:avLst/>
          </a:prstGeom>
          <a:ln w="19080">
            <a:solidFill>
              <a:srgbClr val="E75255"/>
            </a:solidFill>
            <a:round/>
            <a:tailEnd len="sm" type="triangle" w="sm"/>
          </a:ln>
        </p:spPr>
      </p:cxnSp>
      <p:cxnSp>
        <p:nvCxnSpPr>
          <p:cNvPr id="114" name=""/>
          <p:cNvCxnSpPr>
            <a:stCxn id="107" idx="3"/>
            <a:endCxn id="109" idx="1"/>
          </p:cNvCxnSpPr>
          <p:nvPr/>
        </p:nvCxnSpPr>
        <p:spPr>
          <a:xfrm>
            <a:off x="3904920" y="2610000"/>
            <a:ext cx="400680" cy="360"/>
          </a:xfrm>
          <a:prstGeom prst="straightConnector1">
            <a:avLst/>
          </a:prstGeom>
          <a:ln w="19080">
            <a:solidFill>
              <a:srgbClr val="E75255"/>
            </a:solidFill>
            <a:round/>
            <a:tailEnd len="sm" type="triangle" w="sm"/>
          </a:ln>
        </p:spPr>
      </p:cxnSp>
      <p:cxnSp>
        <p:nvCxnSpPr>
          <p:cNvPr id="115" name=""/>
          <p:cNvCxnSpPr>
            <a:stCxn id="109" idx="3"/>
            <a:endCxn id="111" idx="1"/>
          </p:cNvCxnSpPr>
          <p:nvPr/>
        </p:nvCxnSpPr>
        <p:spPr>
          <a:xfrm>
            <a:off x="5638320" y="2610000"/>
            <a:ext cx="401040" cy="360"/>
          </a:xfrm>
          <a:prstGeom prst="straightConnector1">
            <a:avLst/>
          </a:prstGeom>
          <a:ln w="19080">
            <a:solidFill>
              <a:srgbClr val="E75255"/>
            </a:solidFill>
            <a:round/>
            <a:tailEnd len="sm" type="triangle" w="sm"/>
          </a:ln>
        </p:spPr>
      </p:cxnSp>
      <p:sp>
        <p:nvSpPr>
          <p:cNvPr id="116" name=""/>
          <p:cNvSpPr/>
          <p:nvPr/>
        </p:nvSpPr>
        <p:spPr>
          <a:xfrm>
            <a:off x="8210520" y="2152800"/>
            <a:ext cx="2209320" cy="51408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17" name=""/>
          <p:cNvSpPr/>
          <p:nvPr/>
        </p:nvSpPr>
        <p:spPr>
          <a:xfrm>
            <a:off x="8362800" y="2276640"/>
            <a:ext cx="1904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服务端接收梯度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18" name=""/>
          <p:cNvSpPr/>
          <p:nvPr/>
        </p:nvSpPr>
        <p:spPr>
          <a:xfrm>
            <a:off x="8210520" y="2876400"/>
            <a:ext cx="2209320" cy="514080"/>
          </a:xfrm>
          <a:prstGeom prst="roundRect">
            <a:avLst>
              <a:gd name="adj" fmla="val 14815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19" name=""/>
          <p:cNvSpPr/>
          <p:nvPr/>
        </p:nvSpPr>
        <p:spPr>
          <a:xfrm>
            <a:off x="8344080" y="3000240"/>
            <a:ext cx="19429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2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攻击者截获 →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DLG </a:t>
            </a:r>
            <a:r>
              <a:rPr lang="zh-CN" sz="12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重建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cxnSp>
        <p:nvCxnSpPr>
          <p:cNvPr id="120" name=""/>
          <p:cNvCxnSpPr>
            <a:stCxn id="111" idx="3"/>
            <a:endCxn id="116" idx="1"/>
          </p:cNvCxnSpPr>
          <p:nvPr/>
        </p:nvCxnSpPr>
        <p:spPr>
          <a:xfrm flipV="1">
            <a:off x="7372080" y="2409840"/>
            <a:ext cx="838800" cy="200520"/>
          </a:xfrm>
          <a:prstGeom prst="straightConnector1">
            <a:avLst/>
          </a:prstGeom>
          <a:ln w="19080">
            <a:solidFill>
              <a:srgbClr val="E75255"/>
            </a:solidFill>
            <a:round/>
            <a:tailEnd len="sm" type="triangle" w="sm"/>
          </a:ln>
        </p:spPr>
      </p:cxnSp>
      <p:cxnSp>
        <p:nvCxnSpPr>
          <p:cNvPr id="121" name=""/>
          <p:cNvCxnSpPr>
            <a:stCxn id="111" idx="2"/>
            <a:endCxn id="118" idx="1"/>
          </p:cNvCxnSpPr>
          <p:nvPr/>
        </p:nvCxnSpPr>
        <p:spPr>
          <a:xfrm flipH="1" rot="16200000">
            <a:off x="7339320" y="2261880"/>
            <a:ext cx="238320" cy="1505160"/>
          </a:xfrm>
          <a:prstGeom prst="bentConnector2">
            <a:avLst/>
          </a:prstGeom>
          <a:ln w="19080">
            <a:solidFill>
              <a:srgbClr val="E75255"/>
            </a:solidFill>
            <a:prstDash val="dash"/>
            <a:round/>
            <a:tailEnd len="sm" type="triangle" w="sm"/>
          </a:ln>
        </p:spPr>
      </p:cxnSp>
      <p:sp>
        <p:nvSpPr>
          <p:cNvPr id="122" name=""/>
          <p:cNvSpPr/>
          <p:nvPr/>
        </p:nvSpPr>
        <p:spPr>
          <a:xfrm>
            <a:off x="609480" y="3753000"/>
            <a:ext cx="2018880" cy="30456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9360">
            <a:solidFill>
              <a:srgbClr val="EAF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FedPKDA · </a:t>
            </a:r>
            <a:r>
              <a:rPr lang="zh-CN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原型保护链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3" name=""/>
          <p:cNvSpPr/>
          <p:nvPr/>
        </p:nvSpPr>
        <p:spPr>
          <a:xfrm>
            <a:off x="609480" y="4133880"/>
            <a:ext cx="10972440" cy="1714320"/>
          </a:xfrm>
          <a:prstGeom prst="roundRect">
            <a:avLst>
              <a:gd name="adj" fmla="val 4444"/>
            </a:avLst>
          </a:prstGeom>
          <a:solidFill>
            <a:srgbClr val="EAF0FF"/>
          </a:solidFill>
          <a:ln w="9360">
            <a:solidFill>
              <a:srgbClr val="CBD9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78120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5" name=""/>
          <p:cNvSpPr/>
          <p:nvPr/>
        </p:nvSpPr>
        <p:spPr>
          <a:xfrm>
            <a:off x="857160" y="4791240"/>
            <a:ext cx="1104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本地数据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6" name=""/>
          <p:cNvSpPr/>
          <p:nvPr/>
        </p:nvSpPr>
        <p:spPr>
          <a:xfrm>
            <a:off x="232416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7" name=""/>
          <p:cNvSpPr/>
          <p:nvPr/>
        </p:nvSpPr>
        <p:spPr>
          <a:xfrm>
            <a:off x="2400480" y="4791240"/>
            <a:ext cx="1104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特征提取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8" name=""/>
          <p:cNvSpPr/>
          <p:nvPr/>
        </p:nvSpPr>
        <p:spPr>
          <a:xfrm>
            <a:off x="386712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DDF8EF"/>
          </a:solidFill>
          <a:ln w="9360">
            <a:solidFill>
              <a:srgbClr val="24B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29" name=""/>
          <p:cNvSpPr/>
          <p:nvPr/>
        </p:nvSpPr>
        <p:spPr>
          <a:xfrm>
            <a:off x="3943440" y="4791240"/>
            <a:ext cx="1104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类别原型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0" name=""/>
          <p:cNvSpPr/>
          <p:nvPr/>
        </p:nvSpPr>
        <p:spPr>
          <a:xfrm>
            <a:off x="541008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E5FAFC"/>
          </a:solidFill>
          <a:ln w="9360">
            <a:solidFill>
              <a:srgbClr val="22C7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1" name=""/>
          <p:cNvSpPr/>
          <p:nvPr/>
        </p:nvSpPr>
        <p:spPr>
          <a:xfrm>
            <a:off x="5486400" y="4791240"/>
            <a:ext cx="1104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裁剪 </a:t>
            </a:r>
            <a:r>
              <a:rPr lang="en-US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+ </a:t>
            </a: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加噪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2" name=""/>
          <p:cNvSpPr/>
          <p:nvPr/>
        </p:nvSpPr>
        <p:spPr>
          <a:xfrm>
            <a:off x="695340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EAF0FF"/>
          </a:solidFill>
          <a:ln w="936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3" name=""/>
          <p:cNvSpPr/>
          <p:nvPr/>
        </p:nvSpPr>
        <p:spPr>
          <a:xfrm>
            <a:off x="7029360" y="4791240"/>
            <a:ext cx="1104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带噪原型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4" name=""/>
          <p:cNvSpPr/>
          <p:nvPr/>
        </p:nvSpPr>
        <p:spPr>
          <a:xfrm>
            <a:off x="849636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35" name=""/>
          <p:cNvSpPr/>
          <p:nvPr/>
        </p:nvSpPr>
        <p:spPr>
          <a:xfrm>
            <a:off x="8572680" y="4667400"/>
            <a:ext cx="110448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K-Means +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马氏加权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6" name=""/>
          <p:cNvSpPr/>
          <p:nvPr/>
        </p:nvSpPr>
        <p:spPr>
          <a:xfrm>
            <a:off x="10039320" y="4610160"/>
            <a:ext cx="1257120" cy="647280"/>
          </a:xfrm>
          <a:prstGeom prst="roundRect">
            <a:avLst>
              <a:gd name="adj" fmla="val 11765"/>
            </a:avLst>
          </a:prstGeom>
          <a:solidFill>
            <a:srgbClr val="DDF8EF"/>
          </a:solidFill>
          <a:ln w="9360">
            <a:solidFill>
              <a:srgbClr val="24B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37" name=""/>
          <p:cNvSpPr/>
          <p:nvPr/>
        </p:nvSpPr>
        <p:spPr>
          <a:xfrm>
            <a:off x="10115640" y="4791240"/>
            <a:ext cx="11044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15000"/>
              </a:lnSpc>
            </a:pPr>
            <a:r>
              <a:rPr lang="zh-CN" sz="128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全局原型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cxnSp>
        <p:nvCxnSpPr>
          <p:cNvPr id="138" name=""/>
          <p:cNvCxnSpPr>
            <a:stCxn id="124" idx="3"/>
            <a:endCxn id="126" idx="1"/>
          </p:cNvCxnSpPr>
          <p:nvPr/>
        </p:nvCxnSpPr>
        <p:spPr>
          <a:xfrm>
            <a:off x="2038320" y="4933800"/>
            <a:ext cx="286200" cy="360"/>
          </a:xfrm>
          <a:prstGeom prst="straightConnector1">
            <a:avLst/>
          </a:prstGeom>
          <a:ln w="19080">
            <a:solidFill>
              <a:srgbClr val="24B787"/>
            </a:solidFill>
            <a:round/>
            <a:tailEnd len="sm" type="triangle" w="sm"/>
          </a:ln>
        </p:spPr>
      </p:cxnSp>
      <p:cxnSp>
        <p:nvCxnSpPr>
          <p:cNvPr id="139" name=""/>
          <p:cNvCxnSpPr>
            <a:stCxn id="126" idx="3"/>
            <a:endCxn id="128" idx="1"/>
          </p:cNvCxnSpPr>
          <p:nvPr/>
        </p:nvCxnSpPr>
        <p:spPr>
          <a:xfrm>
            <a:off x="3581280" y="4933800"/>
            <a:ext cx="286200" cy="360"/>
          </a:xfrm>
          <a:prstGeom prst="straightConnector1">
            <a:avLst/>
          </a:prstGeom>
          <a:ln w="19080">
            <a:solidFill>
              <a:srgbClr val="24B787"/>
            </a:solidFill>
            <a:round/>
            <a:tailEnd len="sm" type="triangle" w="sm"/>
          </a:ln>
        </p:spPr>
      </p:cxnSp>
      <p:cxnSp>
        <p:nvCxnSpPr>
          <p:cNvPr id="140" name=""/>
          <p:cNvCxnSpPr>
            <a:stCxn id="128" idx="3"/>
            <a:endCxn id="130" idx="1"/>
          </p:cNvCxnSpPr>
          <p:nvPr/>
        </p:nvCxnSpPr>
        <p:spPr>
          <a:xfrm>
            <a:off x="5124240" y="4933800"/>
            <a:ext cx="286200" cy="360"/>
          </a:xfrm>
          <a:prstGeom prst="straightConnector1">
            <a:avLst/>
          </a:prstGeom>
          <a:ln w="19080">
            <a:solidFill>
              <a:srgbClr val="24B787"/>
            </a:solidFill>
            <a:round/>
            <a:tailEnd len="sm" type="triangle" w="sm"/>
          </a:ln>
        </p:spPr>
      </p:cxnSp>
      <p:cxnSp>
        <p:nvCxnSpPr>
          <p:cNvPr id="141" name=""/>
          <p:cNvCxnSpPr>
            <a:stCxn id="130" idx="3"/>
            <a:endCxn id="132" idx="1"/>
          </p:cNvCxnSpPr>
          <p:nvPr/>
        </p:nvCxnSpPr>
        <p:spPr>
          <a:xfrm>
            <a:off x="6667200" y="4933800"/>
            <a:ext cx="286560" cy="36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142" name=""/>
          <p:cNvCxnSpPr>
            <a:stCxn id="132" idx="3"/>
            <a:endCxn id="134" idx="1"/>
          </p:cNvCxnSpPr>
          <p:nvPr/>
        </p:nvCxnSpPr>
        <p:spPr>
          <a:xfrm>
            <a:off x="8210520" y="4933800"/>
            <a:ext cx="286200" cy="36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143" name=""/>
          <p:cNvCxnSpPr>
            <a:stCxn id="134" idx="3"/>
            <a:endCxn id="136" idx="1"/>
          </p:cNvCxnSpPr>
          <p:nvPr/>
        </p:nvCxnSpPr>
        <p:spPr>
          <a:xfrm>
            <a:off x="9753480" y="4933800"/>
            <a:ext cx="286200" cy="36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sp>
        <p:nvSpPr>
          <p:cNvPr id="144" name=""/>
          <p:cNvSpPr/>
          <p:nvPr/>
        </p:nvSpPr>
        <p:spPr>
          <a:xfrm>
            <a:off x="819000" y="4286160"/>
            <a:ext cx="3676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13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客户端：原始数据从不离开机构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45" name=""/>
          <p:cNvSpPr/>
          <p:nvPr/>
        </p:nvSpPr>
        <p:spPr>
          <a:xfrm>
            <a:off x="8210520" y="4286160"/>
            <a:ext cx="3047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zh-CN" sz="113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服务端：只接触带噪类原型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609480" y="6058080"/>
            <a:ext cx="98103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论文攻击实验：重建结果接近随机噪声，</a:t>
            </a:r>
            <a:r>
              <a:rPr lang="en-US" sz="128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PSNR ≈ 6.9 dB</a:t>
            </a:r>
            <a:r>
              <a:rPr lang="zh-CN" sz="128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（非本项目复测）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47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02 / BREAKTHROUGH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49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几何偏离决定权重，异常与搭便车自然降权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0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1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2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3" name=""/>
          <p:cNvSpPr/>
          <p:nvPr/>
        </p:nvSpPr>
        <p:spPr>
          <a:xfrm>
            <a:off x="609480" y="1657440"/>
            <a:ext cx="49525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02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马氏距离自动隔离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4" name=""/>
          <p:cNvSpPr/>
          <p:nvPr/>
        </p:nvSpPr>
        <p:spPr>
          <a:xfrm>
            <a:off x="609480" y="2057400"/>
            <a:ext cx="4952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密度高者权重高，而不是简单“少数服从多数”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5" name=""/>
          <p:cNvSpPr/>
          <p:nvPr/>
        </p:nvSpPr>
        <p:spPr>
          <a:xfrm>
            <a:off x="609480" y="2533680"/>
            <a:ext cx="5943240" cy="2971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6" name=""/>
          <p:cNvSpPr/>
          <p:nvPr/>
        </p:nvSpPr>
        <p:spPr>
          <a:xfrm>
            <a:off x="2095560" y="321948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7" name=""/>
          <p:cNvSpPr/>
          <p:nvPr/>
        </p:nvSpPr>
        <p:spPr>
          <a:xfrm>
            <a:off x="2495520" y="358128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2247840" y="424800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59" name=""/>
          <p:cNvSpPr/>
          <p:nvPr/>
        </p:nvSpPr>
        <p:spPr>
          <a:xfrm>
            <a:off x="2990880" y="333360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60" name=""/>
          <p:cNvSpPr/>
          <p:nvPr/>
        </p:nvSpPr>
        <p:spPr>
          <a:xfrm>
            <a:off x="3390840" y="367668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2857680" y="445788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3809880" y="417204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63" name=""/>
          <p:cNvSpPr/>
          <p:nvPr/>
        </p:nvSpPr>
        <p:spPr>
          <a:xfrm>
            <a:off x="4172040" y="3486240"/>
            <a:ext cx="266400" cy="266400"/>
          </a:xfrm>
          <a:prstGeom prst="ellipse">
            <a:avLst/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 fontScale="47500" lnSpcReduction="1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4514760" y="4476600"/>
            <a:ext cx="323640" cy="323640"/>
          </a:xfrm>
          <a:prstGeom prst="ellipse">
            <a:avLst/>
          </a:prstGeom>
          <a:solidFill>
            <a:srgbClr val="E75255"/>
          </a:solidFill>
          <a:ln w="0">
            <a:solidFill>
              <a:srgbClr val="E7525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!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65" name=""/>
          <p:cNvSpPr/>
          <p:nvPr/>
        </p:nvSpPr>
        <p:spPr>
          <a:xfrm>
            <a:off x="3143160" y="3943440"/>
            <a:ext cx="437760" cy="437760"/>
          </a:xfrm>
          <a:prstGeom prst="ellipse">
            <a:avLst/>
          </a:prstGeom>
          <a:solidFill>
            <a:srgbClr val="0B1530"/>
          </a:solidFill>
          <a:ln w="0">
            <a:solidFill>
              <a:srgbClr val="0B153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μ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cxnSp>
        <p:nvCxnSpPr>
          <p:cNvPr id="166" name=""/>
          <p:cNvCxnSpPr>
            <a:stCxn id="156" idx="5"/>
            <a:endCxn id="165" idx="1"/>
          </p:cNvCxnSpPr>
          <p:nvPr/>
        </p:nvCxnSpPr>
        <p:spPr>
          <a:xfrm>
            <a:off x="2323080" y="3447000"/>
            <a:ext cx="884520" cy="56088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67" name=""/>
          <p:cNvCxnSpPr>
            <a:stCxn id="157" idx="5"/>
            <a:endCxn id="165" idx="1"/>
          </p:cNvCxnSpPr>
          <p:nvPr/>
        </p:nvCxnSpPr>
        <p:spPr>
          <a:xfrm>
            <a:off x="2723040" y="3808800"/>
            <a:ext cx="484560" cy="19908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68" name=""/>
          <p:cNvCxnSpPr>
            <a:stCxn id="158" idx="6"/>
            <a:endCxn id="165" idx="2"/>
          </p:cNvCxnSpPr>
          <p:nvPr/>
        </p:nvCxnSpPr>
        <p:spPr>
          <a:xfrm flipV="1">
            <a:off x="2514240" y="4162320"/>
            <a:ext cx="629280" cy="21924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69" name=""/>
          <p:cNvCxnSpPr>
            <a:stCxn id="159" idx="5"/>
            <a:endCxn id="165" idx="0"/>
          </p:cNvCxnSpPr>
          <p:nvPr/>
        </p:nvCxnSpPr>
        <p:spPr>
          <a:xfrm>
            <a:off x="3218400" y="3561120"/>
            <a:ext cx="144000" cy="38268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70" name=""/>
          <p:cNvCxnSpPr>
            <a:stCxn id="160" idx="4"/>
            <a:endCxn id="165" idx="7"/>
          </p:cNvCxnSpPr>
          <p:nvPr/>
        </p:nvCxnSpPr>
        <p:spPr>
          <a:xfrm flipH="1">
            <a:off x="3516840" y="3943080"/>
            <a:ext cx="7560" cy="6480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71" name=""/>
          <p:cNvCxnSpPr>
            <a:stCxn id="161" idx="7"/>
            <a:endCxn id="165" idx="3"/>
          </p:cNvCxnSpPr>
          <p:nvPr/>
        </p:nvCxnSpPr>
        <p:spPr>
          <a:xfrm flipV="1">
            <a:off x="3085200" y="4317120"/>
            <a:ext cx="122400" cy="18000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72" name=""/>
          <p:cNvCxnSpPr>
            <a:stCxn id="162" idx="2"/>
            <a:endCxn id="165" idx="6"/>
          </p:cNvCxnSpPr>
          <p:nvPr/>
        </p:nvCxnSpPr>
        <p:spPr>
          <a:xfrm flipH="1" flipV="1">
            <a:off x="3580920" y="4162320"/>
            <a:ext cx="229320" cy="14328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73" name=""/>
          <p:cNvCxnSpPr>
            <a:stCxn id="163" idx="3"/>
            <a:endCxn id="165" idx="7"/>
          </p:cNvCxnSpPr>
          <p:nvPr/>
        </p:nvCxnSpPr>
        <p:spPr>
          <a:xfrm flipH="1">
            <a:off x="3516840" y="3713760"/>
            <a:ext cx="694440" cy="294120"/>
          </a:xfrm>
          <a:prstGeom prst="straightConnector1">
            <a:avLst/>
          </a:prstGeom>
          <a:ln w="17280">
            <a:solidFill>
              <a:srgbClr val="BBDDD4"/>
            </a:solidFill>
            <a:round/>
          </a:ln>
        </p:spPr>
      </p:cxnSp>
      <p:cxnSp>
        <p:nvCxnSpPr>
          <p:cNvPr id="174" name=""/>
          <p:cNvCxnSpPr>
            <a:stCxn id="164" idx="1"/>
            <a:endCxn id="165" idx="6"/>
          </p:cNvCxnSpPr>
          <p:nvPr/>
        </p:nvCxnSpPr>
        <p:spPr>
          <a:xfrm flipH="1" flipV="1">
            <a:off x="3580920" y="4162320"/>
            <a:ext cx="981360" cy="361800"/>
          </a:xfrm>
          <a:prstGeom prst="straightConnector1">
            <a:avLst/>
          </a:prstGeom>
          <a:ln w="11520">
            <a:solidFill>
              <a:srgbClr val="F4B4B5"/>
            </a:solidFill>
            <a:prstDash val="dash"/>
            <a:round/>
          </a:ln>
        </p:spPr>
      </p:cxnSp>
      <p:sp>
        <p:nvSpPr>
          <p:cNvPr id="175" name=""/>
          <p:cNvSpPr/>
          <p:nvPr/>
        </p:nvSpPr>
        <p:spPr>
          <a:xfrm>
            <a:off x="1028880" y="4952880"/>
            <a:ext cx="50479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离群越远 → 马氏距离越大 → 反距离权重越接近 </a:t>
            </a:r>
            <a:r>
              <a:rPr lang="en-US" sz="150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76" name=""/>
          <p:cNvSpPr/>
          <p:nvPr/>
        </p:nvSpPr>
        <p:spPr>
          <a:xfrm>
            <a:off x="6991200" y="1657440"/>
            <a:ext cx="1523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机制链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77" name=""/>
          <p:cNvSpPr/>
          <p:nvPr/>
        </p:nvSpPr>
        <p:spPr>
          <a:xfrm>
            <a:off x="6972480" y="2114640"/>
            <a:ext cx="1999800" cy="875880"/>
          </a:xfrm>
          <a:prstGeom prst="roundRect">
            <a:avLst>
              <a:gd name="adj" fmla="val 13043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7086600" y="2238480"/>
            <a:ext cx="342720" cy="342720"/>
          </a:xfrm>
          <a:prstGeom prst="ellipse">
            <a:avLst/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1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79" name=""/>
          <p:cNvSpPr/>
          <p:nvPr/>
        </p:nvSpPr>
        <p:spPr>
          <a:xfrm>
            <a:off x="7524720" y="2238480"/>
            <a:ext cx="13330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>
              <a:lnSpc>
                <a:spcPct val="100000"/>
              </a:lnSpc>
            </a:pPr>
            <a:r>
              <a:rPr lang="en-US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K-Means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求中心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0" name=""/>
          <p:cNvSpPr/>
          <p:nvPr/>
        </p:nvSpPr>
        <p:spPr>
          <a:xfrm>
            <a:off x="9220320" y="2114640"/>
            <a:ext cx="1999800" cy="875880"/>
          </a:xfrm>
          <a:prstGeom prst="roundRect">
            <a:avLst>
              <a:gd name="adj" fmla="val 13043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1" name=""/>
          <p:cNvSpPr/>
          <p:nvPr/>
        </p:nvSpPr>
        <p:spPr>
          <a:xfrm>
            <a:off x="9334440" y="2238480"/>
            <a:ext cx="342720" cy="342720"/>
          </a:xfrm>
          <a:prstGeom prst="ellipse">
            <a:avLst/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2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82" name=""/>
          <p:cNvSpPr/>
          <p:nvPr/>
        </p:nvSpPr>
        <p:spPr>
          <a:xfrm>
            <a:off x="9772560" y="2238480"/>
            <a:ext cx="13330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马氏距离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量偏离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3" name=""/>
          <p:cNvSpPr/>
          <p:nvPr/>
        </p:nvSpPr>
        <p:spPr>
          <a:xfrm>
            <a:off x="6972480" y="3314880"/>
            <a:ext cx="1999800" cy="875880"/>
          </a:xfrm>
          <a:prstGeom prst="roundRect">
            <a:avLst>
              <a:gd name="adj" fmla="val 13043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4" name=""/>
          <p:cNvSpPr/>
          <p:nvPr/>
        </p:nvSpPr>
        <p:spPr>
          <a:xfrm>
            <a:off x="7086600" y="3438360"/>
            <a:ext cx="342720" cy="342720"/>
          </a:xfrm>
          <a:prstGeom prst="ellipse">
            <a:avLst/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3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85" name=""/>
          <p:cNvSpPr/>
          <p:nvPr/>
        </p:nvSpPr>
        <p:spPr>
          <a:xfrm>
            <a:off x="7524720" y="3438360"/>
            <a:ext cx="13330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反距离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生成权重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9220320" y="3314880"/>
            <a:ext cx="1999800" cy="875880"/>
          </a:xfrm>
          <a:prstGeom prst="roundRect">
            <a:avLst>
              <a:gd name="adj" fmla="val 13043"/>
            </a:avLst>
          </a:prstGeom>
          <a:solidFill>
            <a:srgbClr val="FDE8E8"/>
          </a:solidFill>
          <a:ln w="11520">
            <a:solidFill>
              <a:srgbClr val="E752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87" name=""/>
          <p:cNvSpPr/>
          <p:nvPr/>
        </p:nvSpPr>
        <p:spPr>
          <a:xfrm>
            <a:off x="9334440" y="3438360"/>
            <a:ext cx="342720" cy="342720"/>
          </a:xfrm>
          <a:prstGeom prst="ellipse">
            <a:avLst/>
          </a:prstGeom>
          <a:solidFill>
            <a:srgbClr val="E75255"/>
          </a:solidFill>
          <a:ln w="0">
            <a:solidFill>
              <a:srgbClr val="E7525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4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188" name=""/>
          <p:cNvSpPr/>
          <p:nvPr/>
        </p:nvSpPr>
        <p:spPr>
          <a:xfrm>
            <a:off x="9772560" y="3438360"/>
            <a:ext cx="13330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离群节点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近零贡献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cxnSp>
        <p:nvCxnSpPr>
          <p:cNvPr id="189" name=""/>
          <p:cNvCxnSpPr>
            <a:stCxn id="177" idx="3"/>
            <a:endCxn id="180" idx="1"/>
          </p:cNvCxnSpPr>
          <p:nvPr/>
        </p:nvCxnSpPr>
        <p:spPr>
          <a:xfrm>
            <a:off x="8972280" y="2552760"/>
            <a:ext cx="248400" cy="36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190" name=""/>
          <p:cNvCxnSpPr>
            <a:stCxn id="180" idx="2"/>
            <a:endCxn id="183" idx="0"/>
          </p:cNvCxnSpPr>
          <p:nvPr/>
        </p:nvCxnSpPr>
        <p:spPr>
          <a:xfrm rot="5400000">
            <a:off x="8934120" y="2028600"/>
            <a:ext cx="324720" cy="2248200"/>
          </a:xfrm>
          <a:prstGeom prst="bentConnector3">
            <a:avLst>
              <a:gd name="adj1" fmla="val 50055"/>
            </a:avLst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cxnSp>
        <p:nvCxnSpPr>
          <p:cNvPr id="191" name=""/>
          <p:cNvCxnSpPr>
            <a:stCxn id="183" idx="3"/>
            <a:endCxn id="186" idx="1"/>
          </p:cNvCxnSpPr>
          <p:nvPr/>
        </p:nvCxnSpPr>
        <p:spPr>
          <a:xfrm>
            <a:off x="8972280" y="3753000"/>
            <a:ext cx="248400" cy="360"/>
          </a:xfrm>
          <a:prstGeom prst="straightConnector1">
            <a:avLst/>
          </a:prstGeom>
          <a:ln w="19080">
            <a:solidFill>
              <a:srgbClr val="2F6BFF"/>
            </a:solidFill>
            <a:round/>
            <a:tailEnd len="sm" type="triangle" w="sm"/>
          </a:ln>
        </p:spPr>
      </p:cxnSp>
      <p:sp>
        <p:nvSpPr>
          <p:cNvPr id="192" name=""/>
          <p:cNvSpPr/>
          <p:nvPr/>
        </p:nvSpPr>
        <p:spPr>
          <a:xfrm>
            <a:off x="6972480" y="4629240"/>
            <a:ext cx="4266720" cy="875880"/>
          </a:xfrm>
          <a:prstGeom prst="roundRect">
            <a:avLst>
              <a:gd name="adj" fmla="val 13043"/>
            </a:avLst>
          </a:prstGeom>
          <a:solidFill>
            <a:srgbClr val="FFF4DD"/>
          </a:solidFill>
          <a:ln w="9360">
            <a:solidFill>
              <a:srgbClr val="F2D5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3" name=""/>
          <p:cNvSpPr/>
          <p:nvPr/>
        </p:nvSpPr>
        <p:spPr>
          <a:xfrm>
            <a:off x="7182000" y="4800600"/>
            <a:ext cx="28573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6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Fisher </a:t>
            </a:r>
            <a:r>
              <a:rPr lang="zh-CN" sz="16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信息量化贡献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4" name=""/>
          <p:cNvSpPr/>
          <p:nvPr/>
        </p:nvSpPr>
        <p:spPr>
          <a:xfrm>
            <a:off x="7182000" y="5143680"/>
            <a:ext cx="371448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关键知识权重大；搭便车节点自动降权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5" name=""/>
          <p:cNvSpPr/>
          <p:nvPr/>
        </p:nvSpPr>
        <p:spPr>
          <a:xfrm>
            <a:off x="609480" y="5981760"/>
            <a:ext cx="5238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050" b="0" i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机制性质：本页不声称已完成投毒对抗实测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6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02 / BREAKTHROUGH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8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φ(t) </a:t>
            </a: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自动完成“先学本地、再吸收全局”的阶段切换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199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F59E0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1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08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609480" y="1676520"/>
            <a:ext cx="6667200" cy="39049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graphicFrame>
        <p:nvGraphicFramePr>
          <p:cNvPr id="203" name="Chart"/>
          <p:cNvGraphicFramePr/>
          <p:nvPr/>
        </p:nvGraphicFramePr>
        <p:xfrm>
          <a:off x="895320" y="2048040"/>
          <a:ext cx="6095520" cy="285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4" name=""/>
          <p:cNvSpPr/>
          <p:nvPr/>
        </p:nvSpPr>
        <p:spPr>
          <a:xfrm>
            <a:off x="1181160" y="5048280"/>
            <a:ext cx="1428480" cy="304560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 w="9360">
            <a:solidFill>
              <a:srgbClr val="FFF4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130" b="1" u="none" strike="noStrike">
                <a:solidFill>
                  <a:srgbClr val="A45D00"/>
                </a:solidFill>
                <a:effectLst/>
                <a:uFillTx/>
                <a:latin typeface="Noto Sans CJK SC"/>
                <a:ea typeface="Noto Sans CJK SC"/>
              </a:rPr>
              <a:t>早期：偏本地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5" name=""/>
          <p:cNvSpPr/>
          <p:nvPr/>
        </p:nvSpPr>
        <p:spPr>
          <a:xfrm>
            <a:off x="5238720" y="5048280"/>
            <a:ext cx="1428480" cy="304560"/>
          </a:xfrm>
          <a:prstGeom prst="roundRect">
            <a:avLst>
              <a:gd name="adj" fmla="val 50000"/>
            </a:avLst>
          </a:prstGeom>
          <a:solidFill>
            <a:srgbClr val="E5FAFC"/>
          </a:solidFill>
          <a:ln w="9360">
            <a:solidFill>
              <a:srgbClr val="E5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130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后期：偏全局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6" name=""/>
          <p:cNvSpPr/>
          <p:nvPr/>
        </p:nvSpPr>
        <p:spPr>
          <a:xfrm>
            <a:off x="7658280" y="1790640"/>
            <a:ext cx="36190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9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双对齐权重如何变化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7" name=""/>
          <p:cNvSpPr/>
          <p:nvPr/>
        </p:nvSpPr>
        <p:spPr>
          <a:xfrm>
            <a:off x="7658280" y="2286000"/>
            <a:ext cx="3924000" cy="1066320"/>
          </a:xfrm>
          <a:prstGeom prst="roundRect">
            <a:avLst>
              <a:gd name="adj" fmla="val 7143"/>
            </a:avLst>
          </a:prstGeom>
          <a:solidFill>
            <a:srgbClr val="FFF4DD"/>
          </a:solidFill>
          <a:ln w="9360">
            <a:solidFill>
              <a:srgbClr val="EFD5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8" name=""/>
          <p:cNvSpPr/>
          <p:nvPr/>
        </p:nvSpPr>
        <p:spPr>
          <a:xfrm>
            <a:off x="7886880" y="2457360"/>
            <a:ext cx="13521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729" b="1" u="none" strike="noStrike">
                <a:solidFill>
                  <a:srgbClr val="9A5B00"/>
                </a:solidFill>
                <a:effectLst/>
                <a:uFillTx/>
                <a:latin typeface="Noto Sans CJK SC"/>
                <a:ea typeface="Noto Sans CJK SC"/>
              </a:rPr>
              <a:t>本地对齐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09" name=""/>
          <p:cNvSpPr/>
          <p:nvPr/>
        </p:nvSpPr>
        <p:spPr>
          <a:xfrm>
            <a:off x="7886880" y="2876400"/>
            <a:ext cx="24001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保留本机构个性化威胁特征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0" name=""/>
          <p:cNvSpPr/>
          <p:nvPr/>
        </p:nvSpPr>
        <p:spPr>
          <a:xfrm>
            <a:off x="9963000" y="2590920"/>
            <a:ext cx="1390320" cy="3614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E5C4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200" b="1" u="none" strike="noStrike">
                <a:solidFill>
                  <a:srgbClr val="9A5B00"/>
                </a:solidFill>
                <a:effectLst/>
                <a:uFillTx/>
                <a:latin typeface="Noto Sans CJK SC"/>
                <a:ea typeface="Noto Sans CJK SC"/>
              </a:rPr>
              <a:t>权重 </a:t>
            </a:r>
            <a:r>
              <a:rPr lang="en-US" sz="1200" b="1" u="none" strike="noStrike">
                <a:solidFill>
                  <a:srgbClr val="9A5B00"/>
                </a:solidFill>
                <a:effectLst/>
                <a:uFillTx/>
                <a:latin typeface="Noto Sans CJK SC"/>
                <a:ea typeface="Noto Sans CJK SC"/>
              </a:rPr>
              <a:t>1 − φ(t)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1" name=""/>
          <p:cNvSpPr/>
          <p:nvPr/>
        </p:nvSpPr>
        <p:spPr>
          <a:xfrm>
            <a:off x="7658280" y="3524400"/>
            <a:ext cx="3924000" cy="1066320"/>
          </a:xfrm>
          <a:prstGeom prst="roundRect">
            <a:avLst>
              <a:gd name="adj" fmla="val 7143"/>
            </a:avLst>
          </a:prstGeom>
          <a:solidFill>
            <a:srgbClr val="E5FAFC"/>
          </a:solidFill>
          <a:ln w="9360">
            <a:solidFill>
              <a:srgbClr val="BDEC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2" name=""/>
          <p:cNvSpPr/>
          <p:nvPr/>
        </p:nvSpPr>
        <p:spPr>
          <a:xfrm>
            <a:off x="7886880" y="3695760"/>
            <a:ext cx="13521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729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全局对齐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3" name=""/>
          <p:cNvSpPr/>
          <p:nvPr/>
        </p:nvSpPr>
        <p:spPr>
          <a:xfrm>
            <a:off x="7886880" y="4114800"/>
            <a:ext cx="24001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吸收联盟跨机构共识知识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4" name=""/>
          <p:cNvSpPr/>
          <p:nvPr/>
        </p:nvSpPr>
        <p:spPr>
          <a:xfrm>
            <a:off x="10096560" y="3828960"/>
            <a:ext cx="1257120" cy="3614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83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200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权重 </a:t>
            </a:r>
            <a:r>
              <a:rPr lang="en-US" sz="1200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φ(t)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5" name=""/>
          <p:cNvSpPr/>
          <p:nvPr/>
        </p:nvSpPr>
        <p:spPr>
          <a:xfrm>
            <a:off x="7658280" y="4876920"/>
            <a:ext cx="3924000" cy="780840"/>
          </a:xfrm>
          <a:prstGeom prst="roundRect">
            <a:avLst>
              <a:gd name="adj" fmla="val 9756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16" name=""/>
          <p:cNvSpPr/>
          <p:nvPr/>
        </p:nvSpPr>
        <p:spPr>
          <a:xfrm>
            <a:off x="7886880" y="5029200"/>
            <a:ext cx="3466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 lnSpcReduction="9999"/>
          </a:bodyPr>
          <a:p>
            <a:pPr algn="ctr">
              <a:lnSpc>
                <a:spcPct val="108000"/>
              </a:lnSpc>
            </a:pPr>
            <a:r>
              <a:rPr lang="zh-CN" sz="187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随训练轮次自动切换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7" name=""/>
          <p:cNvSpPr/>
          <p:nvPr/>
        </p:nvSpPr>
        <p:spPr>
          <a:xfrm>
            <a:off x="7886880" y="5343480"/>
            <a:ext cx="3466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200" b="0" u="none" strike="noStrike">
                <a:solidFill>
                  <a:srgbClr val="B8C7E1"/>
                </a:solidFill>
                <a:effectLst/>
                <a:uFillTx/>
                <a:latin typeface="Noto Sans CJK SC"/>
                <a:ea typeface="Noto Sans CJK SC"/>
              </a:rPr>
              <a:t>早期偏本地  →  后期偏全局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3200400" y="2286000"/>
            <a:ext cx="61722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r>
              <a:rPr lang="zh-CN" sz="66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实验验证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0" name=""/>
          <p:cNvSpPr/>
          <p:nvPr/>
        </p:nvSpPr>
        <p:spPr>
          <a:xfrm>
            <a:off x="838080" y="1352880"/>
            <a:ext cx="1104480" cy="3780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1" name=""/>
          <p:cNvSpPr/>
          <p:nvPr/>
        </p:nvSpPr>
        <p:spPr>
          <a:xfrm>
            <a:off x="1104840" y="5143680"/>
            <a:ext cx="2476080" cy="18720"/>
          </a:xfrm>
          <a:prstGeom prst="roundRect">
            <a:avLst>
              <a:gd name="adj" fmla="val 50000"/>
            </a:avLst>
          </a:prstGeom>
          <a:solidFill>
            <a:srgbClr val="33456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1320" rIns="90000" bIns="-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10363680" y="4953240"/>
            <a:ext cx="704520" cy="704520"/>
          </a:xfrm>
          <a:prstGeom prst="ellipse">
            <a:avLst/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3" name=""/>
          <p:cNvSpPr/>
          <p:nvPr/>
        </p:nvSpPr>
        <p:spPr>
          <a:xfrm>
            <a:off x="9658440" y="876240"/>
            <a:ext cx="1428480" cy="1428480"/>
          </a:xfrm>
          <a:prstGeom prst="ellipse">
            <a:avLst/>
          </a:prstGeom>
          <a:solidFill>
            <a:srgbClr val="D4EA6B"/>
          </a:solidFill>
          <a:ln w="9360">
            <a:solidFill>
              <a:srgbClr val="F6F9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914400" y="707760"/>
            <a:ext cx="632520" cy="6451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lnSpc>
                <a:spcPct val="108000"/>
              </a:lnSpc>
            </a:pPr>
            <a:r>
              <a:rPr lang="en-US" sz="280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03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03 / EVIDENCE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6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异构数据上，</a:t>
            </a:r>
            <a:r>
              <a:rPr lang="en-US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FedPKDA </a:t>
            </a: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的提升不是边际改进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7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28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29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0" name=""/>
          <p:cNvSpPr/>
          <p:nvPr/>
        </p:nvSpPr>
        <p:spPr>
          <a:xfrm>
            <a:off x="6762600" y="324000"/>
            <a:ext cx="4285800" cy="28548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9360">
            <a:solidFill>
              <a:srgbClr val="EAF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论文背书：</a:t>
            </a: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CIFAR-100 44.91%</a:t>
            </a:r>
            <a:r>
              <a:rPr lang="zh-CN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，领先 </a:t>
            </a: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FedAS 4.23pp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1" name=""/>
          <p:cNvSpPr/>
          <p:nvPr/>
        </p:nvSpPr>
        <p:spPr>
          <a:xfrm>
            <a:off x="552600" y="1638360"/>
            <a:ext cx="5352840" cy="33145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2" name=""/>
          <p:cNvSpPr/>
          <p:nvPr/>
        </p:nvSpPr>
        <p:spPr>
          <a:xfrm>
            <a:off x="610560" y="1695600"/>
            <a:ext cx="5236560" cy="3200040"/>
          </a:xfrm>
          <a:prstGeom prst="roundRect">
            <a:avLst>
              <a:gd name="adj" fmla="val 2381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3" name=""/>
          <p:cNvSpPr/>
          <p:nvPr/>
        </p:nvSpPr>
        <p:spPr>
          <a:xfrm>
            <a:off x="6286680" y="1638360"/>
            <a:ext cx="5352840" cy="33145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4" name=""/>
          <p:cNvSpPr/>
          <p:nvPr/>
        </p:nvSpPr>
        <p:spPr>
          <a:xfrm>
            <a:off x="6344640" y="1695600"/>
            <a:ext cx="5236560" cy="3200040"/>
          </a:xfrm>
          <a:prstGeom prst="roundRect">
            <a:avLst>
              <a:gd name="adj" fmla="val 2381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5" name=""/>
          <p:cNvSpPr/>
          <p:nvPr/>
        </p:nvSpPr>
        <p:spPr>
          <a:xfrm>
            <a:off x="609480" y="5105520"/>
            <a:ext cx="2381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28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CIFAR-100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609480" y="5410080"/>
            <a:ext cx="1809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8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45.29%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7" name=""/>
          <p:cNvSpPr/>
          <p:nvPr/>
        </p:nvSpPr>
        <p:spPr>
          <a:xfrm>
            <a:off x="2457360" y="552456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vs FedAvg 27.87%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4629240" y="5429160"/>
            <a:ext cx="1142640" cy="36144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9360">
            <a:solidFill>
              <a:srgbClr val="FD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+17.42pp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39" name=""/>
          <p:cNvSpPr/>
          <p:nvPr/>
        </p:nvSpPr>
        <p:spPr>
          <a:xfrm>
            <a:off x="6343560" y="5105520"/>
            <a:ext cx="2381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28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Flowers102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0" name=""/>
          <p:cNvSpPr/>
          <p:nvPr/>
        </p:nvSpPr>
        <p:spPr>
          <a:xfrm>
            <a:off x="6343560" y="5410080"/>
            <a:ext cx="1809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8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36.65%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1" name=""/>
          <p:cNvSpPr/>
          <p:nvPr/>
        </p:nvSpPr>
        <p:spPr>
          <a:xfrm>
            <a:off x="8191440" y="552456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vs FedAvg 30.15%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2" name=""/>
          <p:cNvSpPr/>
          <p:nvPr/>
        </p:nvSpPr>
        <p:spPr>
          <a:xfrm>
            <a:off x="10382400" y="5429160"/>
            <a:ext cx="1104480" cy="361440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9360">
            <a:solidFill>
              <a:srgbClr val="FD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en-US" sz="135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+6.50pp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3" name=""/>
          <p:cNvSpPr/>
          <p:nvPr/>
        </p:nvSpPr>
        <p:spPr>
          <a:xfrm>
            <a:off x="609480" y="6114960"/>
            <a:ext cx="89532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项目实测：</a:t>
            </a:r>
            <a:r>
              <a:rPr lang="en-US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3 </a:t>
            </a:r>
            <a:r>
              <a:rPr lang="zh-CN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数据集、</a:t>
            </a:r>
            <a:r>
              <a:rPr lang="en-US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15 </a:t>
            </a:r>
            <a:r>
              <a:rPr lang="zh-CN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组实验、每组 </a:t>
            </a:r>
            <a:r>
              <a:rPr lang="en-US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run=0</a:t>
            </a:r>
            <a:r>
              <a:rPr lang="zh-CN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；误差带为客户端间测试精度 </a:t>
            </a:r>
            <a:r>
              <a:rPr lang="en-US" sz="105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std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4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03 / EVIDENCE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6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安全联盟真正需要的不是峰值，而是稀疏参与下不崩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7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48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E75255"/>
          </a:solidFill>
          <a:ln w="0">
            <a:solidFill>
              <a:srgbClr val="E7525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49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0" name=""/>
          <p:cNvSpPr/>
          <p:nvPr/>
        </p:nvSpPr>
        <p:spPr>
          <a:xfrm>
            <a:off x="552600" y="1619280"/>
            <a:ext cx="7448040" cy="4590720"/>
          </a:xfrm>
          <a:prstGeom prst="roundRect">
            <a:avLst>
              <a:gd name="adj" fmla="val 2490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1" name=""/>
          <p:cNvSpPr/>
          <p:nvPr/>
        </p:nvSpPr>
        <p:spPr>
          <a:xfrm>
            <a:off x="613800" y="1676520"/>
            <a:ext cx="7325280" cy="4476240"/>
          </a:xfrm>
          <a:prstGeom prst="roundRect">
            <a:avLst>
              <a:gd name="adj" fmla="val 1702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2" name=""/>
          <p:cNvSpPr/>
          <p:nvPr/>
        </p:nvSpPr>
        <p:spPr>
          <a:xfrm>
            <a:off x="8325000" y="1676520"/>
            <a:ext cx="3257280" cy="1790280"/>
          </a:xfrm>
          <a:prstGeom prst="roundRect">
            <a:avLst>
              <a:gd name="adj" fmla="val 6383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53" name=""/>
          <p:cNvSpPr/>
          <p:nvPr/>
        </p:nvSpPr>
        <p:spPr>
          <a:xfrm>
            <a:off x="8572680" y="1886040"/>
            <a:ext cx="2190240" cy="304560"/>
          </a:xfrm>
          <a:prstGeom prst="roundRect">
            <a:avLst>
              <a:gd name="adj" fmla="val 50000"/>
            </a:avLst>
          </a:prstGeom>
          <a:solidFill>
            <a:srgbClr val="26395F"/>
          </a:solidFill>
          <a:ln w="9360">
            <a:solidFill>
              <a:srgbClr val="2639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0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极端稀疏参与 </a:t>
            </a: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jr=0.1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8572680" y="2362320"/>
            <a:ext cx="11235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280" b="1" u="none" strike="noStrike">
                <a:solidFill>
                  <a:srgbClr val="FFB6B8"/>
                </a:solidFill>
                <a:effectLst/>
                <a:uFillTx/>
                <a:latin typeface="Noto Sans CJK SC"/>
                <a:ea typeface="Noto Sans CJK SC"/>
              </a:rPr>
              <a:t>FedAvg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5" name=""/>
          <p:cNvSpPr/>
          <p:nvPr/>
        </p:nvSpPr>
        <p:spPr>
          <a:xfrm>
            <a:off x="8572680" y="2647800"/>
            <a:ext cx="26287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94.09 → 53.39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6" name=""/>
          <p:cNvSpPr/>
          <p:nvPr/>
        </p:nvSpPr>
        <p:spPr>
          <a:xfrm>
            <a:off x="8572680" y="3105000"/>
            <a:ext cx="23810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350" b="1" u="none" strike="noStrike">
                <a:solidFill>
                  <a:srgbClr val="FFB6B8"/>
                </a:solidFill>
                <a:effectLst/>
                <a:uFillTx/>
                <a:latin typeface="Noto Sans CJK SC"/>
                <a:ea typeface="Noto Sans CJK SC"/>
              </a:rPr>
              <a:t>-40.7pp </a:t>
            </a:r>
            <a:r>
              <a:rPr lang="zh-CN" sz="1350" b="1" u="none" strike="noStrike">
                <a:solidFill>
                  <a:srgbClr val="FFB6B8"/>
                </a:solidFill>
                <a:effectLst/>
                <a:uFillTx/>
                <a:latin typeface="Noto Sans CJK SC"/>
                <a:ea typeface="Noto Sans CJK SC"/>
              </a:rPr>
              <a:t>崩塌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7" name=""/>
          <p:cNvSpPr/>
          <p:nvPr/>
        </p:nvSpPr>
        <p:spPr>
          <a:xfrm>
            <a:off x="8325000" y="3638520"/>
            <a:ext cx="3257280" cy="1790280"/>
          </a:xfrm>
          <a:prstGeom prst="roundRect">
            <a:avLst>
              <a:gd name="adj" fmla="val 6383"/>
            </a:avLst>
          </a:prstGeom>
          <a:solidFill>
            <a:srgbClr val="E5FAFC"/>
          </a:solidFill>
          <a:ln w="9360">
            <a:solidFill>
              <a:srgbClr val="BDECF1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8" name=""/>
          <p:cNvSpPr/>
          <p:nvPr/>
        </p:nvSpPr>
        <p:spPr>
          <a:xfrm>
            <a:off x="8572680" y="3905280"/>
            <a:ext cx="14284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2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FedPKDA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59" name=""/>
          <p:cNvSpPr/>
          <p:nvPr/>
        </p:nvSpPr>
        <p:spPr>
          <a:xfrm>
            <a:off x="8572680" y="4248000"/>
            <a:ext cx="26856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2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99.67 → 99.66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8572680" y="4743360"/>
            <a:ext cx="2476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±0.01pp</a:t>
            </a: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，稳定收敛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1" name=""/>
          <p:cNvSpPr/>
          <p:nvPr/>
        </p:nvSpPr>
        <p:spPr>
          <a:xfrm>
            <a:off x="8325000" y="5638680"/>
            <a:ext cx="325728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2" name=""/>
          <p:cNvSpPr/>
          <p:nvPr/>
        </p:nvSpPr>
        <p:spPr>
          <a:xfrm>
            <a:off x="8439120" y="5829480"/>
            <a:ext cx="133308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0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最后 </a:t>
            </a:r>
            <a:r>
              <a:rPr lang="en-US" sz="120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10 </a:t>
            </a:r>
            <a:r>
              <a:rPr lang="zh-CN" sz="120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轮 </a:t>
            </a:r>
            <a:r>
              <a:rPr lang="en-US" sz="120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std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3" name=""/>
          <p:cNvSpPr/>
          <p:nvPr/>
        </p:nvSpPr>
        <p:spPr>
          <a:xfrm>
            <a:off x="9677520" y="5810400"/>
            <a:ext cx="1714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28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FedAvg 1.2-15.7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4" name=""/>
          <p:cNvSpPr/>
          <p:nvPr/>
        </p:nvSpPr>
        <p:spPr>
          <a:xfrm>
            <a:off x="9677520" y="6095880"/>
            <a:ext cx="1714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28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FedPKDA 0.00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5" name=""/>
          <p:cNvSpPr/>
          <p:nvPr/>
        </p:nvSpPr>
        <p:spPr>
          <a:xfrm>
            <a:off x="609480" y="6229440"/>
            <a:ext cx="69530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9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项目实测 </a:t>
            </a:r>
            <a:r>
              <a:rPr lang="en-US" sz="9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· run=0 · </a:t>
            </a:r>
            <a:r>
              <a:rPr lang="zh-CN" sz="9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稳定性用 </a:t>
            </a:r>
            <a:r>
              <a:rPr lang="en-US" sz="9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best→final </a:t>
            </a:r>
            <a:r>
              <a:rPr lang="zh-CN" sz="98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与收敛后波动表述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6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3200400" y="2286000"/>
            <a:ext cx="61722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r>
              <a:rPr lang="zh-CN" sz="66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系统设计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8" name=""/>
          <p:cNvSpPr/>
          <p:nvPr/>
        </p:nvSpPr>
        <p:spPr>
          <a:xfrm>
            <a:off x="838080" y="1352880"/>
            <a:ext cx="1104480" cy="3780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69" name=""/>
          <p:cNvSpPr/>
          <p:nvPr/>
        </p:nvSpPr>
        <p:spPr>
          <a:xfrm>
            <a:off x="1104840" y="5143680"/>
            <a:ext cx="2476080" cy="18720"/>
          </a:xfrm>
          <a:prstGeom prst="roundRect">
            <a:avLst>
              <a:gd name="adj" fmla="val 50000"/>
            </a:avLst>
          </a:prstGeom>
          <a:solidFill>
            <a:srgbClr val="33456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1320" rIns="90000" bIns="-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70" name=""/>
          <p:cNvSpPr/>
          <p:nvPr/>
        </p:nvSpPr>
        <p:spPr>
          <a:xfrm>
            <a:off x="10363680" y="4953240"/>
            <a:ext cx="704520" cy="704520"/>
          </a:xfrm>
          <a:prstGeom prst="ellipse">
            <a:avLst/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1" name=""/>
          <p:cNvSpPr/>
          <p:nvPr/>
        </p:nvSpPr>
        <p:spPr>
          <a:xfrm>
            <a:off x="9658440" y="876240"/>
            <a:ext cx="1428480" cy="1428480"/>
          </a:xfrm>
          <a:prstGeom prst="ellipse">
            <a:avLst/>
          </a:prstGeom>
          <a:solidFill>
            <a:srgbClr val="D4EA6B"/>
          </a:solidFill>
          <a:ln w="9360">
            <a:solidFill>
              <a:srgbClr val="F6F9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914400" y="745560"/>
            <a:ext cx="632520" cy="6451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lnSpc>
                <a:spcPct val="108000"/>
              </a:lnSpc>
            </a:pPr>
            <a:r>
              <a:rPr lang="en-US" sz="280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04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04 / SYSTEM ARCHITECTURE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4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0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模型聚合与原型聚合两条闭环，共同驱动 </a:t>
            </a:r>
            <a:r>
              <a:rPr lang="en-US" sz="30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FedPKDA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5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6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7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8" name=""/>
          <p:cNvSpPr/>
          <p:nvPr/>
        </p:nvSpPr>
        <p:spPr>
          <a:xfrm>
            <a:off x="609480" y="1619280"/>
            <a:ext cx="10972440" cy="1161720"/>
          </a:xfrm>
          <a:prstGeom prst="roundRect">
            <a:avLst>
              <a:gd name="adj" fmla="val 6557"/>
            </a:avLst>
          </a:prstGeom>
          <a:solidFill>
            <a:srgbClr val="F4F7FB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79" name=""/>
          <p:cNvSpPr/>
          <p:nvPr/>
        </p:nvSpPr>
        <p:spPr>
          <a:xfrm>
            <a:off x="609480" y="3143160"/>
            <a:ext cx="10972440" cy="133308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609480" y="4876920"/>
            <a:ext cx="10972440" cy="1257120"/>
          </a:xfrm>
          <a:prstGeom prst="roundRect">
            <a:avLst>
              <a:gd name="adj" fmla="val 6061"/>
            </a:avLst>
          </a:prstGeom>
          <a:solidFill>
            <a:srgbClr val="F4F7FB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1" name=""/>
          <p:cNvSpPr/>
          <p:nvPr/>
        </p:nvSpPr>
        <p:spPr>
          <a:xfrm>
            <a:off x="3772080" y="2181240"/>
            <a:ext cx="856800" cy="17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0680" rIns="90000" bIns="406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82" name=""/>
          <p:cNvSpPr/>
          <p:nvPr/>
        </p:nvSpPr>
        <p:spPr>
          <a:xfrm>
            <a:off x="7543800" y="2181240"/>
            <a:ext cx="856800" cy="17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0680" rIns="90000" bIns="406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83" name=""/>
          <p:cNvSpPr/>
          <p:nvPr/>
        </p:nvSpPr>
        <p:spPr>
          <a:xfrm>
            <a:off x="2685960" y="3781440"/>
            <a:ext cx="2282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4" name=""/>
          <p:cNvSpPr/>
          <p:nvPr/>
        </p:nvSpPr>
        <p:spPr>
          <a:xfrm>
            <a:off x="4762440" y="3781440"/>
            <a:ext cx="2282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5" name=""/>
          <p:cNvSpPr/>
          <p:nvPr/>
        </p:nvSpPr>
        <p:spPr>
          <a:xfrm>
            <a:off x="6838920" y="3781440"/>
            <a:ext cx="2282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6" name=""/>
          <p:cNvSpPr/>
          <p:nvPr/>
        </p:nvSpPr>
        <p:spPr>
          <a:xfrm>
            <a:off x="8915400" y="3781440"/>
            <a:ext cx="2282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87" name=""/>
          <p:cNvSpPr/>
          <p:nvPr/>
        </p:nvSpPr>
        <p:spPr>
          <a:xfrm>
            <a:off x="3143160" y="5524560"/>
            <a:ext cx="3236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88" name=""/>
          <p:cNvSpPr/>
          <p:nvPr/>
        </p:nvSpPr>
        <p:spPr>
          <a:xfrm>
            <a:off x="5829480" y="5524560"/>
            <a:ext cx="3236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89" name=""/>
          <p:cNvSpPr/>
          <p:nvPr/>
        </p:nvSpPr>
        <p:spPr>
          <a:xfrm>
            <a:off x="8515440" y="5524560"/>
            <a:ext cx="323640" cy="151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290" name=""/>
          <p:cNvSpPr/>
          <p:nvPr/>
        </p:nvSpPr>
        <p:spPr>
          <a:xfrm>
            <a:off x="838080" y="1714680"/>
            <a:ext cx="2095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模型聚合引擎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1" name=""/>
          <p:cNvSpPr/>
          <p:nvPr/>
        </p:nvSpPr>
        <p:spPr>
          <a:xfrm>
            <a:off x="1104840" y="2038320"/>
            <a:ext cx="2571480" cy="590040"/>
          </a:xfrm>
          <a:prstGeom prst="roundRect">
            <a:avLst>
              <a:gd name="adj" fmla="val 12903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收集本地模型参数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4857840" y="2038320"/>
            <a:ext cx="2571480" cy="590040"/>
          </a:xfrm>
          <a:prstGeom prst="roundRect">
            <a:avLst>
              <a:gd name="adj" fmla="val 12903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en-US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Fisher </a:t>
            </a: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信息矩阵加权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3" name=""/>
          <p:cNvSpPr/>
          <p:nvPr/>
        </p:nvSpPr>
        <p:spPr>
          <a:xfrm>
            <a:off x="8629560" y="2038320"/>
            <a:ext cx="2571480" cy="590040"/>
          </a:xfrm>
          <a:prstGeom prst="roundRect">
            <a:avLst>
              <a:gd name="adj" fmla="val 12903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生成全局模型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4" name=""/>
          <p:cNvSpPr/>
          <p:nvPr/>
        </p:nvSpPr>
        <p:spPr>
          <a:xfrm>
            <a:off x="3352680" y="2857680"/>
            <a:ext cx="5524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en-US" sz="12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↑ 上行：本地模型参数                 ↓ 下行：全局模型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5" name=""/>
          <p:cNvSpPr/>
          <p:nvPr/>
        </p:nvSpPr>
        <p:spPr>
          <a:xfrm>
            <a:off x="838080" y="3238560"/>
            <a:ext cx="1714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客户端 </a:t>
            </a:r>
            <a:r>
              <a:rPr lang="en-US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6" name=""/>
          <p:cNvSpPr/>
          <p:nvPr/>
        </p:nvSpPr>
        <p:spPr>
          <a:xfrm>
            <a:off x="857160" y="3581280"/>
            <a:ext cx="1809360" cy="685440"/>
          </a:xfrm>
          <a:prstGeom prst="roundRect">
            <a:avLst>
              <a:gd name="adj" fmla="val 11111"/>
            </a:avLst>
          </a:prstGeom>
          <a:solidFill>
            <a:srgbClr val="FFF4DD"/>
          </a:solidFill>
          <a:ln w="1152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92400E"/>
                </a:solidFill>
                <a:effectLst/>
                <a:uFillTx/>
                <a:latin typeface="Noto Sans CJK SC"/>
                <a:ea typeface="Noto Sans CJK SC"/>
              </a:rPr>
              <a:t>本地数据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7" name=""/>
          <p:cNvSpPr/>
          <p:nvPr/>
        </p:nvSpPr>
        <p:spPr>
          <a:xfrm>
            <a:off x="2933640" y="3581280"/>
            <a:ext cx="1809360" cy="68544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52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特征提取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5010120" y="3581280"/>
            <a:ext cx="1809360" cy="685440"/>
          </a:xfrm>
          <a:prstGeom prst="roundRect">
            <a:avLst>
              <a:gd name="adj" fmla="val 11111"/>
            </a:avLst>
          </a:prstGeom>
          <a:solidFill>
            <a:srgbClr val="DDF8EF"/>
          </a:solidFill>
          <a:ln w="11520">
            <a:solidFill>
              <a:srgbClr val="24B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08745A"/>
                </a:solidFill>
                <a:effectLst/>
                <a:uFillTx/>
                <a:latin typeface="Noto Sans CJK SC"/>
                <a:ea typeface="Noto Sans CJK SC"/>
              </a:rPr>
              <a:t>本地初始原型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299" name=""/>
          <p:cNvSpPr/>
          <p:nvPr/>
        </p:nvSpPr>
        <p:spPr>
          <a:xfrm>
            <a:off x="7086600" y="3581280"/>
            <a:ext cx="1809360" cy="685440"/>
          </a:xfrm>
          <a:prstGeom prst="roundRect">
            <a:avLst>
              <a:gd name="adj" fmla="val 11111"/>
            </a:avLst>
          </a:prstGeom>
          <a:solidFill>
            <a:srgbClr val="E5FAFC"/>
          </a:solidFill>
          <a:ln w="11520">
            <a:solidFill>
              <a:srgbClr val="22C7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裁剪 </a:t>
            </a:r>
            <a:r>
              <a:rPr lang="en-US" sz="1350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+ </a:t>
            </a:r>
            <a:r>
              <a:rPr lang="zh-CN" sz="1350" b="1" u="none" strike="noStrike">
                <a:solidFill>
                  <a:srgbClr val="087E8C"/>
                </a:solidFill>
                <a:effectLst/>
                <a:uFillTx/>
                <a:latin typeface="Noto Sans CJK SC"/>
                <a:ea typeface="Noto Sans CJK SC"/>
              </a:rPr>
              <a:t>加噪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0" name=""/>
          <p:cNvSpPr/>
          <p:nvPr/>
        </p:nvSpPr>
        <p:spPr>
          <a:xfrm>
            <a:off x="9163080" y="3581280"/>
            <a:ext cx="1809360" cy="685440"/>
          </a:xfrm>
          <a:prstGeom prst="roundRect">
            <a:avLst>
              <a:gd name="adj" fmla="val 11111"/>
            </a:avLst>
          </a:prstGeom>
          <a:solidFill>
            <a:srgbClr val="DDF8EF"/>
          </a:solidFill>
          <a:ln w="11520">
            <a:solidFill>
              <a:srgbClr val="24B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350" b="1" u="none" strike="noStrike">
                <a:solidFill>
                  <a:srgbClr val="08745A"/>
                </a:solidFill>
                <a:effectLst/>
                <a:uFillTx/>
                <a:latin typeface="Noto Sans CJK SC"/>
                <a:ea typeface="Noto Sans CJK SC"/>
              </a:rPr>
              <a:t>本地原型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1" name=""/>
          <p:cNvSpPr/>
          <p:nvPr/>
        </p:nvSpPr>
        <p:spPr>
          <a:xfrm>
            <a:off x="3219480" y="4552920"/>
            <a:ext cx="581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en-US" sz="120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↓ 上行：本地带噪类原型                 ↑ 下行：全局原型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2" name=""/>
          <p:cNvSpPr/>
          <p:nvPr/>
        </p:nvSpPr>
        <p:spPr>
          <a:xfrm>
            <a:off x="838080" y="4971960"/>
            <a:ext cx="2095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原型聚合引擎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3" name=""/>
          <p:cNvSpPr/>
          <p:nvPr/>
        </p:nvSpPr>
        <p:spPr>
          <a:xfrm>
            <a:off x="800280" y="5315040"/>
            <a:ext cx="2323800" cy="628200"/>
          </a:xfrm>
          <a:prstGeom prst="roundRect">
            <a:avLst>
              <a:gd name="adj" fmla="val 12121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2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接收带噪原型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4" name=""/>
          <p:cNvSpPr/>
          <p:nvPr/>
        </p:nvSpPr>
        <p:spPr>
          <a:xfrm>
            <a:off x="3486240" y="5315040"/>
            <a:ext cx="2323800" cy="628200"/>
          </a:xfrm>
          <a:prstGeom prst="roundRect">
            <a:avLst>
              <a:gd name="adj" fmla="val 12121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en-US" sz="12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K-Means </a:t>
            </a:r>
            <a:r>
              <a:rPr lang="zh-CN" sz="12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聚类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5" name=""/>
          <p:cNvSpPr/>
          <p:nvPr/>
        </p:nvSpPr>
        <p:spPr>
          <a:xfrm>
            <a:off x="6172200" y="5315040"/>
            <a:ext cx="2323800" cy="628200"/>
          </a:xfrm>
          <a:prstGeom prst="roundRect">
            <a:avLst>
              <a:gd name="adj" fmla="val 12121"/>
            </a:avLst>
          </a:prstGeom>
          <a:solidFill>
            <a:srgbClr val="EAF0FF"/>
          </a:solidFill>
          <a:ln w="1152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2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马氏距离加权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12000"/>
              </a:lnSpc>
            </a:pPr>
            <a:r>
              <a:rPr lang="zh-CN" sz="12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异常节点自动降权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6" name=""/>
          <p:cNvSpPr/>
          <p:nvPr/>
        </p:nvSpPr>
        <p:spPr>
          <a:xfrm>
            <a:off x="8858160" y="5315040"/>
            <a:ext cx="2323800" cy="628200"/>
          </a:xfrm>
          <a:prstGeom prst="roundRect">
            <a:avLst>
              <a:gd name="adj" fmla="val 12121"/>
            </a:avLst>
          </a:prstGeom>
          <a:solidFill>
            <a:srgbClr val="DDF8EF"/>
          </a:solidFill>
          <a:ln w="11520">
            <a:solidFill>
              <a:srgbClr val="24B7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38160" rIns="76320" bIns="38160" anchor="ctr">
            <a:normAutofit/>
          </a:bodyPr>
          <a:p>
            <a:pPr algn="ctr">
              <a:lnSpc>
                <a:spcPct val="112000"/>
              </a:lnSpc>
            </a:pPr>
            <a:r>
              <a:rPr lang="zh-CN" sz="1280" b="1" u="none" strike="noStrike">
                <a:solidFill>
                  <a:srgbClr val="08745A"/>
                </a:solidFill>
                <a:effectLst/>
                <a:uFillTx/>
                <a:latin typeface="Noto Sans CJK SC"/>
                <a:ea typeface="Noto Sans CJK SC"/>
              </a:rPr>
              <a:t>生成全局原型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7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04 / POWER DESIGN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09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协调员看全局但摸不到数据，机构看本地并保留执行权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1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2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3" name=""/>
          <p:cNvSpPr/>
          <p:nvPr/>
        </p:nvSpPr>
        <p:spPr>
          <a:xfrm>
            <a:off x="609480" y="1619280"/>
            <a:ext cx="31428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9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联盟协调员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4" name=""/>
          <p:cNvSpPr/>
          <p:nvPr/>
        </p:nvSpPr>
        <p:spPr>
          <a:xfrm>
            <a:off x="609480" y="1981080"/>
            <a:ext cx="43812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全局态势 </a:t>
            </a:r>
            <a:r>
              <a:rPr lang="en-US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脱敏事件 </a:t>
            </a:r>
            <a:r>
              <a:rPr lang="en-US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建议隔离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5" name=""/>
          <p:cNvSpPr/>
          <p:nvPr/>
        </p:nvSpPr>
        <p:spPr>
          <a:xfrm>
            <a:off x="552600" y="2324160"/>
            <a:ext cx="4971600" cy="283824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6" name=""/>
          <p:cNvSpPr/>
          <p:nvPr/>
        </p:nvSpPr>
        <p:spPr>
          <a:xfrm>
            <a:off x="609480" y="2392200"/>
            <a:ext cx="4857480" cy="2701800"/>
          </a:xfrm>
          <a:prstGeom prst="roundRect">
            <a:avLst>
              <a:gd name="adj" fmla="val 279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7" name=""/>
          <p:cNvSpPr/>
          <p:nvPr/>
        </p:nvSpPr>
        <p:spPr>
          <a:xfrm>
            <a:off x="609480" y="5315040"/>
            <a:ext cx="48574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看得到聚合态势，拿不到原始数据与攻击详情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8" name=""/>
          <p:cNvSpPr/>
          <p:nvPr/>
        </p:nvSpPr>
        <p:spPr>
          <a:xfrm>
            <a:off x="6724800" y="1619280"/>
            <a:ext cx="31428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9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机构运营员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19" name=""/>
          <p:cNvSpPr/>
          <p:nvPr/>
        </p:nvSpPr>
        <p:spPr>
          <a:xfrm>
            <a:off x="6724800" y="1981080"/>
            <a:ext cx="43812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本地节点 </a:t>
            </a:r>
            <a:r>
              <a:rPr lang="en-US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隐私预算 </a:t>
            </a:r>
            <a:r>
              <a:rPr lang="en-US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28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隔离与恢复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0" name=""/>
          <p:cNvSpPr/>
          <p:nvPr/>
        </p:nvSpPr>
        <p:spPr>
          <a:xfrm>
            <a:off x="6667560" y="2324160"/>
            <a:ext cx="4971600" cy="283824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1" name=""/>
          <p:cNvSpPr/>
          <p:nvPr/>
        </p:nvSpPr>
        <p:spPr>
          <a:xfrm>
            <a:off x="6724800" y="2381400"/>
            <a:ext cx="4857480" cy="2723760"/>
          </a:xfrm>
          <a:prstGeom prst="roundRect">
            <a:avLst>
              <a:gd name="adj" fmla="val 2797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2" name=""/>
          <p:cNvSpPr/>
          <p:nvPr/>
        </p:nvSpPr>
        <p:spPr>
          <a:xfrm>
            <a:off x="6724800" y="5315040"/>
            <a:ext cx="485748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管得住自己，碰不到其他机构；隔离执行权在本地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3" name=""/>
          <p:cNvSpPr/>
          <p:nvPr/>
        </p:nvSpPr>
        <p:spPr>
          <a:xfrm>
            <a:off x="5695920" y="2533680"/>
            <a:ext cx="799920" cy="2285640"/>
          </a:xfrm>
          <a:prstGeom prst="roundRect">
            <a:avLst>
              <a:gd name="adj" fmla="val 50000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324" name=""/>
          <p:cNvSpPr/>
          <p:nvPr/>
        </p:nvSpPr>
        <p:spPr>
          <a:xfrm>
            <a:off x="5810400" y="3048120"/>
            <a:ext cx="571320" cy="12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>
              <a:lnSpc>
                <a:spcPct val="125000"/>
              </a:lnSpc>
            </a:pPr>
            <a:r>
              <a:rPr lang="zh-CN" sz="16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建议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25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algn="ctr">
              <a:lnSpc>
                <a:spcPct val="125000"/>
              </a:lnSpc>
            </a:pPr>
            <a:r>
              <a:rPr lang="zh-CN" sz="16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执行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5" name=""/>
          <p:cNvSpPr/>
          <p:nvPr/>
        </p:nvSpPr>
        <p:spPr>
          <a:xfrm>
            <a:off x="609480" y="598176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6" name=""/>
          <p:cNvSpPr/>
          <p:nvPr/>
        </p:nvSpPr>
        <p:spPr>
          <a:xfrm>
            <a:off x="838080" y="6172200"/>
            <a:ext cx="26665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平台演示 </a:t>
            </a:r>
            <a:r>
              <a:rPr lang="en-US" sz="15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· 7 </a:t>
            </a:r>
            <a:r>
              <a:rPr lang="zh-CN" sz="158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页原型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7" name=""/>
          <p:cNvSpPr/>
          <p:nvPr/>
        </p:nvSpPr>
        <p:spPr>
          <a:xfrm>
            <a:off x="4991040" y="617220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en-US" sz="165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21 </a:t>
            </a:r>
            <a:r>
              <a:rPr lang="zh-CN" sz="165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个 </a:t>
            </a:r>
            <a:r>
              <a:rPr lang="en-US" sz="165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REST </a:t>
            </a:r>
            <a:r>
              <a:rPr lang="zh-CN" sz="165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接口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8" name=""/>
          <p:cNvSpPr/>
          <p:nvPr/>
        </p:nvSpPr>
        <p:spPr>
          <a:xfrm>
            <a:off x="8763120" y="6172200"/>
            <a:ext cx="247608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6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控制面 </a:t>
            </a:r>
            <a:r>
              <a:rPr lang="en-US" sz="16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6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数据面分离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3200400" y="2286000"/>
            <a:ext cx="6172200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r>
              <a:rPr lang="zh-CN" sz="66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应用与总结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1" name=""/>
          <p:cNvSpPr/>
          <p:nvPr/>
        </p:nvSpPr>
        <p:spPr>
          <a:xfrm>
            <a:off x="838080" y="1352880"/>
            <a:ext cx="1104480" cy="3780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2" name=""/>
          <p:cNvSpPr/>
          <p:nvPr/>
        </p:nvSpPr>
        <p:spPr>
          <a:xfrm>
            <a:off x="1104840" y="5143680"/>
            <a:ext cx="2476080" cy="18720"/>
          </a:xfrm>
          <a:prstGeom prst="roundRect">
            <a:avLst>
              <a:gd name="adj" fmla="val 50000"/>
            </a:avLst>
          </a:prstGeom>
          <a:solidFill>
            <a:srgbClr val="33456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1320" rIns="90000" bIns="-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333" name=""/>
          <p:cNvSpPr/>
          <p:nvPr/>
        </p:nvSpPr>
        <p:spPr>
          <a:xfrm>
            <a:off x="10363680" y="4953240"/>
            <a:ext cx="704520" cy="704520"/>
          </a:xfrm>
          <a:prstGeom prst="ellipse">
            <a:avLst/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4" name=""/>
          <p:cNvSpPr/>
          <p:nvPr/>
        </p:nvSpPr>
        <p:spPr>
          <a:xfrm>
            <a:off x="9658440" y="876240"/>
            <a:ext cx="1428480" cy="1428480"/>
          </a:xfrm>
          <a:prstGeom prst="ellipse">
            <a:avLst/>
          </a:prstGeom>
          <a:solidFill>
            <a:srgbClr val="D4EA6B"/>
          </a:solidFill>
          <a:ln w="9360">
            <a:solidFill>
              <a:srgbClr val="F6F9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914400" y="685800"/>
            <a:ext cx="632520" cy="8467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lnSpc>
                <a:spcPct val="108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Noto Sans CJK SC"/>
                <a:ea typeface="Noto Sans CJK SC"/>
              </a:rPr>
              <a:t>05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05 / MARKET FIT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7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 fontScale="92500" lnSpcReduction="9999"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现有方案交换的是可滥用信息，</a:t>
            </a:r>
            <a:r>
              <a:rPr lang="en-US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FedPKDA </a:t>
            </a: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交换不可逆知识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8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39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F59E0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0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1" name=""/>
          <p:cNvSpPr/>
          <p:nvPr/>
        </p:nvSpPr>
        <p:spPr>
          <a:xfrm>
            <a:off x="609480" y="1562040"/>
            <a:ext cx="10477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静态 </a:t>
            </a: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IOC </a:t>
            </a: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通常仅 </a:t>
            </a: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24-48h </a:t>
            </a: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有效；原始日志又受合规与商业机密限制，协作长期卡在数据孤岛。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2" name=""/>
          <p:cNvSpPr/>
          <p:nvPr/>
        </p:nvSpPr>
        <p:spPr>
          <a:xfrm>
            <a:off x="1619280" y="2190600"/>
            <a:ext cx="2247480" cy="609120"/>
          </a:xfrm>
          <a:prstGeom prst="roundRect">
            <a:avLst>
              <a:gd name="adj" fmla="val 12500"/>
            </a:avLst>
          </a:prstGeom>
          <a:solidFill>
            <a:srgbClr val="F8EFF0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3" name=""/>
          <p:cNvSpPr/>
          <p:nvPr/>
        </p:nvSpPr>
        <p:spPr>
          <a:xfrm>
            <a:off x="1714680" y="2352600"/>
            <a:ext cx="20570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传统 </a:t>
            </a:r>
            <a:r>
              <a:rPr lang="en-US" sz="1500" b="1" u="none" strike="noStrike">
                <a:solidFill>
                  <a:srgbClr val="E75255"/>
                </a:solidFill>
                <a:effectLst/>
                <a:uFillTx/>
                <a:latin typeface="Noto Sans CJK SC"/>
                <a:ea typeface="Noto Sans CJK SC"/>
              </a:rPr>
              <a:t>ISAC / MISP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4" name=""/>
          <p:cNvSpPr/>
          <p:nvPr/>
        </p:nvSpPr>
        <p:spPr>
          <a:xfrm>
            <a:off x="4057560" y="2190600"/>
            <a:ext cx="2247480" cy="60912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5" name=""/>
          <p:cNvSpPr/>
          <p:nvPr/>
        </p:nvSpPr>
        <p:spPr>
          <a:xfrm>
            <a:off x="4152960" y="2352600"/>
            <a:ext cx="20570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联邦学习平台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6" name=""/>
          <p:cNvSpPr/>
          <p:nvPr/>
        </p:nvSpPr>
        <p:spPr>
          <a:xfrm>
            <a:off x="6496200" y="2190600"/>
            <a:ext cx="2247480" cy="60912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7" name=""/>
          <p:cNvSpPr/>
          <p:nvPr/>
        </p:nvSpPr>
        <p:spPr>
          <a:xfrm>
            <a:off x="6591240" y="2352600"/>
            <a:ext cx="20570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商用 </a:t>
            </a:r>
            <a:r>
              <a:rPr lang="en-US" sz="150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SOC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8" name=""/>
          <p:cNvSpPr/>
          <p:nvPr/>
        </p:nvSpPr>
        <p:spPr>
          <a:xfrm>
            <a:off x="8934480" y="2190600"/>
            <a:ext cx="2247480" cy="609120"/>
          </a:xfrm>
          <a:prstGeom prst="roundRect">
            <a:avLst>
              <a:gd name="adj" fmla="val 12500"/>
            </a:avLst>
          </a:prstGeom>
          <a:solidFill>
            <a:srgbClr val="EAF0FF"/>
          </a:solidFill>
          <a:ln w="9360">
            <a:solidFill>
              <a:srgbClr val="2F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49" name=""/>
          <p:cNvSpPr/>
          <p:nvPr/>
        </p:nvSpPr>
        <p:spPr>
          <a:xfrm>
            <a:off x="9029880" y="2352600"/>
            <a:ext cx="20570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en-US" sz="15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FedPKDA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0" name=""/>
          <p:cNvSpPr/>
          <p:nvPr/>
        </p:nvSpPr>
        <p:spPr>
          <a:xfrm>
            <a:off x="609480" y="3143160"/>
            <a:ext cx="875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28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共享内容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1657440" y="297180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2" name=""/>
          <p:cNvSpPr/>
          <p:nvPr/>
        </p:nvSpPr>
        <p:spPr>
          <a:xfrm>
            <a:off x="1733400" y="311472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明文</a:t>
            </a:r>
            <a:r>
              <a:rPr lang="en-US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/</a:t>
            </a: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脱敏 </a:t>
            </a:r>
            <a:r>
              <a:rPr lang="en-US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IOC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3" name=""/>
          <p:cNvSpPr/>
          <p:nvPr/>
        </p:nvSpPr>
        <p:spPr>
          <a:xfrm>
            <a:off x="4095720" y="297180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4" name=""/>
          <p:cNvSpPr/>
          <p:nvPr/>
        </p:nvSpPr>
        <p:spPr>
          <a:xfrm>
            <a:off x="4172040" y="311472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梯度</a:t>
            </a:r>
            <a:r>
              <a:rPr lang="en-US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/</a:t>
            </a: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参数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5" name=""/>
          <p:cNvSpPr/>
          <p:nvPr/>
        </p:nvSpPr>
        <p:spPr>
          <a:xfrm>
            <a:off x="6534000" y="297180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6" name=""/>
          <p:cNvSpPr/>
          <p:nvPr/>
        </p:nvSpPr>
        <p:spPr>
          <a:xfrm>
            <a:off x="6610320" y="311472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日志</a:t>
            </a:r>
            <a:r>
              <a:rPr lang="en-US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/</a:t>
            </a: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遥测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7" name=""/>
          <p:cNvSpPr/>
          <p:nvPr/>
        </p:nvSpPr>
        <p:spPr>
          <a:xfrm>
            <a:off x="8972640" y="297180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7FAFF"/>
          </a:solidFill>
          <a:ln w="936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8" name=""/>
          <p:cNvSpPr/>
          <p:nvPr/>
        </p:nvSpPr>
        <p:spPr>
          <a:xfrm>
            <a:off x="9048600" y="311472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带噪类原型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3867120"/>
            <a:ext cx="875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28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隐私风险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0" name=""/>
          <p:cNvSpPr/>
          <p:nvPr/>
        </p:nvSpPr>
        <p:spPr>
          <a:xfrm>
            <a:off x="1657440" y="369576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1" name=""/>
          <p:cNvSpPr/>
          <p:nvPr/>
        </p:nvSpPr>
        <p:spPr>
          <a:xfrm>
            <a:off x="1733400" y="383868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人工脱敏遗漏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2" name=""/>
          <p:cNvSpPr/>
          <p:nvPr/>
        </p:nvSpPr>
        <p:spPr>
          <a:xfrm>
            <a:off x="4095720" y="369576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3" name=""/>
          <p:cNvSpPr/>
          <p:nvPr/>
        </p:nvSpPr>
        <p:spPr>
          <a:xfrm>
            <a:off x="4172040" y="383868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可被梯度还原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4" name=""/>
          <p:cNvSpPr/>
          <p:nvPr/>
        </p:nvSpPr>
        <p:spPr>
          <a:xfrm>
            <a:off x="6534000" y="369576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5" name=""/>
          <p:cNvSpPr/>
          <p:nvPr/>
        </p:nvSpPr>
        <p:spPr>
          <a:xfrm>
            <a:off x="6610320" y="383868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集中托管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6" name=""/>
          <p:cNvSpPr/>
          <p:nvPr/>
        </p:nvSpPr>
        <p:spPr>
          <a:xfrm>
            <a:off x="8972640" y="369576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7FAFF"/>
          </a:solidFill>
          <a:ln w="936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7" name=""/>
          <p:cNvSpPr/>
          <p:nvPr/>
        </p:nvSpPr>
        <p:spPr>
          <a:xfrm>
            <a:off x="9048600" y="383868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数据不出域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8" name=""/>
          <p:cNvSpPr/>
          <p:nvPr/>
        </p:nvSpPr>
        <p:spPr>
          <a:xfrm>
            <a:off x="609480" y="4591080"/>
            <a:ext cx="875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28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异构适配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69" name=""/>
          <p:cNvSpPr/>
          <p:nvPr/>
        </p:nvSpPr>
        <p:spPr>
          <a:xfrm>
            <a:off x="1657440" y="441972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0" name=""/>
          <p:cNvSpPr/>
          <p:nvPr/>
        </p:nvSpPr>
        <p:spPr>
          <a:xfrm>
            <a:off x="1733400" y="45626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统一格式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1" name=""/>
          <p:cNvSpPr/>
          <p:nvPr/>
        </p:nvSpPr>
        <p:spPr>
          <a:xfrm>
            <a:off x="4095720" y="441972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2" name=""/>
          <p:cNvSpPr/>
          <p:nvPr/>
        </p:nvSpPr>
        <p:spPr>
          <a:xfrm>
            <a:off x="4172040" y="45626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结构要求一致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3" name=""/>
          <p:cNvSpPr/>
          <p:nvPr/>
        </p:nvSpPr>
        <p:spPr>
          <a:xfrm>
            <a:off x="6534000" y="441972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4" name=""/>
          <p:cNvSpPr/>
          <p:nvPr/>
        </p:nvSpPr>
        <p:spPr>
          <a:xfrm>
            <a:off x="6610320" y="45626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绑定厂商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5" name=""/>
          <p:cNvSpPr/>
          <p:nvPr/>
        </p:nvSpPr>
        <p:spPr>
          <a:xfrm>
            <a:off x="8972640" y="441972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7FAFF"/>
          </a:solidFill>
          <a:ln w="936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9048600" y="45626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支持异构协作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7" name=""/>
          <p:cNvSpPr/>
          <p:nvPr/>
        </p:nvSpPr>
        <p:spPr>
          <a:xfrm>
            <a:off x="609480" y="5315040"/>
            <a:ext cx="875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28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信任基础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8" name=""/>
          <p:cNvSpPr/>
          <p:nvPr/>
        </p:nvSpPr>
        <p:spPr>
          <a:xfrm>
            <a:off x="1657440" y="514368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79" name=""/>
          <p:cNvSpPr/>
          <p:nvPr/>
        </p:nvSpPr>
        <p:spPr>
          <a:xfrm>
            <a:off x="1733400" y="52862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协议与身份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0" name=""/>
          <p:cNvSpPr/>
          <p:nvPr/>
        </p:nvSpPr>
        <p:spPr>
          <a:xfrm>
            <a:off x="4095720" y="514368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1" name=""/>
          <p:cNvSpPr/>
          <p:nvPr/>
        </p:nvSpPr>
        <p:spPr>
          <a:xfrm>
            <a:off x="4172040" y="52862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默认信任服务端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2" name=""/>
          <p:cNvSpPr/>
          <p:nvPr/>
        </p:nvSpPr>
        <p:spPr>
          <a:xfrm>
            <a:off x="6534000" y="514368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3" name=""/>
          <p:cNvSpPr/>
          <p:nvPr/>
        </p:nvSpPr>
        <p:spPr>
          <a:xfrm>
            <a:off x="6610320" y="52862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0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供应商信誉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4" name=""/>
          <p:cNvSpPr/>
          <p:nvPr/>
        </p:nvSpPr>
        <p:spPr>
          <a:xfrm>
            <a:off x="8972640" y="5143680"/>
            <a:ext cx="2171520" cy="590040"/>
          </a:xfrm>
          <a:prstGeom prst="roundRect">
            <a:avLst>
              <a:gd name="adj" fmla="val 9677"/>
            </a:avLst>
          </a:prstGeom>
          <a:solidFill>
            <a:srgbClr val="F7FAFF"/>
          </a:solidFill>
          <a:ln w="936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9048600" y="5286240"/>
            <a:ext cx="201888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算法不可逆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6" name=""/>
          <p:cNvSpPr/>
          <p:nvPr/>
        </p:nvSpPr>
        <p:spPr>
          <a:xfrm>
            <a:off x="609480" y="6000840"/>
            <a:ext cx="10972440" cy="380520"/>
          </a:xfrm>
          <a:prstGeom prst="roundRect">
            <a:avLst>
              <a:gd name="adj" fmla="val 15000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800280" y="6086520"/>
            <a:ext cx="10591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合规价值：原始网络流量不出机构域，降低分类分级、跨机构流转与出境风险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88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05 / APPLICATION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0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别人被攻击过的知识可以共享，但攻击经历仍留在本地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1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2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3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4" name=""/>
          <p:cNvSpPr/>
          <p:nvPr/>
        </p:nvSpPr>
        <p:spPr>
          <a:xfrm>
            <a:off x="609480" y="1619280"/>
            <a:ext cx="5352840" cy="3733560"/>
          </a:xfrm>
          <a:prstGeom prst="roundRect">
            <a:avLst>
              <a:gd name="adj" fmla="val 3061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  <a:effectLst>
            <a:outerShdw dist="19080" dir="5400000" blurRad="5724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762120" y="1771560"/>
            <a:ext cx="5047920" cy="3428640"/>
          </a:xfrm>
          <a:prstGeom prst="roundRect">
            <a:avLst>
              <a:gd name="adj" fmla="val 2222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6" name=""/>
          <p:cNvSpPr/>
          <p:nvPr/>
        </p:nvSpPr>
        <p:spPr>
          <a:xfrm>
            <a:off x="6572160" y="1733400"/>
            <a:ext cx="40003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210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多行业机构联盟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7" name=""/>
          <p:cNvSpPr/>
          <p:nvPr/>
        </p:nvSpPr>
        <p:spPr>
          <a:xfrm>
            <a:off x="6572160" y="2305080"/>
            <a:ext cx="1238040" cy="38052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9360">
            <a:solidFill>
              <a:srgbClr val="EAF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3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金融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8" name=""/>
          <p:cNvSpPr/>
          <p:nvPr/>
        </p:nvSpPr>
        <p:spPr>
          <a:xfrm>
            <a:off x="8096400" y="2305080"/>
            <a:ext cx="1238040" cy="380520"/>
          </a:xfrm>
          <a:prstGeom prst="roundRect">
            <a:avLst>
              <a:gd name="adj" fmla="val 50000"/>
            </a:avLst>
          </a:prstGeom>
          <a:solidFill>
            <a:srgbClr val="EAF0FF"/>
          </a:solidFill>
          <a:ln w="9360">
            <a:solidFill>
              <a:srgbClr val="EAF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35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政务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399" name=""/>
          <p:cNvSpPr/>
          <p:nvPr/>
        </p:nvSpPr>
        <p:spPr>
          <a:xfrm>
            <a:off x="6572160" y="2857680"/>
            <a:ext cx="1238040" cy="380520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 w="9360">
            <a:solidFill>
              <a:srgbClr val="FFF4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350" b="1" u="none" strike="noStrike">
                <a:solidFill>
                  <a:srgbClr val="F59E0B"/>
                </a:solidFill>
                <a:effectLst/>
                <a:uFillTx/>
                <a:latin typeface="Noto Sans CJK SC"/>
                <a:ea typeface="Noto Sans CJK SC"/>
              </a:rPr>
              <a:t>能源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0" name=""/>
          <p:cNvSpPr/>
          <p:nvPr/>
        </p:nvSpPr>
        <p:spPr>
          <a:xfrm>
            <a:off x="8096400" y="2857680"/>
            <a:ext cx="1238040" cy="380520"/>
          </a:xfrm>
          <a:prstGeom prst="roundRect">
            <a:avLst>
              <a:gd name="adj" fmla="val 50000"/>
            </a:avLst>
          </a:prstGeom>
          <a:solidFill>
            <a:srgbClr val="DDF8EF"/>
          </a:solidFill>
          <a:ln w="9360">
            <a:solidFill>
              <a:srgbClr val="DDF8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6320" tIns="0" rIns="76320" bIns="0" anchor="ctr">
            <a:normAutofit/>
          </a:bodyPr>
          <a:p>
            <a:pPr algn="ctr">
              <a:lnSpc>
                <a:spcPct val="100000"/>
              </a:lnSpc>
            </a:pP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通信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1" name=""/>
          <p:cNvSpPr/>
          <p:nvPr/>
        </p:nvSpPr>
        <p:spPr>
          <a:xfrm>
            <a:off x="6572160" y="3486240"/>
            <a:ext cx="449532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2" name=""/>
          <p:cNvSpPr/>
          <p:nvPr/>
        </p:nvSpPr>
        <p:spPr>
          <a:xfrm>
            <a:off x="6572160" y="3733920"/>
            <a:ext cx="447624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35000"/>
              </a:lnSpc>
            </a:pPr>
            <a:r>
              <a:rPr lang="en-US" sz="202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“别人被打过的东西，你的模型能学会防御；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35000"/>
              </a:lnSpc>
            </a:pPr>
            <a:r>
              <a:rPr lang="zh-CN" sz="202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但别人不会知道你被打过。”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3" name=""/>
          <p:cNvSpPr/>
          <p:nvPr/>
        </p:nvSpPr>
        <p:spPr>
          <a:xfrm>
            <a:off x="6572160" y="4952880"/>
            <a:ext cx="4571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 lnSpcReduction="9999"/>
          </a:bodyPr>
          <a:p>
            <a:pPr>
              <a:lnSpc>
                <a:spcPct val="108000"/>
              </a:lnSpc>
            </a:pPr>
            <a:r>
              <a:rPr lang="zh-CN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标准 </a:t>
            </a:r>
            <a:r>
              <a:rPr lang="en-US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PyTorch </a:t>
            </a:r>
            <a:r>
              <a:rPr lang="zh-CN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栈 </a:t>
            </a:r>
            <a:r>
              <a:rPr lang="en-US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· </a:t>
            </a:r>
            <a:r>
              <a:rPr lang="zh-CN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无专用硬件 </a:t>
            </a:r>
            <a:r>
              <a:rPr lang="en-US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· </a:t>
            </a:r>
            <a:r>
              <a:rPr lang="zh-CN" sz="135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原型通信量低于梯度传输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4" name=""/>
          <p:cNvSpPr/>
          <p:nvPr/>
        </p:nvSpPr>
        <p:spPr>
          <a:xfrm>
            <a:off x="609480" y="5676840"/>
            <a:ext cx="5257440" cy="609120"/>
          </a:xfrm>
          <a:prstGeom prst="roundRect">
            <a:avLst>
              <a:gd name="adj" fmla="val 18750"/>
            </a:avLst>
          </a:prstGeom>
          <a:solidFill>
            <a:srgbClr val="DDF8EF"/>
          </a:solidFill>
          <a:ln w="9360">
            <a:solidFill>
              <a:srgbClr val="BDE7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5" name=""/>
          <p:cNvSpPr/>
          <p:nvPr/>
        </p:nvSpPr>
        <p:spPr>
          <a:xfrm>
            <a:off x="800280" y="5848200"/>
            <a:ext cx="48765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适合：多机构 </a:t>
            </a:r>
            <a:r>
              <a:rPr lang="en-US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强隐私 </a:t>
            </a:r>
            <a:r>
              <a:rPr lang="en-US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数据异构 </a:t>
            </a:r>
            <a:r>
              <a:rPr lang="en-US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/ </a:t>
            </a:r>
            <a:r>
              <a:rPr lang="zh-CN" sz="135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节点稀疏参与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6" name=""/>
          <p:cNvSpPr/>
          <p:nvPr/>
        </p:nvSpPr>
        <p:spPr>
          <a:xfrm>
            <a:off x="6324480" y="5676840"/>
            <a:ext cx="5257440" cy="609120"/>
          </a:xfrm>
          <a:prstGeom prst="roundRect">
            <a:avLst>
              <a:gd name="adj" fmla="val 18750"/>
            </a:avLst>
          </a:prstGeom>
          <a:solidFill>
            <a:srgbClr val="F3F5F8"/>
          </a:solidFill>
          <a:ln w="9360">
            <a:solidFill>
              <a:srgbClr val="DD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7" name=""/>
          <p:cNvSpPr/>
          <p:nvPr/>
        </p:nvSpPr>
        <p:spPr>
          <a:xfrm>
            <a:off x="6515280" y="5848200"/>
            <a:ext cx="48765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ctr">
              <a:lnSpc>
                <a:spcPct val="108000"/>
              </a:lnSpc>
            </a:pPr>
            <a:r>
              <a:rPr lang="zh-CN" sz="1350" b="1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不适合：单机构即可覆盖全部数据、无需跨域协作的场景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08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609480" y="324000"/>
            <a:ext cx="495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105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06 / TAKEAWAY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0" name=""/>
          <p:cNvSpPr/>
          <p:nvPr/>
        </p:nvSpPr>
        <p:spPr>
          <a:xfrm>
            <a:off x="609480" y="647640"/>
            <a:ext cx="106675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FedPKDA </a:t>
            </a: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已经形成“论文</a:t>
            </a:r>
            <a:r>
              <a:rPr lang="en-US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-</a:t>
            </a: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实验</a:t>
            </a:r>
            <a:r>
              <a:rPr lang="en-US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-</a:t>
            </a:r>
            <a:r>
              <a:rPr lang="zh-CN" sz="323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系统”的完整证据链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1" name=""/>
          <p:cNvSpPr/>
          <p:nvPr/>
        </p:nvSpPr>
        <p:spPr>
          <a:xfrm>
            <a:off x="609480" y="1295280"/>
            <a:ext cx="10972440" cy="9000"/>
          </a:xfrm>
          <a:prstGeom prst="roundRect">
            <a:avLst>
              <a:gd name="adj" fmla="val 50000"/>
            </a:avLst>
          </a:prstGeom>
          <a:solidFill>
            <a:srgbClr val="DDE4EE"/>
          </a:solidFill>
          <a:ln w="0">
            <a:solidFill>
              <a:srgbClr val="DDE4E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38160" rIns="90000" bIns="-38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2" name=""/>
          <p:cNvSpPr/>
          <p:nvPr/>
        </p:nvSpPr>
        <p:spPr>
          <a:xfrm>
            <a:off x="609480" y="1285920"/>
            <a:ext cx="894960" cy="280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24840" rIns="90000" bIns="-248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13" name=""/>
          <p:cNvSpPr/>
          <p:nvPr/>
        </p:nvSpPr>
        <p:spPr>
          <a:xfrm>
            <a:off x="11096640" y="324000"/>
            <a:ext cx="475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 algn="r">
              <a:lnSpc>
                <a:spcPct val="108000"/>
              </a:lnSpc>
            </a:pPr>
            <a:r>
              <a:rPr lang="en-US" sz="1050" b="1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4" name=""/>
          <p:cNvSpPr/>
          <p:nvPr/>
        </p:nvSpPr>
        <p:spPr>
          <a:xfrm>
            <a:off x="609480" y="1809720"/>
            <a:ext cx="3200040" cy="276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5" name=""/>
          <p:cNvSpPr/>
          <p:nvPr/>
        </p:nvSpPr>
        <p:spPr>
          <a:xfrm>
            <a:off x="609480" y="1809720"/>
            <a:ext cx="3200040" cy="568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680" rIns="90000" bIns="-46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16" name=""/>
          <p:cNvSpPr/>
          <p:nvPr/>
        </p:nvSpPr>
        <p:spPr>
          <a:xfrm>
            <a:off x="876240" y="21337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学术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7" name=""/>
          <p:cNvSpPr/>
          <p:nvPr/>
        </p:nvSpPr>
        <p:spPr>
          <a:xfrm>
            <a:off x="876240" y="2571840"/>
            <a:ext cx="2666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AAAI 2026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8" name=""/>
          <p:cNvSpPr/>
          <p:nvPr/>
        </p:nvSpPr>
        <p:spPr>
          <a:xfrm>
            <a:off x="876240" y="3333600"/>
            <a:ext cx="266652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5000"/>
              </a:lnSpc>
            </a:pP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FedPKDA </a:t>
            </a: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论文正式发表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35000"/>
              </a:lnSpc>
            </a:pP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隐私保护知识动态对齐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19" name=""/>
          <p:cNvSpPr/>
          <p:nvPr/>
        </p:nvSpPr>
        <p:spPr>
          <a:xfrm>
            <a:off x="4267080" y="1809720"/>
            <a:ext cx="3200040" cy="276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0" name=""/>
          <p:cNvSpPr/>
          <p:nvPr/>
        </p:nvSpPr>
        <p:spPr>
          <a:xfrm>
            <a:off x="4267080" y="1809720"/>
            <a:ext cx="3200040" cy="56880"/>
          </a:xfrm>
          <a:prstGeom prst="roundRect">
            <a:avLst>
              <a:gd name="adj" fmla="val 50000"/>
            </a:avLst>
          </a:prstGeom>
          <a:solidFill>
            <a:srgbClr val="24B787"/>
          </a:solidFill>
          <a:ln w="0">
            <a:solidFill>
              <a:srgbClr val="24B787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680" rIns="90000" bIns="-46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1" name=""/>
          <p:cNvSpPr/>
          <p:nvPr/>
        </p:nvSpPr>
        <p:spPr>
          <a:xfrm>
            <a:off x="4533840" y="21337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00" b="1" u="none" strike="noStrike">
                <a:solidFill>
                  <a:srgbClr val="24B787"/>
                </a:solidFill>
                <a:effectLst/>
                <a:uFillTx/>
                <a:latin typeface="Noto Sans CJK SC"/>
                <a:ea typeface="Noto Sans CJK SC"/>
              </a:rPr>
              <a:t>性能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2" name=""/>
          <p:cNvSpPr/>
          <p:nvPr/>
        </p:nvSpPr>
        <p:spPr>
          <a:xfrm>
            <a:off x="4533840" y="2571840"/>
            <a:ext cx="2666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 fontScale="92500" lnSpcReduction="9999"/>
          </a:bodyPr>
          <a:p>
            <a:pPr>
              <a:lnSpc>
                <a:spcPct val="108000"/>
              </a:lnSpc>
            </a:pPr>
            <a:r>
              <a:rPr lang="en-US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3 </a:t>
            </a:r>
            <a:r>
              <a:rPr lang="zh-CN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数据集 </a:t>
            </a:r>
            <a:r>
              <a:rPr lang="en-US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· 15 </a:t>
            </a:r>
            <a:r>
              <a:rPr lang="zh-CN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组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3" name=""/>
          <p:cNvSpPr/>
          <p:nvPr/>
        </p:nvSpPr>
        <p:spPr>
          <a:xfrm>
            <a:off x="4533840" y="3333600"/>
            <a:ext cx="266652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5000"/>
              </a:lnSpc>
            </a:pP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异构场景 </a:t>
            </a: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+6.50~17.42pp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35000"/>
              </a:lnSpc>
            </a:pPr>
            <a:r>
              <a:rPr lang="en-US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NSL-KDD </a:t>
            </a: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稀疏参与稳定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4" name=""/>
          <p:cNvSpPr/>
          <p:nvPr/>
        </p:nvSpPr>
        <p:spPr>
          <a:xfrm>
            <a:off x="7924680" y="1809720"/>
            <a:ext cx="3200040" cy="276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360">
            <a:solidFill>
              <a:srgbClr val="DDE4EE"/>
            </a:solidFill>
            <a:round/>
          </a:ln>
          <a:effectLst>
            <a:outerShdw dist="9360" dir="5400000" blurRad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5" name=""/>
          <p:cNvSpPr/>
          <p:nvPr/>
        </p:nvSpPr>
        <p:spPr>
          <a:xfrm>
            <a:off x="7924680" y="1809720"/>
            <a:ext cx="3200040" cy="56880"/>
          </a:xfrm>
          <a:prstGeom prst="roundRect">
            <a:avLst>
              <a:gd name="adj" fmla="val 50000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680" rIns="90000" bIns="-46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6" name=""/>
          <p:cNvSpPr/>
          <p:nvPr/>
        </p:nvSpPr>
        <p:spPr>
          <a:xfrm>
            <a:off x="8191440" y="2133720"/>
            <a:ext cx="1142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120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系统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7" name=""/>
          <p:cNvSpPr/>
          <p:nvPr/>
        </p:nvSpPr>
        <p:spPr>
          <a:xfrm>
            <a:off x="8191440" y="2571840"/>
            <a:ext cx="26665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7 </a:t>
            </a:r>
            <a:r>
              <a:rPr lang="zh-CN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页 </a:t>
            </a:r>
            <a:r>
              <a:rPr lang="en-US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· 21 </a:t>
            </a:r>
            <a:r>
              <a:rPr lang="zh-CN" sz="2550" b="1" u="none" strike="noStrike">
                <a:solidFill>
                  <a:srgbClr val="17213A"/>
                </a:solidFill>
                <a:effectLst/>
                <a:uFillTx/>
                <a:latin typeface="Noto Sans CJK SC"/>
                <a:ea typeface="Noto Sans CJK SC"/>
              </a:rPr>
              <a:t>接口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8" name=""/>
          <p:cNvSpPr/>
          <p:nvPr/>
        </p:nvSpPr>
        <p:spPr>
          <a:xfrm>
            <a:off x="8191440" y="3333600"/>
            <a:ext cx="266652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5000"/>
              </a:lnSpc>
            </a:pP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双角色分权架构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>
              <a:lnSpc>
                <a:spcPct val="135000"/>
              </a:lnSpc>
            </a:pPr>
            <a:r>
              <a:rPr lang="zh-CN" sz="1500" b="0" u="none" strike="noStrike">
                <a:solidFill>
                  <a:srgbClr val="516078"/>
                </a:solidFill>
                <a:effectLst/>
                <a:uFillTx/>
                <a:latin typeface="Noto Sans CJK SC"/>
                <a:ea typeface="Noto Sans CJK SC"/>
              </a:rPr>
              <a:t>控制面与数据面分离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29" name=""/>
          <p:cNvSpPr/>
          <p:nvPr/>
        </p:nvSpPr>
        <p:spPr>
          <a:xfrm>
            <a:off x="609480" y="5010120"/>
            <a:ext cx="10515240" cy="990360"/>
          </a:xfrm>
          <a:prstGeom prst="roundRect">
            <a:avLst>
              <a:gd name="adj" fmla="val 11538"/>
            </a:avLst>
          </a:prstGeom>
          <a:solidFill>
            <a:srgbClr val="0B1530"/>
          </a:solidFill>
          <a:ln w="9360">
            <a:solidFill>
              <a:srgbClr val="0B1530"/>
            </a:solidFill>
            <a:round/>
          </a:ln>
          <a:effectLst>
            <a:outerShdw dist="19080" dir="5400000" blurRad="5724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30" name=""/>
          <p:cNvSpPr/>
          <p:nvPr/>
        </p:nvSpPr>
        <p:spPr>
          <a:xfrm>
            <a:off x="914400" y="5219640"/>
            <a:ext cx="990576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31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数据不出域，知识可共享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31" name=""/>
          <p:cNvSpPr/>
          <p:nvPr/>
        </p:nvSpPr>
        <p:spPr>
          <a:xfrm>
            <a:off x="11239560" y="5010120"/>
            <a:ext cx="342720" cy="990360"/>
          </a:xfrm>
          <a:prstGeom prst="roundRect">
            <a:avLst>
              <a:gd name="adj" fmla="val 33333"/>
            </a:avLst>
          </a:prstGeom>
          <a:solidFill>
            <a:srgbClr val="22C7D6"/>
          </a:solidFill>
          <a:ln w="0">
            <a:solidFill>
              <a:srgbClr val="22C7D6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32" name=""/>
          <p:cNvSpPr/>
          <p:nvPr/>
        </p:nvSpPr>
        <p:spPr>
          <a:xfrm>
            <a:off x="609480" y="6114960"/>
            <a:ext cx="10515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rmAutofit/>
          </a:bodyPr>
          <a:p>
            <a:pPr algn="ctr">
              <a:lnSpc>
                <a:spcPct val="108000"/>
              </a:lnSpc>
            </a:pPr>
            <a:r>
              <a:rPr lang="zh-CN" sz="1500" b="1" u="none" strike="noStrike">
                <a:solidFill>
                  <a:srgbClr val="2F6BFF"/>
                </a:solidFill>
                <a:effectLst/>
                <a:uFillTx/>
                <a:latin typeface="Noto Sans CJK SC"/>
                <a:ea typeface="Noto Sans CJK SC"/>
              </a:rPr>
              <a:t>让信任从身份承诺，变成技术事实。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33" name=""/>
          <p:cNvSpPr/>
          <p:nvPr/>
        </p:nvSpPr>
        <p:spPr>
          <a:xfrm>
            <a:off x="609480" y="6534000"/>
            <a:ext cx="66672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20" b="0" u="none" strike="noStrike">
                <a:solidFill>
                  <a:srgbClr val="7B879B"/>
                </a:solidFill>
                <a:effectLst/>
                <a:uFillTx/>
                <a:latin typeface="Noto Sans CJK SC"/>
                <a:ea typeface="Noto Sans CJK SC"/>
              </a:rPr>
              <a:t>FedPKDA · RoboCup 2026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"/>
          <p:cNvPicPr/>
          <p:nvPr/>
        </p:nvPicPr>
        <p:blipFill>
          <a:blip r:embed="rId1"/>
          <a:srcRect l="29901" t="0" r="29901" b="0"/>
          <a:stretch/>
        </p:blipFill>
        <p:spPr>
          <a:xfrm>
            <a:off x="7238880" y="0"/>
            <a:ext cx="49525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"/>
          <p:cNvSpPr/>
          <p:nvPr/>
        </p:nvSpPr>
        <p:spPr>
          <a:xfrm>
            <a:off x="6477120" y="0"/>
            <a:ext cx="1523520" cy="6857640"/>
          </a:xfrm>
          <a:prstGeom prst="roundRect">
            <a:avLst>
              <a:gd name="adj" fmla="val 7500"/>
            </a:avLst>
          </a:prstGeom>
          <a:gradFill rotWithShape="0">
            <a:gsLst>
              <a:gs pos="0">
                <a:srgbClr val="0B1530"/>
              </a:gs>
              <a:gs pos="100000">
                <a:srgbClr val="0B1530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sp>
        <p:nvSpPr>
          <p:cNvPr id="436" name=""/>
          <p:cNvSpPr/>
          <p:nvPr/>
        </p:nvSpPr>
        <p:spPr>
          <a:xfrm>
            <a:off x="685800" y="1200240"/>
            <a:ext cx="495252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 lnSpcReduction="9999"/>
          </a:bodyPr>
          <a:p>
            <a:pPr>
              <a:lnSpc>
                <a:spcPct val="108000"/>
              </a:lnSpc>
            </a:pPr>
            <a:r>
              <a:rPr lang="zh-CN" sz="525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谢谢</a:t>
            </a:r>
            <a:endParaRPr lang="en-US" sz="525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37" name=""/>
          <p:cNvSpPr/>
          <p:nvPr/>
        </p:nvSpPr>
        <p:spPr>
          <a:xfrm>
            <a:off x="685800" y="2152800"/>
            <a:ext cx="30477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2550" b="1" u="none" strike="noStrike">
                <a:solidFill>
                  <a:srgbClr val="22C7D6"/>
                </a:solidFill>
                <a:effectLst/>
                <a:uFillTx/>
                <a:latin typeface="Noto Sans CJK SC"/>
                <a:ea typeface="Noto Sans CJK SC"/>
              </a:rPr>
              <a:t>Q &amp; A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38" name=""/>
          <p:cNvSpPr/>
          <p:nvPr/>
        </p:nvSpPr>
        <p:spPr>
          <a:xfrm>
            <a:off x="685800" y="3086280"/>
            <a:ext cx="1199880" cy="3780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 w="0">
            <a:solidFill>
              <a:srgbClr val="2F6B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18000" rIns="90000" bIns="-18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39" name=""/>
          <p:cNvSpPr/>
          <p:nvPr/>
        </p:nvSpPr>
        <p:spPr>
          <a:xfrm>
            <a:off x="685800" y="3486240"/>
            <a:ext cx="495252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让信任从身份承诺，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  <a:p>
            <a:pPr>
              <a:lnSpc>
                <a:spcPct val="13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Noto Sans CJK SC"/>
                <a:ea typeface="Noto Sans CJK SC"/>
              </a:rPr>
              <a:t>变成技术事实。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685800" y="5257800"/>
            <a:ext cx="53337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5000"/>
              </a:lnSpc>
            </a:pPr>
            <a:r>
              <a:rPr lang="zh-CN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作品：</a:t>
            </a:r>
            <a:r>
              <a:rPr lang="en-US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FedPKDA </a:t>
            </a:r>
            <a:r>
              <a:rPr lang="zh-CN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联邦入侵检测协作平台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  <a:p>
            <a:pPr>
              <a:lnSpc>
                <a:spcPct val="135000"/>
              </a:lnSpc>
            </a:pPr>
            <a:r>
              <a:rPr lang="zh-CN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队伍：</a:t>
            </a:r>
            <a:r>
              <a:rPr lang="en-US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__________    </a:t>
            </a:r>
            <a:r>
              <a:rPr lang="zh-CN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学校：</a:t>
            </a:r>
            <a:r>
              <a:rPr lang="en-US" sz="1350" b="0" u="none" strike="noStrike">
                <a:solidFill>
                  <a:srgbClr val="9FB0CF"/>
                </a:solidFill>
                <a:effectLst/>
                <a:uFillTx/>
                <a:latin typeface="Noto Sans CJK SC"/>
                <a:ea typeface="Noto Sans CJK SC"/>
              </a:rPr>
              <a:t>__________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2026-08-10T05:49:17Z</dcterms:created>
  <dc:creator>Walnut Exporter</dc:creator>
  <dc:description/>
  <dc:language>en-US</dc:language>
  <cp:lastModifiedBy/>
  <dcterms:modified xsi:type="dcterms:W3CDTF">2026-08-11T21:07:29Z</dcterms:modified>
  <cp:revision>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